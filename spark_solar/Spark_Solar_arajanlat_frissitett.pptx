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419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60005" cy="1069200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7559992" cy="54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5500" y="222808"/>
            <a:ext cx="1285198" cy="3187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kkumulator-tamogatas.hu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hyperlink" Target="http://www.akkumulator-tamogatas.hu/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hyperlink" Target="http://www.akkumulator-tamogatas.hu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akkumulator-tamogatas.hu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e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kkumulator-tamogatas.hu/" TargetMode="External"/><Relationship Id="rId3" Type="http://schemas.openxmlformats.org/officeDocument/2006/relationships/image" Target="../media/v2_st7_mc_fox.png"/><Relationship Id="rId4" Type="http://schemas.openxmlformats.org/officeDocument/2006/relationships/image" Target="../media/v2_st25_mc_deye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kkumulator-tamogatas.hu/" TargetMode="External"/><Relationship Id="rId3" Type="http://schemas.openxmlformats.org/officeDocument/2006/relationships/image" Target="../media/v2_st7_mc_f16.png"/><Relationship Id="rId4" Type="http://schemas.openxmlformats.org/officeDocument/2006/relationships/image" Target="../media/v2_st21_mc_ep12.png"/><Relationship Id="rId5" Type="http://schemas.openxmlformats.org/officeDocument/2006/relationships/image" Target="../media/v2_st35_mc_luna.png"/><Relationship Id="rId6" Type="http://schemas.openxmlformats.org/officeDocument/2006/relationships/image" Target="../media/v2_s6_ban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0005" cy="106920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6479" y="8030609"/>
            <a:ext cx="3413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5789" algn="l"/>
              </a:tabLst>
            </a:pPr>
            <a:r>
              <a:rPr sz="4800" b="1" spc="-10" dirty="0">
                <a:latin typeface="Arial"/>
                <a:cs typeface="Arial"/>
              </a:rPr>
              <a:t>Spark</a:t>
            </a:r>
            <a:r>
              <a:rPr sz="4800" b="1" dirty="0">
                <a:latin typeface="Arial"/>
                <a:cs typeface="Arial"/>
              </a:rPr>
              <a:t>	</a:t>
            </a:r>
            <a:r>
              <a:rPr sz="4800" b="1" spc="-10" dirty="0">
                <a:latin typeface="Arial"/>
                <a:cs typeface="Arial"/>
              </a:rPr>
              <a:t>Solar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4657" y="8729109"/>
            <a:ext cx="3536950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solidFill>
                  <a:srgbClr val="FFFFFF"/>
                </a:solidFill>
                <a:latin typeface="Arial"/>
                <a:cs typeface="Arial"/>
              </a:rPr>
              <a:t>csomagajánlatok</a:t>
            </a:r>
            <a:endParaRPr sz="3300">
              <a:latin typeface="Arial"/>
              <a:cs typeface="Arial"/>
            </a:endParaRPr>
          </a:p>
          <a:p>
            <a:pPr marL="12700" marR="5080" indent="28575">
              <a:lnSpc>
                <a:spcPct val="101800"/>
              </a:lnSpc>
              <a:spcBef>
                <a:spcPts val="17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Napelem-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akkumlátor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rendszerre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www.akkumulator-tamogatas.hu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0005" cy="1069200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336004"/>
            <a:ext cx="7560309" cy="4356100"/>
          </a:xfrm>
          <a:custGeom>
            <a:avLst/>
            <a:gdLst/>
            <a:ahLst/>
            <a:cxnLst/>
            <a:rect l="l" t="t" r="r" b="b"/>
            <a:pathLst>
              <a:path w="7560309" h="4356100">
                <a:moveTo>
                  <a:pt x="7559992" y="0"/>
                </a:moveTo>
                <a:lnTo>
                  <a:pt x="0" y="0"/>
                </a:lnTo>
                <a:lnTo>
                  <a:pt x="0" y="4355998"/>
                </a:lnTo>
                <a:lnTo>
                  <a:pt x="7559992" y="4355998"/>
                </a:lnTo>
                <a:lnTo>
                  <a:pt x="75599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559992" cy="54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500" y="222808"/>
            <a:ext cx="1285198" cy="3187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09199" y="369609"/>
            <a:ext cx="148526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Spark</a:t>
            </a:r>
            <a:r>
              <a:rPr sz="9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Electric</a:t>
            </a:r>
            <a:r>
              <a:rPr sz="9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939598"/>
                </a:solidFill>
                <a:latin typeface="Arial"/>
                <a:cs typeface="Arial"/>
              </a:rPr>
              <a:t>Kft.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1147</a:t>
            </a:r>
            <a:r>
              <a:rPr sz="900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Budapest,</a:t>
            </a:r>
            <a:endParaRPr sz="9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Telepes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utca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72-74.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psz.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939598"/>
                </a:solidFill>
                <a:latin typeface="Arial"/>
                <a:cs typeface="Arial"/>
              </a:rPr>
              <a:t>37.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+36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20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409</a:t>
            </a:r>
            <a:r>
              <a:rPr sz="900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39598"/>
                </a:solidFill>
                <a:latin typeface="Arial"/>
                <a:cs typeface="Arial"/>
              </a:rPr>
              <a:t>0060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8789" y="348762"/>
            <a:ext cx="197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39598"/>
                </a:solidFill>
                <a:latin typeface="Arial"/>
                <a:cs typeface="Arial"/>
                <a:hlinkClick r:id="rId5"/>
              </a:rPr>
              <a:t>www.akkumulator-tamogatas.hu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463" y="7229233"/>
            <a:ext cx="6572288" cy="28755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29041" y="6588309"/>
            <a:ext cx="2538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A</a:t>
            </a:r>
            <a:r>
              <a:rPr sz="2400" b="1" spc="-110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teljes</a:t>
            </a:r>
            <a:r>
              <a:rPr sz="2400" b="1" spc="-25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EA24C"/>
                </a:solidFill>
                <a:latin typeface="Arial"/>
                <a:cs typeface="Arial"/>
              </a:rPr>
              <a:t>folyamat: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2203" y="1192508"/>
            <a:ext cx="251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Az</a:t>
            </a:r>
            <a:r>
              <a:rPr sz="2400" b="1" spc="-30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ár</a:t>
            </a:r>
            <a:r>
              <a:rPr sz="2400" b="1" spc="-30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EA24C"/>
                </a:solidFill>
                <a:latin typeface="Arial"/>
                <a:cs typeface="Arial"/>
              </a:rPr>
              <a:t>tartalmazza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2302" y="1886827"/>
            <a:ext cx="1890395" cy="1998345"/>
            <a:chOff x="752302" y="1886827"/>
            <a:chExt cx="1890395" cy="1998345"/>
          </a:xfrm>
        </p:grpSpPr>
        <p:sp>
          <p:nvSpPr>
            <p:cNvPr id="12" name="object 12"/>
            <p:cNvSpPr/>
            <p:nvPr/>
          </p:nvSpPr>
          <p:spPr>
            <a:xfrm>
              <a:off x="755477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5477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768827" y="1886827"/>
            <a:ext cx="1890395" cy="1998345"/>
            <a:chOff x="2768827" y="1886827"/>
            <a:chExt cx="1890395" cy="1998345"/>
          </a:xfrm>
        </p:grpSpPr>
        <p:sp>
          <p:nvSpPr>
            <p:cNvPr id="15" name="object 15"/>
            <p:cNvSpPr/>
            <p:nvPr/>
          </p:nvSpPr>
          <p:spPr>
            <a:xfrm>
              <a:off x="2772002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72002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774227" y="1886827"/>
            <a:ext cx="1890395" cy="1998345"/>
            <a:chOff x="4774227" y="1886827"/>
            <a:chExt cx="1890395" cy="1998345"/>
          </a:xfrm>
        </p:grpSpPr>
        <p:sp>
          <p:nvSpPr>
            <p:cNvPr id="18" name="object 18"/>
            <p:cNvSpPr/>
            <p:nvPr/>
          </p:nvSpPr>
          <p:spPr>
            <a:xfrm>
              <a:off x="4777402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77402" y="1890002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52302" y="3992829"/>
            <a:ext cx="1890395" cy="1998345"/>
            <a:chOff x="752302" y="3992829"/>
            <a:chExt cx="1890395" cy="1998345"/>
          </a:xfrm>
        </p:grpSpPr>
        <p:sp>
          <p:nvSpPr>
            <p:cNvPr id="21" name="object 21"/>
            <p:cNvSpPr/>
            <p:nvPr/>
          </p:nvSpPr>
          <p:spPr>
            <a:xfrm>
              <a:off x="755477" y="399600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5477" y="399600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757177" y="3992829"/>
            <a:ext cx="1890395" cy="1998345"/>
            <a:chOff x="2757177" y="3992829"/>
            <a:chExt cx="1890395" cy="1998345"/>
          </a:xfrm>
        </p:grpSpPr>
        <p:sp>
          <p:nvSpPr>
            <p:cNvPr id="24" name="object 24"/>
            <p:cNvSpPr/>
            <p:nvPr/>
          </p:nvSpPr>
          <p:spPr>
            <a:xfrm>
              <a:off x="2760352" y="399600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60352" y="399600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774227" y="3999179"/>
            <a:ext cx="1890395" cy="1998345"/>
            <a:chOff x="4774227" y="3999179"/>
            <a:chExt cx="1890395" cy="1998345"/>
          </a:xfrm>
        </p:grpSpPr>
        <p:sp>
          <p:nvSpPr>
            <p:cNvPr id="27" name="object 27"/>
            <p:cNvSpPr/>
            <p:nvPr/>
          </p:nvSpPr>
          <p:spPr>
            <a:xfrm>
              <a:off x="4777402" y="400235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03641" y="0"/>
                  </a:move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77402" y="4002354"/>
              <a:ext cx="1884045" cy="1991995"/>
            </a:xfrm>
            <a:custGeom>
              <a:avLst/>
              <a:gdLst/>
              <a:ahLst/>
              <a:cxnLst/>
              <a:rect l="l" t="t" r="r" b="b"/>
              <a:pathLst>
                <a:path w="1884045" h="1991995">
                  <a:moveTo>
                    <a:pt x="179997" y="0"/>
                  </a:move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0" y="1811655"/>
                  </a:lnTo>
                  <a:lnTo>
                    <a:pt x="6429" y="1859503"/>
                  </a:lnTo>
                  <a:lnTo>
                    <a:pt x="24573" y="1902499"/>
                  </a:lnTo>
                  <a:lnTo>
                    <a:pt x="52717" y="1938929"/>
                  </a:lnTo>
                  <a:lnTo>
                    <a:pt x="89146" y="1967075"/>
                  </a:lnTo>
                  <a:lnTo>
                    <a:pt x="132144" y="1985221"/>
                  </a:lnTo>
                  <a:lnTo>
                    <a:pt x="179997" y="1991652"/>
                  </a:lnTo>
                  <a:lnTo>
                    <a:pt x="1703641" y="1991652"/>
                  </a:lnTo>
                  <a:lnTo>
                    <a:pt x="1751494" y="1985221"/>
                  </a:lnTo>
                  <a:lnTo>
                    <a:pt x="1794495" y="1967075"/>
                  </a:lnTo>
                  <a:lnTo>
                    <a:pt x="1830927" y="1938929"/>
                  </a:lnTo>
                  <a:lnTo>
                    <a:pt x="1859074" y="1902499"/>
                  </a:lnTo>
                  <a:lnTo>
                    <a:pt x="1877221" y="1859503"/>
                  </a:lnTo>
                  <a:lnTo>
                    <a:pt x="1883651" y="1811655"/>
                  </a:lnTo>
                  <a:lnTo>
                    <a:pt x="1883651" y="179997"/>
                  </a:lnTo>
                  <a:lnTo>
                    <a:pt x="1877221" y="132149"/>
                  </a:lnTo>
                  <a:lnTo>
                    <a:pt x="1859074" y="89152"/>
                  </a:lnTo>
                  <a:lnTo>
                    <a:pt x="1830927" y="52722"/>
                  </a:lnTo>
                  <a:lnTo>
                    <a:pt x="1794495" y="24576"/>
                  </a:lnTo>
                  <a:lnTo>
                    <a:pt x="1751494" y="6430"/>
                  </a:lnTo>
                  <a:lnTo>
                    <a:pt x="1703641" y="0"/>
                  </a:lnTo>
                  <a:lnTo>
                    <a:pt x="179997" y="0"/>
                  </a:lnTo>
                  <a:close/>
                </a:path>
              </a:pathLst>
            </a:custGeom>
            <a:ln w="6350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53608" y="2711274"/>
            <a:ext cx="1687830" cy="90931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Napelem</a:t>
            </a:r>
            <a:endParaRPr sz="1500">
              <a:latin typeface="Arial"/>
              <a:cs typeface="Arial"/>
            </a:endParaRPr>
          </a:p>
          <a:p>
            <a:pPr marL="241935" algn="just">
              <a:lnSpc>
                <a:spcPts val="126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Napelem modulok</a:t>
            </a:r>
            <a:endParaRPr sz="1100">
              <a:latin typeface="Arial"/>
              <a:cs typeface="Arial"/>
            </a:endParaRPr>
          </a:p>
          <a:p>
            <a:pPr marL="12700" marR="5080" indent="38735" algn="just">
              <a:lnSpc>
                <a:spcPts val="1200"/>
              </a:lnSpc>
              <a:spcBef>
                <a:spcPts val="8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–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25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év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termékgaranciá-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val,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valamint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30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év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87.4% teljesítménygaranciával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66719" y="2711274"/>
            <a:ext cx="1694814" cy="90931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Inverter</a:t>
            </a:r>
            <a:endParaRPr sz="1500">
              <a:latin typeface="Arial"/>
              <a:cs typeface="Arial"/>
            </a:endParaRPr>
          </a:p>
          <a:p>
            <a:pPr marL="12700" marR="5080" indent="-635" algn="ctr">
              <a:lnSpc>
                <a:spcPts val="1200"/>
              </a:lnSpc>
              <a:spcBef>
                <a:spcPts val="24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Inverter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–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10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év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teljes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körű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gyártói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garanciával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(opcionális</a:t>
            </a:r>
            <a:r>
              <a:rPr sz="1100" b="1" spc="-7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meghosszab-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bítás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elérhető)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42900" y="2711274"/>
            <a:ext cx="1353185" cy="7569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Tartószerkezet</a:t>
            </a:r>
            <a:endParaRPr sz="1500" dirty="0">
              <a:latin typeface="Arial"/>
              <a:cs typeface="Arial"/>
            </a:endParaRPr>
          </a:p>
          <a:p>
            <a:pPr marL="12700" marR="5080" indent="-635" algn="ctr">
              <a:lnSpc>
                <a:spcPts val="1200"/>
              </a:lnSpc>
              <a:spcBef>
                <a:spcPts val="240"/>
              </a:spcBef>
            </a:pP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Tartószerkezet</a:t>
            </a:r>
            <a:r>
              <a:rPr sz="1100" b="1" spc="4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939598"/>
                </a:solidFill>
                <a:latin typeface="Arial"/>
                <a:cs typeface="Arial"/>
              </a:rPr>
              <a:t>–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prémium</a:t>
            </a:r>
            <a:r>
              <a:rPr sz="11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minőségű,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1</a:t>
            </a:r>
            <a:r>
              <a:rPr lang="hu-HU" sz="1100" b="1" dirty="0">
                <a:solidFill>
                  <a:srgbClr val="939598"/>
                </a:solidFill>
                <a:latin typeface="Arial"/>
                <a:cs typeface="Arial"/>
              </a:rPr>
              <a:t>2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év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garanciával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6040" y="4832074"/>
            <a:ext cx="1655445" cy="9021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Dokumentáció</a:t>
            </a:r>
            <a:endParaRPr sz="1500" dirty="0">
              <a:latin typeface="Arial"/>
              <a:cs typeface="Arial"/>
            </a:endParaRPr>
          </a:p>
          <a:p>
            <a:pPr marL="12700" marR="5080" indent="635" algn="ctr">
              <a:lnSpc>
                <a:spcPts val="1200"/>
              </a:lnSpc>
              <a:spcBef>
                <a:spcPts val="240"/>
              </a:spcBef>
            </a:pP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Teljes</a:t>
            </a:r>
            <a:r>
              <a:rPr sz="1100" b="1" spc="-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20" dirty="0" err="1">
                <a:solidFill>
                  <a:srgbClr val="939598"/>
                </a:solidFill>
                <a:latin typeface="Arial"/>
                <a:cs typeface="Arial"/>
              </a:rPr>
              <a:t>körű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lang="hu-HU" sz="1100" b="1" spc="-20" dirty="0">
                <a:solidFill>
                  <a:srgbClr val="939598"/>
                </a:solidFill>
                <a:latin typeface="Arial"/>
                <a:cs typeface="Arial"/>
              </a:rPr>
              <a:t>pályázatmenedzsment</a:t>
            </a:r>
            <a:r>
              <a:rPr sz="1100" b="1" spc="-1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–</a:t>
            </a:r>
            <a:r>
              <a:rPr sz="1100" b="1" spc="-2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tervezés, engedélyeztetés, 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98849" y="4832074"/>
            <a:ext cx="1602105" cy="90931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Villanyszerelés</a:t>
            </a:r>
            <a:endParaRPr sz="1500">
              <a:latin typeface="Arial"/>
              <a:cs typeface="Arial"/>
            </a:endParaRPr>
          </a:p>
          <a:p>
            <a:pPr marL="12700" marR="5080" indent="-635" algn="ctr">
              <a:lnSpc>
                <a:spcPts val="1200"/>
              </a:lnSpc>
              <a:spcBef>
                <a:spcPts val="240"/>
              </a:spcBef>
            </a:pP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Teljes</a:t>
            </a:r>
            <a:r>
              <a:rPr sz="1100" b="1" spc="-5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villanyszerelési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munkálatok</a:t>
            </a:r>
            <a:r>
              <a:rPr sz="11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–</a:t>
            </a:r>
            <a:r>
              <a:rPr sz="1100" b="1" spc="-7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AC/DC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oldali bekötés,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földelés, túlfeszültség-védelem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77012" y="4832074"/>
            <a:ext cx="1655445" cy="90931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Telepítés</a:t>
            </a:r>
            <a:endParaRPr sz="1500">
              <a:latin typeface="Arial"/>
              <a:cs typeface="Arial"/>
            </a:endParaRPr>
          </a:p>
          <a:p>
            <a:pPr marL="12700" marR="5080" algn="ctr">
              <a:lnSpc>
                <a:spcPts val="1200"/>
              </a:lnSpc>
              <a:spcBef>
                <a:spcPts val="24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Professzionális</a:t>
            </a:r>
            <a:r>
              <a:rPr sz="1100" b="1" spc="-7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telepítés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–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saját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csapatunkkal,</a:t>
            </a:r>
            <a:endParaRPr sz="1100">
              <a:latin typeface="Arial"/>
              <a:cs typeface="Arial"/>
            </a:endParaRPr>
          </a:p>
          <a:p>
            <a:pPr marL="303530" marR="294640" algn="ctr">
              <a:lnSpc>
                <a:spcPts val="1200"/>
              </a:lnSpc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3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év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kivitelezési garanciával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4098" y="2119778"/>
            <a:ext cx="612803" cy="5579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57398" y="2119778"/>
            <a:ext cx="612803" cy="5579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9398" y="2119778"/>
            <a:ext cx="612803" cy="5579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54099" y="4214660"/>
            <a:ext cx="612800" cy="56964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57398" y="4214660"/>
            <a:ext cx="612799" cy="55799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09400" y="4214660"/>
            <a:ext cx="612802" cy="569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99" y="369609"/>
            <a:ext cx="148526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Spark</a:t>
            </a:r>
            <a:r>
              <a:rPr sz="9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Electric</a:t>
            </a:r>
            <a:r>
              <a:rPr sz="9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939598"/>
                </a:solidFill>
                <a:latin typeface="Arial"/>
                <a:cs typeface="Arial"/>
              </a:rPr>
              <a:t>Kft.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1147</a:t>
            </a:r>
            <a:r>
              <a:rPr sz="900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Budapest,</a:t>
            </a:r>
            <a:endParaRPr sz="9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Telepes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utca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72-74.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psz.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939598"/>
                </a:solidFill>
                <a:latin typeface="Arial"/>
                <a:cs typeface="Arial"/>
              </a:rPr>
              <a:t>37.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+36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20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409</a:t>
            </a:r>
            <a:r>
              <a:rPr sz="900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39598"/>
                </a:solidFill>
                <a:latin typeface="Arial"/>
                <a:cs typeface="Arial"/>
              </a:rPr>
              <a:t>0060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8789" y="348762"/>
            <a:ext cx="197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39598"/>
                </a:solidFill>
                <a:latin typeface="Arial"/>
                <a:cs typeface="Arial"/>
                <a:hlinkClick r:id="rId2"/>
              </a:rPr>
              <a:t>www.akkumulator-tamogatas.hu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5695" y="1214305"/>
            <a:ext cx="3549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Miért</a:t>
            </a:r>
            <a:r>
              <a:rPr sz="2400" b="1" spc="-90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EA24C"/>
                </a:solidFill>
                <a:latin typeface="Arial"/>
                <a:cs typeface="Arial"/>
              </a:rPr>
              <a:t>válasszon</a:t>
            </a:r>
            <a:r>
              <a:rPr sz="2400" b="1" spc="-85" dirty="0">
                <a:solidFill>
                  <a:srgbClr val="FEA24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EA24C"/>
                </a:solidFill>
                <a:latin typeface="Arial"/>
                <a:cs typeface="Arial"/>
              </a:rPr>
              <a:t>minket?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730211"/>
            <a:ext cx="7566659" cy="1497330"/>
            <a:chOff x="0" y="7730211"/>
            <a:chExt cx="7566659" cy="14973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730211"/>
              <a:ext cx="7559992" cy="14967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4185" y="8369338"/>
              <a:ext cx="307975" cy="388620"/>
            </a:xfrm>
            <a:custGeom>
              <a:avLst/>
              <a:gdLst/>
              <a:ahLst/>
              <a:cxnLst/>
              <a:rect l="l" t="t" r="r" b="b"/>
              <a:pathLst>
                <a:path w="307975" h="388620">
                  <a:moveTo>
                    <a:pt x="307962" y="0"/>
                  </a:moveTo>
                  <a:lnTo>
                    <a:pt x="0" y="0"/>
                  </a:lnTo>
                  <a:lnTo>
                    <a:pt x="0" y="388086"/>
                  </a:lnTo>
                  <a:lnTo>
                    <a:pt x="307962" y="388086"/>
                  </a:lnTo>
                  <a:lnTo>
                    <a:pt x="307962" y="0"/>
                  </a:lnTo>
                  <a:close/>
                </a:path>
              </a:pathLst>
            </a:custGeom>
            <a:solidFill>
              <a:srgbClr val="F6F4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4185" y="8369338"/>
              <a:ext cx="307975" cy="388620"/>
            </a:xfrm>
            <a:custGeom>
              <a:avLst/>
              <a:gdLst/>
              <a:ahLst/>
              <a:cxnLst/>
              <a:rect l="l" t="t" r="r" b="b"/>
              <a:pathLst>
                <a:path w="307975" h="388620">
                  <a:moveTo>
                    <a:pt x="0" y="388086"/>
                  </a:moveTo>
                  <a:lnTo>
                    <a:pt x="307962" y="388086"/>
                  </a:lnTo>
                  <a:lnTo>
                    <a:pt x="307962" y="0"/>
                  </a:lnTo>
                  <a:lnTo>
                    <a:pt x="0" y="0"/>
                  </a:lnTo>
                  <a:lnTo>
                    <a:pt x="0" y="388086"/>
                  </a:lnTo>
                  <a:close/>
                </a:path>
              </a:pathLst>
            </a:custGeom>
            <a:ln w="12547">
              <a:solidFill>
                <a:srgbClr val="F6F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60208" y="8396046"/>
              <a:ext cx="200025" cy="388620"/>
            </a:xfrm>
            <a:custGeom>
              <a:avLst/>
              <a:gdLst/>
              <a:ahLst/>
              <a:cxnLst/>
              <a:rect l="l" t="t" r="r" b="b"/>
              <a:pathLst>
                <a:path w="200025" h="388620">
                  <a:moveTo>
                    <a:pt x="199783" y="0"/>
                  </a:moveTo>
                  <a:lnTo>
                    <a:pt x="0" y="0"/>
                  </a:lnTo>
                  <a:lnTo>
                    <a:pt x="0" y="388086"/>
                  </a:lnTo>
                  <a:lnTo>
                    <a:pt x="199783" y="388086"/>
                  </a:lnTo>
                  <a:lnTo>
                    <a:pt x="199783" y="0"/>
                  </a:lnTo>
                  <a:close/>
                </a:path>
              </a:pathLst>
            </a:custGeom>
            <a:solidFill>
              <a:srgbClr val="F6F4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60221" y="8396046"/>
              <a:ext cx="200025" cy="388620"/>
            </a:xfrm>
            <a:custGeom>
              <a:avLst/>
              <a:gdLst/>
              <a:ahLst/>
              <a:cxnLst/>
              <a:rect l="l" t="t" r="r" b="b"/>
              <a:pathLst>
                <a:path w="200025" h="388620">
                  <a:moveTo>
                    <a:pt x="199783" y="0"/>
                  </a:moveTo>
                  <a:lnTo>
                    <a:pt x="0" y="0"/>
                  </a:lnTo>
                  <a:lnTo>
                    <a:pt x="0" y="388086"/>
                  </a:lnTo>
                  <a:lnTo>
                    <a:pt x="199783" y="388086"/>
                  </a:lnTo>
                </a:path>
              </a:pathLst>
            </a:custGeom>
            <a:ln w="12547">
              <a:solidFill>
                <a:srgbClr val="F6F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7999" y="9450019"/>
            <a:ext cx="1333498" cy="89548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389299" y="9442453"/>
            <a:ext cx="3202940" cy="7797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844550">
              <a:lnSpc>
                <a:spcPct val="104200"/>
              </a:lnSpc>
              <a:spcBef>
                <a:spcPts val="40"/>
              </a:spcBef>
            </a:pP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100%</a:t>
            </a:r>
            <a:r>
              <a:rPr sz="12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minőségi</a:t>
            </a:r>
            <a:r>
              <a:rPr sz="12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munkát</a:t>
            </a:r>
            <a:r>
              <a:rPr sz="12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végzünk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Nincsenek</a:t>
            </a:r>
            <a:r>
              <a:rPr sz="12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rejtett</a:t>
            </a:r>
            <a:r>
              <a:rPr sz="12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költségek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Nincs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késlekedés,</a:t>
            </a:r>
            <a:r>
              <a:rPr sz="12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magyarázkodás,</a:t>
            </a:r>
            <a:r>
              <a:rPr sz="12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csúszás </a:t>
            </a:r>
            <a:r>
              <a:rPr sz="1200" b="1" dirty="0">
                <a:solidFill>
                  <a:srgbClr val="939598"/>
                </a:solidFill>
                <a:latin typeface="Arial"/>
                <a:cs typeface="Arial"/>
              </a:rPr>
              <a:t>Nincsenek</a:t>
            </a:r>
            <a:r>
              <a:rPr sz="12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utólagos</a:t>
            </a:r>
            <a:r>
              <a:rPr sz="12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939598"/>
                </a:solidFill>
                <a:latin typeface="Arial"/>
                <a:cs typeface="Arial"/>
              </a:rPr>
              <a:t>meglepetések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71943" y="1996850"/>
            <a:ext cx="1965325" cy="2679065"/>
          </a:xfrm>
          <a:custGeom>
            <a:avLst/>
            <a:gdLst/>
            <a:ahLst/>
            <a:cxnLst/>
            <a:rect l="l" t="t" r="r" b="b"/>
            <a:pathLst>
              <a:path w="1965325" h="2679065">
                <a:moveTo>
                  <a:pt x="1784718" y="0"/>
                </a:moveTo>
                <a:lnTo>
                  <a:pt x="179997" y="0"/>
                </a:lnTo>
                <a:lnTo>
                  <a:pt x="132144" y="6430"/>
                </a:lnTo>
                <a:lnTo>
                  <a:pt x="89146" y="24576"/>
                </a:lnTo>
                <a:lnTo>
                  <a:pt x="52717" y="52722"/>
                </a:lnTo>
                <a:lnTo>
                  <a:pt x="24573" y="89152"/>
                </a:lnTo>
                <a:lnTo>
                  <a:pt x="6429" y="132149"/>
                </a:lnTo>
                <a:lnTo>
                  <a:pt x="0" y="179997"/>
                </a:lnTo>
                <a:lnTo>
                  <a:pt x="0" y="2498712"/>
                </a:lnTo>
                <a:lnTo>
                  <a:pt x="6429" y="2546564"/>
                </a:lnTo>
                <a:lnTo>
                  <a:pt x="24573" y="2589562"/>
                </a:lnTo>
                <a:lnTo>
                  <a:pt x="52717" y="2625991"/>
                </a:lnTo>
                <a:lnTo>
                  <a:pt x="89146" y="2654135"/>
                </a:lnTo>
                <a:lnTo>
                  <a:pt x="132144" y="2672280"/>
                </a:lnTo>
                <a:lnTo>
                  <a:pt x="179997" y="2678709"/>
                </a:lnTo>
                <a:lnTo>
                  <a:pt x="1784718" y="2678709"/>
                </a:lnTo>
                <a:lnTo>
                  <a:pt x="1832570" y="2672280"/>
                </a:lnTo>
                <a:lnTo>
                  <a:pt x="1875568" y="2654135"/>
                </a:lnTo>
                <a:lnTo>
                  <a:pt x="1911997" y="2625991"/>
                </a:lnTo>
                <a:lnTo>
                  <a:pt x="1940141" y="2589562"/>
                </a:lnTo>
                <a:lnTo>
                  <a:pt x="1958286" y="2546564"/>
                </a:lnTo>
                <a:lnTo>
                  <a:pt x="1964715" y="2498712"/>
                </a:lnTo>
                <a:lnTo>
                  <a:pt x="1964715" y="179997"/>
                </a:lnTo>
                <a:lnTo>
                  <a:pt x="1958286" y="132149"/>
                </a:lnTo>
                <a:lnTo>
                  <a:pt x="1940141" y="89152"/>
                </a:lnTo>
                <a:lnTo>
                  <a:pt x="1911997" y="52722"/>
                </a:lnTo>
                <a:lnTo>
                  <a:pt x="1875568" y="24576"/>
                </a:lnTo>
                <a:lnTo>
                  <a:pt x="1832570" y="6430"/>
                </a:lnTo>
                <a:lnTo>
                  <a:pt x="1784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8629" y="1996850"/>
            <a:ext cx="1965325" cy="2679065"/>
          </a:xfrm>
          <a:custGeom>
            <a:avLst/>
            <a:gdLst/>
            <a:ahLst/>
            <a:cxnLst/>
            <a:rect l="l" t="t" r="r" b="b"/>
            <a:pathLst>
              <a:path w="1965325" h="2679065">
                <a:moveTo>
                  <a:pt x="1784718" y="0"/>
                </a:moveTo>
                <a:lnTo>
                  <a:pt x="179997" y="0"/>
                </a:lnTo>
                <a:lnTo>
                  <a:pt x="132144" y="6430"/>
                </a:lnTo>
                <a:lnTo>
                  <a:pt x="89146" y="24576"/>
                </a:lnTo>
                <a:lnTo>
                  <a:pt x="52717" y="52722"/>
                </a:lnTo>
                <a:lnTo>
                  <a:pt x="24573" y="89152"/>
                </a:lnTo>
                <a:lnTo>
                  <a:pt x="6429" y="132149"/>
                </a:lnTo>
                <a:lnTo>
                  <a:pt x="0" y="179997"/>
                </a:lnTo>
                <a:lnTo>
                  <a:pt x="0" y="2498712"/>
                </a:lnTo>
                <a:lnTo>
                  <a:pt x="6429" y="2546564"/>
                </a:lnTo>
                <a:lnTo>
                  <a:pt x="24573" y="2589562"/>
                </a:lnTo>
                <a:lnTo>
                  <a:pt x="52717" y="2625991"/>
                </a:lnTo>
                <a:lnTo>
                  <a:pt x="89146" y="2654135"/>
                </a:lnTo>
                <a:lnTo>
                  <a:pt x="132144" y="2672280"/>
                </a:lnTo>
                <a:lnTo>
                  <a:pt x="179997" y="2678709"/>
                </a:lnTo>
                <a:lnTo>
                  <a:pt x="1784718" y="2678709"/>
                </a:lnTo>
                <a:lnTo>
                  <a:pt x="1832570" y="2672280"/>
                </a:lnTo>
                <a:lnTo>
                  <a:pt x="1875568" y="2654135"/>
                </a:lnTo>
                <a:lnTo>
                  <a:pt x="1911997" y="2625991"/>
                </a:lnTo>
                <a:lnTo>
                  <a:pt x="1940141" y="2589562"/>
                </a:lnTo>
                <a:lnTo>
                  <a:pt x="1958286" y="2546564"/>
                </a:lnTo>
                <a:lnTo>
                  <a:pt x="1964715" y="2498712"/>
                </a:lnTo>
                <a:lnTo>
                  <a:pt x="1964715" y="179997"/>
                </a:lnTo>
                <a:lnTo>
                  <a:pt x="1958286" y="132149"/>
                </a:lnTo>
                <a:lnTo>
                  <a:pt x="1940141" y="89152"/>
                </a:lnTo>
                <a:lnTo>
                  <a:pt x="1911997" y="52722"/>
                </a:lnTo>
                <a:lnTo>
                  <a:pt x="1875568" y="24576"/>
                </a:lnTo>
                <a:lnTo>
                  <a:pt x="1832570" y="6430"/>
                </a:lnTo>
                <a:lnTo>
                  <a:pt x="1784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4863654" y="1996850"/>
            <a:ext cx="1965325" cy="2679065"/>
          </a:xfrm>
          <a:custGeom>
            <a:avLst/>
            <a:gdLst/>
            <a:ahLst/>
            <a:cxnLst/>
            <a:rect l="l" t="t" r="r" b="b"/>
            <a:pathLst>
              <a:path w="1965325" h="2679065">
                <a:moveTo>
                  <a:pt x="1784718" y="0"/>
                </a:moveTo>
                <a:lnTo>
                  <a:pt x="179997" y="0"/>
                </a:lnTo>
                <a:lnTo>
                  <a:pt x="132144" y="6430"/>
                </a:lnTo>
                <a:lnTo>
                  <a:pt x="89146" y="24576"/>
                </a:lnTo>
                <a:lnTo>
                  <a:pt x="52717" y="52722"/>
                </a:lnTo>
                <a:lnTo>
                  <a:pt x="24573" y="89152"/>
                </a:lnTo>
                <a:lnTo>
                  <a:pt x="6429" y="132149"/>
                </a:lnTo>
                <a:lnTo>
                  <a:pt x="0" y="179997"/>
                </a:lnTo>
                <a:lnTo>
                  <a:pt x="0" y="2498712"/>
                </a:lnTo>
                <a:lnTo>
                  <a:pt x="6429" y="2546564"/>
                </a:lnTo>
                <a:lnTo>
                  <a:pt x="24573" y="2589562"/>
                </a:lnTo>
                <a:lnTo>
                  <a:pt x="52717" y="2625991"/>
                </a:lnTo>
                <a:lnTo>
                  <a:pt x="89146" y="2654135"/>
                </a:lnTo>
                <a:lnTo>
                  <a:pt x="132144" y="2672280"/>
                </a:lnTo>
                <a:lnTo>
                  <a:pt x="179997" y="2678709"/>
                </a:lnTo>
                <a:lnTo>
                  <a:pt x="1784718" y="2678709"/>
                </a:lnTo>
                <a:lnTo>
                  <a:pt x="1832570" y="2672280"/>
                </a:lnTo>
                <a:lnTo>
                  <a:pt x="1875568" y="2654135"/>
                </a:lnTo>
                <a:lnTo>
                  <a:pt x="1911997" y="2625991"/>
                </a:lnTo>
                <a:lnTo>
                  <a:pt x="1940141" y="2589562"/>
                </a:lnTo>
                <a:lnTo>
                  <a:pt x="1958286" y="2546564"/>
                </a:lnTo>
                <a:lnTo>
                  <a:pt x="1964715" y="2498712"/>
                </a:lnTo>
                <a:lnTo>
                  <a:pt x="1964715" y="179997"/>
                </a:lnTo>
                <a:lnTo>
                  <a:pt x="1958286" y="132149"/>
                </a:lnTo>
                <a:lnTo>
                  <a:pt x="1940141" y="89152"/>
                </a:lnTo>
                <a:lnTo>
                  <a:pt x="1911997" y="52722"/>
                </a:lnTo>
                <a:lnTo>
                  <a:pt x="1875568" y="24576"/>
                </a:lnTo>
                <a:lnTo>
                  <a:pt x="1832570" y="6430"/>
                </a:lnTo>
                <a:lnTo>
                  <a:pt x="1784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01785" y="4829360"/>
            <a:ext cx="1965325" cy="2679065"/>
          </a:xfrm>
          <a:custGeom>
            <a:avLst/>
            <a:gdLst/>
            <a:ahLst/>
            <a:cxnLst/>
            <a:rect l="l" t="t" r="r" b="b"/>
            <a:pathLst>
              <a:path w="1965325" h="2679065">
                <a:moveTo>
                  <a:pt x="1784718" y="0"/>
                </a:moveTo>
                <a:lnTo>
                  <a:pt x="179997" y="0"/>
                </a:lnTo>
                <a:lnTo>
                  <a:pt x="132144" y="6430"/>
                </a:lnTo>
                <a:lnTo>
                  <a:pt x="89146" y="24576"/>
                </a:lnTo>
                <a:lnTo>
                  <a:pt x="52717" y="52722"/>
                </a:lnTo>
                <a:lnTo>
                  <a:pt x="24573" y="89152"/>
                </a:lnTo>
                <a:lnTo>
                  <a:pt x="6429" y="132149"/>
                </a:lnTo>
                <a:lnTo>
                  <a:pt x="0" y="179997"/>
                </a:lnTo>
                <a:lnTo>
                  <a:pt x="0" y="2498712"/>
                </a:lnTo>
                <a:lnTo>
                  <a:pt x="6429" y="2546564"/>
                </a:lnTo>
                <a:lnTo>
                  <a:pt x="24573" y="2589562"/>
                </a:lnTo>
                <a:lnTo>
                  <a:pt x="52717" y="2625991"/>
                </a:lnTo>
                <a:lnTo>
                  <a:pt x="89146" y="2654135"/>
                </a:lnTo>
                <a:lnTo>
                  <a:pt x="132144" y="2672280"/>
                </a:lnTo>
                <a:lnTo>
                  <a:pt x="179997" y="2678709"/>
                </a:lnTo>
                <a:lnTo>
                  <a:pt x="1784718" y="2678709"/>
                </a:lnTo>
                <a:lnTo>
                  <a:pt x="1832570" y="2672280"/>
                </a:lnTo>
                <a:lnTo>
                  <a:pt x="1875568" y="2654135"/>
                </a:lnTo>
                <a:lnTo>
                  <a:pt x="1911997" y="2625991"/>
                </a:lnTo>
                <a:lnTo>
                  <a:pt x="1940141" y="2589562"/>
                </a:lnTo>
                <a:lnTo>
                  <a:pt x="1958286" y="2546564"/>
                </a:lnTo>
                <a:lnTo>
                  <a:pt x="1964715" y="2498712"/>
                </a:lnTo>
                <a:lnTo>
                  <a:pt x="1964715" y="179997"/>
                </a:lnTo>
                <a:lnTo>
                  <a:pt x="1958286" y="132149"/>
                </a:lnTo>
                <a:lnTo>
                  <a:pt x="1940141" y="89152"/>
                </a:lnTo>
                <a:lnTo>
                  <a:pt x="1911997" y="52722"/>
                </a:lnTo>
                <a:lnTo>
                  <a:pt x="1875568" y="24576"/>
                </a:lnTo>
                <a:lnTo>
                  <a:pt x="1832570" y="6430"/>
                </a:lnTo>
                <a:lnTo>
                  <a:pt x="1784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05648" y="4837901"/>
            <a:ext cx="1965325" cy="2679065"/>
          </a:xfrm>
          <a:custGeom>
            <a:avLst/>
            <a:gdLst/>
            <a:ahLst/>
            <a:cxnLst/>
            <a:rect l="l" t="t" r="r" b="b"/>
            <a:pathLst>
              <a:path w="1965325" h="2679065">
                <a:moveTo>
                  <a:pt x="1784718" y="0"/>
                </a:moveTo>
                <a:lnTo>
                  <a:pt x="179997" y="0"/>
                </a:lnTo>
                <a:lnTo>
                  <a:pt x="132144" y="6430"/>
                </a:lnTo>
                <a:lnTo>
                  <a:pt x="89146" y="24576"/>
                </a:lnTo>
                <a:lnTo>
                  <a:pt x="52717" y="52722"/>
                </a:lnTo>
                <a:lnTo>
                  <a:pt x="24573" y="89152"/>
                </a:lnTo>
                <a:lnTo>
                  <a:pt x="6429" y="132149"/>
                </a:lnTo>
                <a:lnTo>
                  <a:pt x="0" y="179997"/>
                </a:lnTo>
                <a:lnTo>
                  <a:pt x="0" y="2498712"/>
                </a:lnTo>
                <a:lnTo>
                  <a:pt x="6429" y="2546564"/>
                </a:lnTo>
                <a:lnTo>
                  <a:pt x="24573" y="2589562"/>
                </a:lnTo>
                <a:lnTo>
                  <a:pt x="52717" y="2625991"/>
                </a:lnTo>
                <a:lnTo>
                  <a:pt x="89146" y="2654135"/>
                </a:lnTo>
                <a:lnTo>
                  <a:pt x="132144" y="2672280"/>
                </a:lnTo>
                <a:lnTo>
                  <a:pt x="179997" y="2678709"/>
                </a:lnTo>
                <a:lnTo>
                  <a:pt x="1784718" y="2678709"/>
                </a:lnTo>
                <a:lnTo>
                  <a:pt x="1832570" y="2672280"/>
                </a:lnTo>
                <a:lnTo>
                  <a:pt x="1875568" y="2654135"/>
                </a:lnTo>
                <a:lnTo>
                  <a:pt x="1911997" y="2625991"/>
                </a:lnTo>
                <a:lnTo>
                  <a:pt x="1940141" y="2589562"/>
                </a:lnTo>
                <a:lnTo>
                  <a:pt x="1958286" y="2546564"/>
                </a:lnTo>
                <a:lnTo>
                  <a:pt x="1964715" y="2498712"/>
                </a:lnTo>
                <a:lnTo>
                  <a:pt x="1964715" y="179997"/>
                </a:lnTo>
                <a:lnTo>
                  <a:pt x="1958286" y="132149"/>
                </a:lnTo>
                <a:lnTo>
                  <a:pt x="1940141" y="89152"/>
                </a:lnTo>
                <a:lnTo>
                  <a:pt x="1911997" y="52722"/>
                </a:lnTo>
                <a:lnTo>
                  <a:pt x="1875568" y="24576"/>
                </a:lnTo>
                <a:lnTo>
                  <a:pt x="1832570" y="6430"/>
                </a:lnTo>
                <a:lnTo>
                  <a:pt x="1784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1322948" y="2276176"/>
            <a:ext cx="549910" cy="531495"/>
          </a:xfrm>
          <a:custGeom>
            <a:avLst/>
            <a:gdLst/>
            <a:ahLst/>
            <a:cxnLst/>
            <a:rect l="l" t="t" r="r" b="b"/>
            <a:pathLst>
              <a:path w="549910" h="531494">
                <a:moveTo>
                  <a:pt x="436778" y="0"/>
                </a:moveTo>
                <a:lnTo>
                  <a:pt x="112648" y="0"/>
                </a:lnTo>
                <a:lnTo>
                  <a:pt x="68912" y="8887"/>
                </a:lnTo>
                <a:lnTo>
                  <a:pt x="33093" y="33088"/>
                </a:lnTo>
                <a:lnTo>
                  <a:pt x="8889" y="68906"/>
                </a:lnTo>
                <a:lnTo>
                  <a:pt x="0" y="112648"/>
                </a:lnTo>
                <a:lnTo>
                  <a:pt x="0" y="418452"/>
                </a:lnTo>
                <a:lnTo>
                  <a:pt x="8889" y="462189"/>
                </a:lnTo>
                <a:lnTo>
                  <a:pt x="33093" y="498008"/>
                </a:lnTo>
                <a:lnTo>
                  <a:pt x="68912" y="522211"/>
                </a:lnTo>
                <a:lnTo>
                  <a:pt x="112648" y="531101"/>
                </a:lnTo>
                <a:lnTo>
                  <a:pt x="436778" y="531101"/>
                </a:lnTo>
                <a:lnTo>
                  <a:pt x="480515" y="522211"/>
                </a:lnTo>
                <a:lnTo>
                  <a:pt x="516334" y="498008"/>
                </a:lnTo>
                <a:lnTo>
                  <a:pt x="540537" y="462189"/>
                </a:lnTo>
                <a:lnTo>
                  <a:pt x="549427" y="418452"/>
                </a:lnTo>
                <a:lnTo>
                  <a:pt x="549427" y="112648"/>
                </a:lnTo>
                <a:lnTo>
                  <a:pt x="540537" y="68906"/>
                </a:lnTo>
                <a:lnTo>
                  <a:pt x="516334" y="33088"/>
                </a:lnTo>
                <a:lnTo>
                  <a:pt x="480515" y="8887"/>
                </a:lnTo>
                <a:lnTo>
                  <a:pt x="436778" y="0"/>
                </a:lnTo>
                <a:close/>
              </a:path>
            </a:pathLst>
          </a:custGeom>
          <a:solidFill>
            <a:srgbClr val="E5F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0785" y="2423330"/>
            <a:ext cx="193751" cy="236791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5550594" y="2257402"/>
            <a:ext cx="549910" cy="531495"/>
          </a:xfrm>
          <a:custGeom>
            <a:avLst/>
            <a:gdLst/>
            <a:ahLst/>
            <a:cxnLst/>
            <a:rect l="l" t="t" r="r" b="b"/>
            <a:pathLst>
              <a:path w="549910" h="531494">
                <a:moveTo>
                  <a:pt x="436778" y="0"/>
                </a:moveTo>
                <a:lnTo>
                  <a:pt x="112648" y="0"/>
                </a:lnTo>
                <a:lnTo>
                  <a:pt x="68912" y="8887"/>
                </a:lnTo>
                <a:lnTo>
                  <a:pt x="33093" y="33088"/>
                </a:lnTo>
                <a:lnTo>
                  <a:pt x="8889" y="68906"/>
                </a:lnTo>
                <a:lnTo>
                  <a:pt x="0" y="112648"/>
                </a:lnTo>
                <a:lnTo>
                  <a:pt x="0" y="418452"/>
                </a:lnTo>
                <a:lnTo>
                  <a:pt x="8889" y="462189"/>
                </a:lnTo>
                <a:lnTo>
                  <a:pt x="33093" y="498008"/>
                </a:lnTo>
                <a:lnTo>
                  <a:pt x="68912" y="522211"/>
                </a:lnTo>
                <a:lnTo>
                  <a:pt x="112648" y="531101"/>
                </a:lnTo>
                <a:lnTo>
                  <a:pt x="436778" y="531101"/>
                </a:lnTo>
                <a:lnTo>
                  <a:pt x="480515" y="522211"/>
                </a:lnTo>
                <a:lnTo>
                  <a:pt x="516334" y="498008"/>
                </a:lnTo>
                <a:lnTo>
                  <a:pt x="540537" y="462189"/>
                </a:lnTo>
                <a:lnTo>
                  <a:pt x="549427" y="418452"/>
                </a:lnTo>
                <a:lnTo>
                  <a:pt x="549427" y="112648"/>
                </a:lnTo>
                <a:lnTo>
                  <a:pt x="540537" y="68906"/>
                </a:lnTo>
                <a:lnTo>
                  <a:pt x="516334" y="33088"/>
                </a:lnTo>
                <a:lnTo>
                  <a:pt x="480515" y="8887"/>
                </a:lnTo>
                <a:lnTo>
                  <a:pt x="436778" y="0"/>
                </a:lnTo>
                <a:close/>
              </a:path>
            </a:pathLst>
          </a:custGeom>
          <a:solidFill>
            <a:srgbClr val="FAF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1936" y="2409939"/>
            <a:ext cx="226745" cy="215811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2405830" y="5082472"/>
            <a:ext cx="549910" cy="531495"/>
          </a:xfrm>
          <a:custGeom>
            <a:avLst/>
            <a:gdLst/>
            <a:ahLst/>
            <a:cxnLst/>
            <a:rect l="l" t="t" r="r" b="b"/>
            <a:pathLst>
              <a:path w="549910" h="531495">
                <a:moveTo>
                  <a:pt x="436778" y="0"/>
                </a:moveTo>
                <a:lnTo>
                  <a:pt x="112648" y="0"/>
                </a:lnTo>
                <a:lnTo>
                  <a:pt x="68912" y="8887"/>
                </a:lnTo>
                <a:lnTo>
                  <a:pt x="33093" y="33088"/>
                </a:lnTo>
                <a:lnTo>
                  <a:pt x="8889" y="68906"/>
                </a:lnTo>
                <a:lnTo>
                  <a:pt x="0" y="112648"/>
                </a:lnTo>
                <a:lnTo>
                  <a:pt x="0" y="418452"/>
                </a:lnTo>
                <a:lnTo>
                  <a:pt x="8889" y="462189"/>
                </a:lnTo>
                <a:lnTo>
                  <a:pt x="33093" y="498008"/>
                </a:lnTo>
                <a:lnTo>
                  <a:pt x="68912" y="522211"/>
                </a:lnTo>
                <a:lnTo>
                  <a:pt x="112648" y="531101"/>
                </a:lnTo>
                <a:lnTo>
                  <a:pt x="436778" y="531101"/>
                </a:lnTo>
                <a:lnTo>
                  <a:pt x="480515" y="522211"/>
                </a:lnTo>
                <a:lnTo>
                  <a:pt x="516334" y="498008"/>
                </a:lnTo>
                <a:lnTo>
                  <a:pt x="540537" y="462189"/>
                </a:lnTo>
                <a:lnTo>
                  <a:pt x="549427" y="418452"/>
                </a:lnTo>
                <a:lnTo>
                  <a:pt x="549427" y="112648"/>
                </a:lnTo>
                <a:lnTo>
                  <a:pt x="540537" y="68906"/>
                </a:lnTo>
                <a:lnTo>
                  <a:pt x="516334" y="33088"/>
                </a:lnTo>
                <a:lnTo>
                  <a:pt x="480515" y="8887"/>
                </a:lnTo>
                <a:lnTo>
                  <a:pt x="436778" y="0"/>
                </a:lnTo>
                <a:close/>
              </a:path>
            </a:pathLst>
          </a:custGeom>
          <a:solidFill>
            <a:srgbClr val="F2E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2147" y="5229562"/>
            <a:ext cx="237845" cy="236791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4517985" y="5082472"/>
            <a:ext cx="549910" cy="531495"/>
          </a:xfrm>
          <a:custGeom>
            <a:avLst/>
            <a:gdLst/>
            <a:ahLst/>
            <a:cxnLst/>
            <a:rect l="l" t="t" r="r" b="b"/>
            <a:pathLst>
              <a:path w="549910" h="531495">
                <a:moveTo>
                  <a:pt x="436778" y="0"/>
                </a:moveTo>
                <a:lnTo>
                  <a:pt x="112648" y="0"/>
                </a:lnTo>
                <a:lnTo>
                  <a:pt x="68912" y="8889"/>
                </a:lnTo>
                <a:lnTo>
                  <a:pt x="33093" y="33093"/>
                </a:lnTo>
                <a:lnTo>
                  <a:pt x="8889" y="68912"/>
                </a:lnTo>
                <a:lnTo>
                  <a:pt x="0" y="112648"/>
                </a:lnTo>
                <a:lnTo>
                  <a:pt x="0" y="418452"/>
                </a:lnTo>
                <a:lnTo>
                  <a:pt x="8889" y="462189"/>
                </a:lnTo>
                <a:lnTo>
                  <a:pt x="33093" y="498008"/>
                </a:lnTo>
                <a:lnTo>
                  <a:pt x="68912" y="522211"/>
                </a:lnTo>
                <a:lnTo>
                  <a:pt x="112648" y="531101"/>
                </a:lnTo>
                <a:lnTo>
                  <a:pt x="436778" y="531101"/>
                </a:lnTo>
                <a:lnTo>
                  <a:pt x="480515" y="522211"/>
                </a:lnTo>
                <a:lnTo>
                  <a:pt x="516334" y="498008"/>
                </a:lnTo>
                <a:lnTo>
                  <a:pt x="540537" y="462189"/>
                </a:lnTo>
                <a:lnTo>
                  <a:pt x="549427" y="418452"/>
                </a:lnTo>
                <a:lnTo>
                  <a:pt x="549427" y="112648"/>
                </a:lnTo>
                <a:lnTo>
                  <a:pt x="540537" y="68912"/>
                </a:lnTo>
                <a:lnTo>
                  <a:pt x="516334" y="33093"/>
                </a:lnTo>
                <a:lnTo>
                  <a:pt x="480515" y="8889"/>
                </a:lnTo>
                <a:lnTo>
                  <a:pt x="436778" y="0"/>
                </a:lnTo>
                <a:close/>
              </a:path>
            </a:pathLst>
          </a:custGeom>
          <a:solidFill>
            <a:srgbClr val="FCE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63541" y="5393527"/>
            <a:ext cx="107759" cy="82550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4706581" y="5240388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4" h="215264">
                <a:moveTo>
                  <a:pt x="107645" y="46736"/>
                </a:moveTo>
                <a:lnTo>
                  <a:pt x="106260" y="39763"/>
                </a:lnTo>
                <a:lnTo>
                  <a:pt x="100838" y="26682"/>
                </a:lnTo>
                <a:lnTo>
                  <a:pt x="97396" y="21539"/>
                </a:lnTo>
                <a:lnTo>
                  <a:pt x="96888" y="20777"/>
                </a:lnTo>
                <a:lnTo>
                  <a:pt x="86868" y="10756"/>
                </a:lnTo>
                <a:lnTo>
                  <a:pt x="86106" y="10248"/>
                </a:lnTo>
                <a:lnTo>
                  <a:pt x="86106" y="49479"/>
                </a:lnTo>
                <a:lnTo>
                  <a:pt x="86106" y="58153"/>
                </a:lnTo>
                <a:lnTo>
                  <a:pt x="58153" y="86106"/>
                </a:lnTo>
                <a:lnTo>
                  <a:pt x="49491" y="86106"/>
                </a:lnTo>
                <a:lnTo>
                  <a:pt x="21539" y="58153"/>
                </a:lnTo>
                <a:lnTo>
                  <a:pt x="21539" y="49479"/>
                </a:lnTo>
                <a:lnTo>
                  <a:pt x="49479" y="21539"/>
                </a:lnTo>
                <a:lnTo>
                  <a:pt x="58153" y="21539"/>
                </a:lnTo>
                <a:lnTo>
                  <a:pt x="86106" y="49479"/>
                </a:lnTo>
                <a:lnTo>
                  <a:pt x="86106" y="10248"/>
                </a:lnTo>
                <a:lnTo>
                  <a:pt x="80962" y="6807"/>
                </a:lnTo>
                <a:lnTo>
                  <a:pt x="67881" y="1384"/>
                </a:lnTo>
                <a:lnTo>
                  <a:pt x="60909" y="0"/>
                </a:lnTo>
                <a:lnTo>
                  <a:pt x="46736" y="0"/>
                </a:lnTo>
                <a:lnTo>
                  <a:pt x="10756" y="20777"/>
                </a:lnTo>
                <a:lnTo>
                  <a:pt x="0" y="46736"/>
                </a:lnTo>
                <a:lnTo>
                  <a:pt x="0" y="60909"/>
                </a:lnTo>
                <a:lnTo>
                  <a:pt x="20777" y="96888"/>
                </a:lnTo>
                <a:lnTo>
                  <a:pt x="46736" y="107645"/>
                </a:lnTo>
                <a:lnTo>
                  <a:pt x="60909" y="107645"/>
                </a:lnTo>
                <a:lnTo>
                  <a:pt x="96888" y="86868"/>
                </a:lnTo>
                <a:lnTo>
                  <a:pt x="97396" y="86106"/>
                </a:lnTo>
                <a:lnTo>
                  <a:pt x="100838" y="80962"/>
                </a:lnTo>
                <a:lnTo>
                  <a:pt x="106260" y="67881"/>
                </a:lnTo>
                <a:lnTo>
                  <a:pt x="107645" y="60909"/>
                </a:lnTo>
                <a:lnTo>
                  <a:pt x="107645" y="46736"/>
                </a:lnTo>
                <a:close/>
              </a:path>
              <a:path w="215264" h="215264">
                <a:moveTo>
                  <a:pt x="172300" y="47942"/>
                </a:moveTo>
                <a:lnTo>
                  <a:pt x="152971" y="12153"/>
                </a:lnTo>
                <a:lnTo>
                  <a:pt x="126072" y="279"/>
                </a:lnTo>
                <a:lnTo>
                  <a:pt x="120205" y="3746"/>
                </a:lnTo>
                <a:lnTo>
                  <a:pt x="117259" y="15265"/>
                </a:lnTo>
                <a:lnTo>
                  <a:pt x="120726" y="21132"/>
                </a:lnTo>
                <a:lnTo>
                  <a:pt x="126492" y="22606"/>
                </a:lnTo>
                <a:lnTo>
                  <a:pt x="129997" y="23507"/>
                </a:lnTo>
                <a:lnTo>
                  <a:pt x="150761" y="50266"/>
                </a:lnTo>
                <a:lnTo>
                  <a:pt x="150761" y="57505"/>
                </a:lnTo>
                <a:lnTo>
                  <a:pt x="120726" y="86639"/>
                </a:lnTo>
                <a:lnTo>
                  <a:pt x="117259" y="92506"/>
                </a:lnTo>
                <a:lnTo>
                  <a:pt x="120205" y="104025"/>
                </a:lnTo>
                <a:lnTo>
                  <a:pt x="126072" y="107492"/>
                </a:lnTo>
                <a:lnTo>
                  <a:pt x="137591" y="104546"/>
                </a:lnTo>
                <a:lnTo>
                  <a:pt x="167474" y="76949"/>
                </a:lnTo>
                <a:lnTo>
                  <a:pt x="172300" y="59829"/>
                </a:lnTo>
                <a:lnTo>
                  <a:pt x="172300" y="47942"/>
                </a:lnTo>
                <a:close/>
              </a:path>
              <a:path w="215264" h="215264">
                <a:moveTo>
                  <a:pt x="215265" y="177038"/>
                </a:moveTo>
                <a:lnTo>
                  <a:pt x="195986" y="141312"/>
                </a:lnTo>
                <a:lnTo>
                  <a:pt x="169151" y="129425"/>
                </a:lnTo>
                <a:lnTo>
                  <a:pt x="163283" y="132880"/>
                </a:lnTo>
                <a:lnTo>
                  <a:pt x="160312" y="144399"/>
                </a:lnTo>
                <a:lnTo>
                  <a:pt x="163766" y="150266"/>
                </a:lnTo>
                <a:lnTo>
                  <a:pt x="173012" y="152654"/>
                </a:lnTo>
                <a:lnTo>
                  <a:pt x="176187" y="154063"/>
                </a:lnTo>
                <a:lnTo>
                  <a:pt x="193738" y="179374"/>
                </a:lnTo>
                <a:lnTo>
                  <a:pt x="193738" y="210451"/>
                </a:lnTo>
                <a:lnTo>
                  <a:pt x="198564" y="215265"/>
                </a:lnTo>
                <a:lnTo>
                  <a:pt x="210451" y="215265"/>
                </a:lnTo>
                <a:lnTo>
                  <a:pt x="215265" y="210451"/>
                </a:lnTo>
                <a:lnTo>
                  <a:pt x="215265" y="204508"/>
                </a:lnTo>
                <a:lnTo>
                  <a:pt x="215265" y="177038"/>
                </a:lnTo>
                <a:close/>
              </a:path>
            </a:pathLst>
          </a:custGeom>
          <a:solidFill>
            <a:srgbClr val="E85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50017" y="2276176"/>
            <a:ext cx="549910" cy="531495"/>
          </a:xfrm>
          <a:custGeom>
            <a:avLst/>
            <a:gdLst/>
            <a:ahLst/>
            <a:cxnLst/>
            <a:rect l="l" t="t" r="r" b="b"/>
            <a:pathLst>
              <a:path w="549910" h="531494">
                <a:moveTo>
                  <a:pt x="436778" y="0"/>
                </a:moveTo>
                <a:lnTo>
                  <a:pt x="112648" y="0"/>
                </a:lnTo>
                <a:lnTo>
                  <a:pt x="68912" y="8889"/>
                </a:lnTo>
                <a:lnTo>
                  <a:pt x="33093" y="33093"/>
                </a:lnTo>
                <a:lnTo>
                  <a:pt x="8889" y="68912"/>
                </a:lnTo>
                <a:lnTo>
                  <a:pt x="0" y="112648"/>
                </a:lnTo>
                <a:lnTo>
                  <a:pt x="0" y="418452"/>
                </a:lnTo>
                <a:lnTo>
                  <a:pt x="8889" y="462194"/>
                </a:lnTo>
                <a:lnTo>
                  <a:pt x="33093" y="498013"/>
                </a:lnTo>
                <a:lnTo>
                  <a:pt x="68912" y="522213"/>
                </a:lnTo>
                <a:lnTo>
                  <a:pt x="112648" y="531101"/>
                </a:lnTo>
                <a:lnTo>
                  <a:pt x="436778" y="531101"/>
                </a:lnTo>
                <a:lnTo>
                  <a:pt x="480520" y="522213"/>
                </a:lnTo>
                <a:lnTo>
                  <a:pt x="516339" y="498013"/>
                </a:lnTo>
                <a:lnTo>
                  <a:pt x="540539" y="462194"/>
                </a:lnTo>
                <a:lnTo>
                  <a:pt x="549427" y="418452"/>
                </a:lnTo>
                <a:lnTo>
                  <a:pt x="549427" y="112648"/>
                </a:lnTo>
                <a:lnTo>
                  <a:pt x="540539" y="68912"/>
                </a:lnTo>
                <a:lnTo>
                  <a:pt x="516339" y="33093"/>
                </a:lnTo>
                <a:lnTo>
                  <a:pt x="480520" y="8889"/>
                </a:lnTo>
                <a:lnTo>
                  <a:pt x="436778" y="0"/>
                </a:lnTo>
                <a:close/>
              </a:path>
            </a:pathLst>
          </a:custGeom>
          <a:solidFill>
            <a:srgbClr val="E5E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27870" y="2423106"/>
            <a:ext cx="193725" cy="23738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84500" y="2939500"/>
            <a:ext cx="1733550" cy="11461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73685" marR="266700" algn="ctr">
              <a:lnSpc>
                <a:spcPts val="1500"/>
              </a:lnSpc>
              <a:spcBef>
                <a:spcPts val="400"/>
              </a:spcBef>
            </a:pPr>
            <a:r>
              <a:rPr sz="1500" b="1" dirty="0">
                <a:solidFill>
                  <a:srgbClr val="292829"/>
                </a:solidFill>
                <a:latin typeface="Arial"/>
                <a:cs typeface="Arial"/>
              </a:rPr>
              <a:t>Nálunk</a:t>
            </a:r>
            <a:r>
              <a:rPr sz="1500" b="1" spc="-25" dirty="0">
                <a:solidFill>
                  <a:srgbClr val="29282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nincs apróbetű</a:t>
            </a:r>
            <a:endParaRPr sz="1500">
              <a:latin typeface="Arial"/>
              <a:cs typeface="Arial"/>
            </a:endParaRPr>
          </a:p>
          <a:p>
            <a:pPr marL="12700" marR="5080" algn="ctr">
              <a:lnSpc>
                <a:spcPts val="1200"/>
              </a:lnSpc>
              <a:spcBef>
                <a:spcPts val="74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Átlátható ajánlatot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adunk,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rejtett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költségek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nélkül.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Amit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leírunk,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azt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be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is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tartjuk.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42801" y="2939500"/>
            <a:ext cx="1811655" cy="14509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0" marR="119380" algn="ctr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Tisztességes, </a:t>
            </a:r>
            <a:r>
              <a:rPr sz="1500" b="1" dirty="0">
                <a:solidFill>
                  <a:srgbClr val="292829"/>
                </a:solidFill>
                <a:latin typeface="Arial"/>
                <a:cs typeface="Arial"/>
              </a:rPr>
              <a:t>stabil </a:t>
            </a: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vállalkozás</a:t>
            </a:r>
            <a:endParaRPr sz="1500">
              <a:latin typeface="Arial"/>
              <a:cs typeface="Arial"/>
            </a:endParaRPr>
          </a:p>
          <a:p>
            <a:pPr marL="12700" marR="5080" indent="-635" algn="ctr">
              <a:lnSpc>
                <a:spcPts val="1200"/>
              </a:lnSpc>
              <a:spcBef>
                <a:spcPts val="740"/>
              </a:spcBef>
            </a:pP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Csapatunk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több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mint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8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éve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dolgozik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villamosiparban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és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napelemes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rendsze-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rek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területén.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Nem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tegnap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kezdtük,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és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hosszú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távra tervezünk.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49378" y="2939500"/>
            <a:ext cx="1804035" cy="15678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80645" marR="74295" algn="ctr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Valódi ügyfélvélemények</a:t>
            </a:r>
            <a:endParaRPr sz="1500">
              <a:latin typeface="Arial"/>
              <a:cs typeface="Arial"/>
            </a:endParaRPr>
          </a:p>
          <a:p>
            <a:pPr marL="12065" marR="5080" indent="-1270" algn="ctr">
              <a:lnSpc>
                <a:spcPts val="1160"/>
              </a:lnSpc>
              <a:spcBef>
                <a:spcPts val="73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Google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értékeléseink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valós,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ellenőrizhető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tapasztalatokon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alapulnak,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melyek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visszatükrözik munkánk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minőségét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és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ügyfélközpontú hozzáállásunkat.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28896" y="5807021"/>
            <a:ext cx="1675130" cy="14509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4445" algn="ctr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Prémium </a:t>
            </a:r>
            <a:r>
              <a:rPr sz="1500" b="1" spc="-40" dirty="0">
                <a:solidFill>
                  <a:srgbClr val="292829"/>
                </a:solidFill>
                <a:latin typeface="Arial"/>
                <a:cs typeface="Arial"/>
              </a:rPr>
              <a:t>minőségű</a:t>
            </a:r>
            <a:r>
              <a:rPr sz="1500" b="1" spc="-45" dirty="0">
                <a:solidFill>
                  <a:srgbClr val="292829"/>
                </a:solidFill>
                <a:latin typeface="Arial"/>
                <a:cs typeface="Arial"/>
              </a:rPr>
              <a:t> anyagok</a:t>
            </a:r>
            <a:endParaRPr sz="1500">
              <a:latin typeface="Arial"/>
              <a:cs typeface="Arial"/>
            </a:endParaRPr>
          </a:p>
          <a:p>
            <a:pPr marL="24130" marR="11430" algn="ctr">
              <a:lnSpc>
                <a:spcPts val="1200"/>
              </a:lnSpc>
              <a:spcBef>
                <a:spcPts val="74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Csak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bevált,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megbízható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gyártók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termékeivel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dol-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gozunk,</a:t>
            </a:r>
            <a:r>
              <a:rPr sz="1100" b="1" spc="-4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hogy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rendszere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hosszú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távon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is</a:t>
            </a:r>
            <a:r>
              <a:rPr sz="11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bizton-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ságosan</a:t>
            </a:r>
            <a:r>
              <a:rPr sz="1100" b="1" spc="-3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és</a:t>
            </a:r>
            <a:r>
              <a:rPr sz="11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hatékonyan működjön.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71395" y="5807021"/>
            <a:ext cx="1819275" cy="12985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16230" marR="308610" algn="ctr">
              <a:lnSpc>
                <a:spcPts val="1500"/>
              </a:lnSpc>
              <a:spcBef>
                <a:spcPts val="400"/>
              </a:spcBef>
            </a:pPr>
            <a:r>
              <a:rPr sz="1500" b="1" dirty="0">
                <a:solidFill>
                  <a:srgbClr val="292829"/>
                </a:solidFill>
                <a:latin typeface="Arial"/>
                <a:cs typeface="Arial"/>
              </a:rPr>
              <a:t>Saját</a:t>
            </a:r>
            <a:r>
              <a:rPr sz="1500" b="1" spc="-40" dirty="0">
                <a:solidFill>
                  <a:srgbClr val="29282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92829"/>
                </a:solidFill>
                <a:latin typeface="Arial"/>
                <a:cs typeface="Arial"/>
              </a:rPr>
              <a:t>telepítő csapat</a:t>
            </a:r>
            <a:endParaRPr sz="1500" dirty="0">
              <a:latin typeface="Arial"/>
              <a:cs typeface="Arial"/>
            </a:endParaRPr>
          </a:p>
          <a:p>
            <a:pPr marL="12700" marR="5080" algn="ctr">
              <a:lnSpc>
                <a:spcPts val="1200"/>
              </a:lnSpc>
              <a:spcBef>
                <a:spcPts val="740"/>
              </a:spcBef>
            </a:pP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1100" b="1" spc="-6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kivitelezést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nem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alvállal-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kozók,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hanem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saját,</a:t>
            </a:r>
            <a:r>
              <a:rPr sz="1100" b="1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össze-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szokott</a:t>
            </a:r>
            <a:r>
              <a:rPr sz="1100" b="1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csapatunk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végzi.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Ez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garancia</a:t>
            </a:r>
            <a:r>
              <a:rPr sz="1100" b="1" spc="-2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minőségre</a:t>
            </a:r>
            <a:r>
              <a:rPr sz="1100" b="1" spc="50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és</a:t>
            </a:r>
            <a:r>
              <a:rPr sz="1100" b="1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9598"/>
                </a:solidFill>
                <a:latin typeface="Arial"/>
                <a:cs typeface="Arial"/>
              </a:rPr>
              <a:t>a</a:t>
            </a:r>
            <a:r>
              <a:rPr sz="1100" b="1" spc="-10" dirty="0">
                <a:solidFill>
                  <a:srgbClr val="939598"/>
                </a:solidFill>
                <a:latin typeface="Arial"/>
                <a:cs typeface="Arial"/>
              </a:rPr>
              <a:t> felelősségvállalásra.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99" y="369609"/>
            <a:ext cx="148526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Spark</a:t>
            </a:r>
            <a:r>
              <a:rPr sz="9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Electric</a:t>
            </a:r>
            <a:r>
              <a:rPr sz="9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939598"/>
                </a:solidFill>
                <a:latin typeface="Arial"/>
                <a:cs typeface="Arial"/>
              </a:rPr>
              <a:t>Kft.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1147</a:t>
            </a:r>
            <a:r>
              <a:rPr sz="900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Budapest,</a:t>
            </a:r>
            <a:endParaRPr sz="9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Telepes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utca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72-74.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psz.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939598"/>
                </a:solidFill>
                <a:latin typeface="Arial"/>
                <a:cs typeface="Arial"/>
              </a:rPr>
              <a:t>37.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+36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20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409</a:t>
            </a:r>
            <a:r>
              <a:rPr sz="900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39598"/>
                </a:solidFill>
                <a:latin typeface="Arial"/>
                <a:cs typeface="Arial"/>
              </a:rPr>
              <a:t>0060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8789" y="348762"/>
            <a:ext cx="197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39598"/>
                </a:solidFill>
                <a:latin typeface="Arial"/>
                <a:cs typeface="Arial"/>
                <a:hlinkClick r:id="rId2"/>
              </a:rPr>
              <a:t>www.akkumulator-tamogatas.hu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328" y="1405313"/>
            <a:ext cx="55905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40" dirty="0">
                <a:solidFill>
                  <a:srgbClr val="39BEB7"/>
                </a:solidFill>
                <a:latin typeface="Arial"/>
                <a:cs typeface="Arial"/>
              </a:rPr>
              <a:t>Komplett</a:t>
            </a:r>
            <a:r>
              <a:rPr sz="2200" b="1" spc="-85" dirty="0">
                <a:solidFill>
                  <a:srgbClr val="39BEB7"/>
                </a:solidFill>
                <a:latin typeface="Arial"/>
                <a:cs typeface="Arial"/>
              </a:rPr>
              <a:t> </a:t>
            </a:r>
            <a:r>
              <a:rPr sz="2200" b="1" spc="-45" dirty="0">
                <a:solidFill>
                  <a:srgbClr val="39BEB7"/>
                </a:solidFill>
                <a:latin typeface="Arial"/>
                <a:cs typeface="Arial"/>
              </a:rPr>
              <a:t>akkumulátoros</a:t>
            </a:r>
            <a:r>
              <a:rPr sz="2200" b="1" spc="-80" dirty="0">
                <a:solidFill>
                  <a:srgbClr val="39BEB7"/>
                </a:solidFill>
                <a:latin typeface="Arial"/>
                <a:cs typeface="Arial"/>
              </a:rPr>
              <a:t> </a:t>
            </a:r>
            <a:r>
              <a:rPr sz="2200" b="1" spc="-40" dirty="0">
                <a:solidFill>
                  <a:srgbClr val="39BEB7"/>
                </a:solidFill>
                <a:latin typeface="Arial"/>
                <a:cs typeface="Arial"/>
              </a:rPr>
              <a:t>napelem</a:t>
            </a:r>
            <a:r>
              <a:rPr sz="2200" b="1" spc="-80" dirty="0">
                <a:solidFill>
                  <a:srgbClr val="39BEB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9BEB7"/>
                </a:solidFill>
                <a:latin typeface="Arial"/>
                <a:cs typeface="Arial"/>
              </a:rPr>
              <a:t>rendszer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0652" y="1903802"/>
            <a:ext cx="3649345" cy="4389755"/>
            <a:chOff x="1966785" y="2069908"/>
            <a:chExt cx="3649345" cy="4389755"/>
          </a:xfrm>
        </p:grpSpPr>
        <p:sp>
          <p:nvSpPr>
            <p:cNvPr id="6" name="object 6"/>
            <p:cNvSpPr/>
            <p:nvPr/>
          </p:nvSpPr>
          <p:spPr>
            <a:xfrm>
              <a:off x="2190197" y="5252389"/>
              <a:ext cx="133350" cy="90170"/>
            </a:xfrm>
            <a:custGeom>
              <a:avLst/>
              <a:gdLst/>
              <a:ahLst/>
              <a:cxnLst/>
              <a:rect l="l" t="t" r="r" b="b"/>
              <a:pathLst>
                <a:path w="133350" h="90170">
                  <a:moveTo>
                    <a:pt x="0" y="54343"/>
                  </a:moveTo>
                  <a:lnTo>
                    <a:pt x="31953" y="89661"/>
                  </a:lnTo>
                  <a:lnTo>
                    <a:pt x="133159" y="0"/>
                  </a:lnTo>
                </a:path>
              </a:pathLst>
            </a:custGeom>
            <a:ln w="8890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70278" y="2073400"/>
              <a:ext cx="3642360" cy="4382770"/>
            </a:xfrm>
            <a:custGeom>
              <a:avLst/>
              <a:gdLst/>
              <a:ahLst/>
              <a:cxnLst/>
              <a:rect l="l" t="t" r="r" b="b"/>
              <a:pathLst>
                <a:path w="3642360" h="4382770">
                  <a:moveTo>
                    <a:pt x="3449726" y="0"/>
                  </a:moveTo>
                  <a:lnTo>
                    <a:pt x="192595" y="0"/>
                  </a:lnTo>
                  <a:lnTo>
                    <a:pt x="148432" y="5086"/>
                  </a:lnTo>
                  <a:lnTo>
                    <a:pt x="107893" y="19576"/>
                  </a:lnTo>
                  <a:lnTo>
                    <a:pt x="72133" y="42312"/>
                  </a:lnTo>
                  <a:lnTo>
                    <a:pt x="42308" y="72138"/>
                  </a:lnTo>
                  <a:lnTo>
                    <a:pt x="19574" y="107899"/>
                  </a:lnTo>
                  <a:lnTo>
                    <a:pt x="5086" y="148436"/>
                  </a:lnTo>
                  <a:lnTo>
                    <a:pt x="0" y="192595"/>
                  </a:lnTo>
                  <a:lnTo>
                    <a:pt x="0" y="4189742"/>
                  </a:lnTo>
                  <a:lnTo>
                    <a:pt x="5086" y="4233906"/>
                  </a:lnTo>
                  <a:lnTo>
                    <a:pt x="19574" y="4274447"/>
                  </a:lnTo>
                  <a:lnTo>
                    <a:pt x="42308" y="4310209"/>
                  </a:lnTo>
                  <a:lnTo>
                    <a:pt x="72133" y="4340037"/>
                  </a:lnTo>
                  <a:lnTo>
                    <a:pt x="107893" y="4362774"/>
                  </a:lnTo>
                  <a:lnTo>
                    <a:pt x="148432" y="4377264"/>
                  </a:lnTo>
                  <a:lnTo>
                    <a:pt x="192595" y="4382350"/>
                  </a:lnTo>
                  <a:lnTo>
                    <a:pt x="3449726" y="4382350"/>
                  </a:lnTo>
                  <a:lnTo>
                    <a:pt x="3493885" y="4377264"/>
                  </a:lnTo>
                  <a:lnTo>
                    <a:pt x="3534422" y="4362774"/>
                  </a:lnTo>
                  <a:lnTo>
                    <a:pt x="3570182" y="4340037"/>
                  </a:lnTo>
                  <a:lnTo>
                    <a:pt x="3600009" y="4310209"/>
                  </a:lnTo>
                  <a:lnTo>
                    <a:pt x="3622745" y="4274447"/>
                  </a:lnTo>
                  <a:lnTo>
                    <a:pt x="3637235" y="4233906"/>
                  </a:lnTo>
                  <a:lnTo>
                    <a:pt x="3642321" y="4189742"/>
                  </a:lnTo>
                  <a:lnTo>
                    <a:pt x="3642321" y="192595"/>
                  </a:lnTo>
                  <a:lnTo>
                    <a:pt x="3637235" y="148436"/>
                  </a:lnTo>
                  <a:lnTo>
                    <a:pt x="3622745" y="107899"/>
                  </a:lnTo>
                  <a:lnTo>
                    <a:pt x="3600009" y="72138"/>
                  </a:lnTo>
                  <a:lnTo>
                    <a:pt x="3570182" y="42312"/>
                  </a:lnTo>
                  <a:lnTo>
                    <a:pt x="3534422" y="19576"/>
                  </a:lnTo>
                  <a:lnTo>
                    <a:pt x="3493885" y="5086"/>
                  </a:lnTo>
                  <a:lnTo>
                    <a:pt x="3449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0265" y="2073402"/>
              <a:ext cx="3642334" cy="25017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70278" y="2073400"/>
              <a:ext cx="3642360" cy="4382770"/>
            </a:xfrm>
            <a:custGeom>
              <a:avLst/>
              <a:gdLst/>
              <a:ahLst/>
              <a:cxnLst/>
              <a:rect l="l" t="t" r="r" b="b"/>
              <a:pathLst>
                <a:path w="3642360" h="4382770">
                  <a:moveTo>
                    <a:pt x="192595" y="0"/>
                  </a:moveTo>
                  <a:lnTo>
                    <a:pt x="148432" y="5086"/>
                  </a:lnTo>
                  <a:lnTo>
                    <a:pt x="107893" y="19576"/>
                  </a:lnTo>
                  <a:lnTo>
                    <a:pt x="72133" y="42312"/>
                  </a:lnTo>
                  <a:lnTo>
                    <a:pt x="42308" y="72138"/>
                  </a:lnTo>
                  <a:lnTo>
                    <a:pt x="19574" y="107899"/>
                  </a:lnTo>
                  <a:lnTo>
                    <a:pt x="5086" y="148436"/>
                  </a:lnTo>
                  <a:lnTo>
                    <a:pt x="0" y="192595"/>
                  </a:lnTo>
                  <a:lnTo>
                    <a:pt x="0" y="4189742"/>
                  </a:lnTo>
                  <a:lnTo>
                    <a:pt x="5086" y="4233906"/>
                  </a:lnTo>
                  <a:lnTo>
                    <a:pt x="19574" y="4274447"/>
                  </a:lnTo>
                  <a:lnTo>
                    <a:pt x="42308" y="4310209"/>
                  </a:lnTo>
                  <a:lnTo>
                    <a:pt x="72133" y="4340037"/>
                  </a:lnTo>
                  <a:lnTo>
                    <a:pt x="107893" y="4362774"/>
                  </a:lnTo>
                  <a:lnTo>
                    <a:pt x="148432" y="4377264"/>
                  </a:lnTo>
                  <a:lnTo>
                    <a:pt x="192595" y="4382350"/>
                  </a:lnTo>
                  <a:lnTo>
                    <a:pt x="3449726" y="4382350"/>
                  </a:lnTo>
                  <a:lnTo>
                    <a:pt x="3493885" y="4377264"/>
                  </a:lnTo>
                  <a:lnTo>
                    <a:pt x="3534422" y="4362774"/>
                  </a:lnTo>
                  <a:lnTo>
                    <a:pt x="3570182" y="4340037"/>
                  </a:lnTo>
                  <a:lnTo>
                    <a:pt x="3600009" y="4310209"/>
                  </a:lnTo>
                  <a:lnTo>
                    <a:pt x="3622745" y="4274447"/>
                  </a:lnTo>
                  <a:lnTo>
                    <a:pt x="3637235" y="4233906"/>
                  </a:lnTo>
                  <a:lnTo>
                    <a:pt x="3642321" y="4189742"/>
                  </a:lnTo>
                  <a:lnTo>
                    <a:pt x="3642321" y="192595"/>
                  </a:lnTo>
                  <a:lnTo>
                    <a:pt x="3637235" y="148436"/>
                  </a:lnTo>
                  <a:lnTo>
                    <a:pt x="3622745" y="107899"/>
                  </a:lnTo>
                  <a:lnTo>
                    <a:pt x="3600009" y="72138"/>
                  </a:lnTo>
                  <a:lnTo>
                    <a:pt x="3570182" y="42312"/>
                  </a:lnTo>
                  <a:lnTo>
                    <a:pt x="3534422" y="19576"/>
                  </a:lnTo>
                  <a:lnTo>
                    <a:pt x="3493885" y="5086"/>
                  </a:lnTo>
                  <a:lnTo>
                    <a:pt x="3449726" y="0"/>
                  </a:lnTo>
                  <a:lnTo>
                    <a:pt x="192595" y="0"/>
                  </a:lnTo>
                  <a:close/>
                </a:path>
              </a:pathLst>
            </a:custGeom>
            <a:ln w="6794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1904" y="5217723"/>
            <a:ext cx="2658745" cy="9528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000" b="1" dirty="0">
                <a:latin typeface="Arial"/>
                <a:cs typeface="Arial"/>
              </a:rPr>
              <a:t>6kwp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ASTRONERGY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455W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N-type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napelem</a:t>
            </a:r>
            <a:endParaRPr sz="1000" dirty="0">
              <a:latin typeface="Arial"/>
              <a:cs typeface="Arial"/>
            </a:endParaRPr>
          </a:p>
          <a:p>
            <a:pPr marL="12700" marR="632460">
              <a:lnSpc>
                <a:spcPts val="1070"/>
              </a:lnSpc>
              <a:spcBef>
                <a:spcPts val="655"/>
              </a:spcBef>
            </a:pPr>
            <a:r>
              <a:rPr sz="950" b="1" dirty="0">
                <a:latin typeface="Arial"/>
                <a:cs typeface="Arial"/>
              </a:rPr>
              <a:t>DEYE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5KW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SG04LP3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spc="-10" dirty="0">
                <a:latin typeface="Arial"/>
                <a:cs typeface="Arial"/>
              </a:rPr>
              <a:t>asszimetrikus, </a:t>
            </a:r>
            <a:r>
              <a:rPr sz="950" b="1" dirty="0">
                <a:latin typeface="Arial"/>
                <a:cs typeface="Arial"/>
              </a:rPr>
              <a:t>full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backup,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3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fázisú</a:t>
            </a:r>
            <a:r>
              <a:rPr sz="950" b="1" spc="10" dirty="0">
                <a:latin typeface="Arial"/>
                <a:cs typeface="Arial"/>
              </a:rPr>
              <a:t> </a:t>
            </a:r>
            <a:r>
              <a:rPr sz="950" b="1" spc="-10" dirty="0">
                <a:latin typeface="Arial"/>
                <a:cs typeface="Arial"/>
              </a:rPr>
              <a:t>inverter</a:t>
            </a:r>
            <a:endParaRPr sz="95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lang="hu-HU" sz="950" b="1" dirty="0">
                <a:latin typeface="Arial"/>
                <a:cs typeface="Arial"/>
              </a:rPr>
              <a:t>DEYE 12KWh LV akkumulátor</a:t>
            </a:r>
            <a:endParaRPr sz="950" b="1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8717" y="4260873"/>
            <a:ext cx="3633470" cy="1483427"/>
            <a:chOff x="1974850" y="4426979"/>
            <a:chExt cx="3633470" cy="1483427"/>
          </a:xfrm>
        </p:grpSpPr>
        <p:sp>
          <p:nvSpPr>
            <p:cNvPr id="12" name="object 12"/>
            <p:cNvSpPr/>
            <p:nvPr/>
          </p:nvSpPr>
          <p:spPr>
            <a:xfrm>
              <a:off x="2199613" y="5506053"/>
              <a:ext cx="147955" cy="100330"/>
            </a:xfrm>
            <a:custGeom>
              <a:avLst/>
              <a:gdLst/>
              <a:ahLst/>
              <a:cxnLst/>
              <a:rect l="l" t="t" r="r" b="b"/>
              <a:pathLst>
                <a:path w="147955" h="100329">
                  <a:moveTo>
                    <a:pt x="0" y="60426"/>
                  </a:moveTo>
                  <a:lnTo>
                    <a:pt x="35458" y="99707"/>
                  </a:lnTo>
                  <a:lnTo>
                    <a:pt x="147739" y="0"/>
                  </a:lnTo>
                </a:path>
              </a:pathLst>
            </a:custGeom>
            <a:ln w="9512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99613" y="5810076"/>
              <a:ext cx="147955" cy="100330"/>
            </a:xfrm>
            <a:custGeom>
              <a:avLst/>
              <a:gdLst/>
              <a:ahLst/>
              <a:cxnLst/>
              <a:rect l="l" t="t" r="r" b="b"/>
              <a:pathLst>
                <a:path w="147955" h="100329">
                  <a:moveTo>
                    <a:pt x="0" y="60426"/>
                  </a:moveTo>
                  <a:lnTo>
                    <a:pt x="35458" y="99707"/>
                  </a:lnTo>
                  <a:lnTo>
                    <a:pt x="147739" y="0"/>
                  </a:lnTo>
                </a:path>
              </a:pathLst>
            </a:custGeom>
            <a:ln w="9512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74850" y="4426979"/>
              <a:ext cx="3633470" cy="256540"/>
            </a:xfrm>
            <a:custGeom>
              <a:avLst/>
              <a:gdLst/>
              <a:ahLst/>
              <a:cxnLst/>
              <a:rect l="l" t="t" r="r" b="b"/>
              <a:pathLst>
                <a:path w="3633470" h="256539">
                  <a:moveTo>
                    <a:pt x="3633165" y="0"/>
                  </a:moveTo>
                  <a:lnTo>
                    <a:pt x="0" y="0"/>
                  </a:lnTo>
                  <a:lnTo>
                    <a:pt x="0" y="256184"/>
                  </a:lnTo>
                  <a:lnTo>
                    <a:pt x="3633165" y="256184"/>
                  </a:lnTo>
                  <a:lnTo>
                    <a:pt x="3633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7894" y="4352127"/>
            <a:ext cx="1789430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Támogatással</a:t>
            </a:r>
            <a:r>
              <a:rPr sz="1050" b="1" spc="-35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-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2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500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000</a:t>
            </a:r>
            <a:r>
              <a:rPr sz="1050" b="1" spc="-35" dirty="0">
                <a:solidFill>
                  <a:srgbClr val="6D6E71"/>
                </a:solidFill>
                <a:latin typeface="Arial"/>
                <a:cs typeface="Arial"/>
              </a:rPr>
              <a:t> Ft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564" y="4591225"/>
            <a:ext cx="1843290" cy="57029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7567" y="4601728"/>
            <a:ext cx="1412240" cy="498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235"/>
              </a:lnSpc>
              <a:spcBef>
                <a:spcPts val="125"/>
              </a:spcBef>
            </a:pPr>
            <a:r>
              <a:rPr lang="hu-HU" sz="1900" b="1" spc="-35" dirty="0">
                <a:solidFill>
                  <a:srgbClr val="FFFFFF"/>
                </a:solidFill>
                <a:latin typeface="Arial"/>
                <a:cs typeface="Arial"/>
              </a:rPr>
              <a:t>990.000</a:t>
            </a:r>
            <a:r>
              <a:rPr sz="19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Arial"/>
                <a:cs typeface="Arial"/>
              </a:rPr>
              <a:t>Ft</a:t>
            </a:r>
            <a:endParaRPr sz="1900" dirty="0">
              <a:latin typeface="Arial"/>
              <a:cs typeface="Arial"/>
            </a:endParaRPr>
          </a:p>
          <a:p>
            <a:pPr marL="12700">
              <a:lnSpc>
                <a:spcPts val="1455"/>
              </a:lnSpc>
            </a:pPr>
            <a:r>
              <a:rPr sz="1250" b="1" spc="-10" dirty="0">
                <a:solidFill>
                  <a:srgbClr val="FFFFFF"/>
                </a:solidFill>
                <a:latin typeface="Arial"/>
                <a:cs typeface="Arial"/>
              </a:rPr>
              <a:t>önrésszel</a:t>
            </a:r>
            <a:endParaRPr sz="125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983996"/>
            <a:ext cx="7559992" cy="370800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34064" y="6052084"/>
            <a:ext cx="147955" cy="100330"/>
          </a:xfrm>
          <a:custGeom>
            <a:avLst/>
            <a:gdLst/>
            <a:ahLst/>
            <a:cxnLst/>
            <a:rect l="l" t="t" r="r" b="b"/>
            <a:pathLst>
              <a:path w="147955" h="100329">
                <a:moveTo>
                  <a:pt x="0" y="60426"/>
                </a:moveTo>
                <a:lnTo>
                  <a:pt x="35458" y="99707"/>
                </a:lnTo>
                <a:lnTo>
                  <a:pt x="147739" y="0"/>
                </a:lnTo>
              </a:path>
            </a:pathLst>
          </a:custGeom>
          <a:ln w="9512">
            <a:solidFill>
              <a:srgbClr val="37C1B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Kép 25" descr="A képen Háztartási eszköz, berendezés, hűtőszekrén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3ACD3CA-5E7D-0B8C-CFC2-48C9193C3F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3"/>
          <a:stretch>
            <a:fillRect/>
          </a:stretch>
        </p:blipFill>
        <p:spPr>
          <a:xfrm>
            <a:off x="130040" y="2033485"/>
            <a:ext cx="3582871" cy="2237792"/>
          </a:xfrm>
          <a:prstGeom prst="rect">
            <a:avLst/>
          </a:prstGeom>
        </p:spPr>
      </p:pic>
      <p:grpSp>
        <p:nvGrpSpPr>
          <p:cNvPr id="20" name="object 5">
            <a:extLst>
              <a:ext uri="{FF2B5EF4-FFF2-40B4-BE49-F238E27FC236}">
                <a16:creationId xmlns:a16="http://schemas.microsoft.com/office/drawing/2014/main" id="{0C56B91E-1D05-31C7-493E-C229205BC9CF}"/>
              </a:ext>
            </a:extLst>
          </p:cNvPr>
          <p:cNvGrpSpPr/>
          <p:nvPr/>
        </p:nvGrpSpPr>
        <p:grpSpPr>
          <a:xfrm>
            <a:off x="3793826" y="1907295"/>
            <a:ext cx="3649345" cy="4389755"/>
            <a:chOff x="1966785" y="2069908"/>
            <a:chExt cx="3649345" cy="4389755"/>
          </a:xfrm>
        </p:grpSpPr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1603D9B1-5473-ACE0-2555-969983D133D5}"/>
                </a:ext>
              </a:extLst>
            </p:cNvPr>
            <p:cNvSpPr/>
            <p:nvPr/>
          </p:nvSpPr>
          <p:spPr>
            <a:xfrm>
              <a:off x="2190197" y="5252389"/>
              <a:ext cx="133350" cy="90170"/>
            </a:xfrm>
            <a:custGeom>
              <a:avLst/>
              <a:gdLst/>
              <a:ahLst/>
              <a:cxnLst/>
              <a:rect l="l" t="t" r="r" b="b"/>
              <a:pathLst>
                <a:path w="133350" h="90170">
                  <a:moveTo>
                    <a:pt x="0" y="54343"/>
                  </a:moveTo>
                  <a:lnTo>
                    <a:pt x="31953" y="89661"/>
                  </a:lnTo>
                  <a:lnTo>
                    <a:pt x="133159" y="0"/>
                  </a:lnTo>
                </a:path>
              </a:pathLst>
            </a:custGeom>
            <a:ln w="8890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F24A671F-56D5-9D0E-9BFD-3723A14770A9}"/>
                </a:ext>
              </a:extLst>
            </p:cNvPr>
            <p:cNvSpPr/>
            <p:nvPr/>
          </p:nvSpPr>
          <p:spPr>
            <a:xfrm>
              <a:off x="1970278" y="2073400"/>
              <a:ext cx="3642360" cy="4382770"/>
            </a:xfrm>
            <a:custGeom>
              <a:avLst/>
              <a:gdLst/>
              <a:ahLst/>
              <a:cxnLst/>
              <a:rect l="l" t="t" r="r" b="b"/>
              <a:pathLst>
                <a:path w="3642360" h="4382770">
                  <a:moveTo>
                    <a:pt x="3449726" y="0"/>
                  </a:moveTo>
                  <a:lnTo>
                    <a:pt x="192595" y="0"/>
                  </a:lnTo>
                  <a:lnTo>
                    <a:pt x="148432" y="5086"/>
                  </a:lnTo>
                  <a:lnTo>
                    <a:pt x="107893" y="19576"/>
                  </a:lnTo>
                  <a:lnTo>
                    <a:pt x="72133" y="42312"/>
                  </a:lnTo>
                  <a:lnTo>
                    <a:pt x="42308" y="72138"/>
                  </a:lnTo>
                  <a:lnTo>
                    <a:pt x="19574" y="107899"/>
                  </a:lnTo>
                  <a:lnTo>
                    <a:pt x="5086" y="148436"/>
                  </a:lnTo>
                  <a:lnTo>
                    <a:pt x="0" y="192595"/>
                  </a:lnTo>
                  <a:lnTo>
                    <a:pt x="0" y="4189742"/>
                  </a:lnTo>
                  <a:lnTo>
                    <a:pt x="5086" y="4233906"/>
                  </a:lnTo>
                  <a:lnTo>
                    <a:pt x="19574" y="4274447"/>
                  </a:lnTo>
                  <a:lnTo>
                    <a:pt x="42308" y="4310209"/>
                  </a:lnTo>
                  <a:lnTo>
                    <a:pt x="72133" y="4340037"/>
                  </a:lnTo>
                  <a:lnTo>
                    <a:pt x="107893" y="4362774"/>
                  </a:lnTo>
                  <a:lnTo>
                    <a:pt x="148432" y="4377264"/>
                  </a:lnTo>
                  <a:lnTo>
                    <a:pt x="192595" y="4382350"/>
                  </a:lnTo>
                  <a:lnTo>
                    <a:pt x="3449726" y="4382350"/>
                  </a:lnTo>
                  <a:lnTo>
                    <a:pt x="3493885" y="4377264"/>
                  </a:lnTo>
                  <a:lnTo>
                    <a:pt x="3534422" y="4362774"/>
                  </a:lnTo>
                  <a:lnTo>
                    <a:pt x="3570182" y="4340037"/>
                  </a:lnTo>
                  <a:lnTo>
                    <a:pt x="3600009" y="4310209"/>
                  </a:lnTo>
                  <a:lnTo>
                    <a:pt x="3622745" y="4274447"/>
                  </a:lnTo>
                  <a:lnTo>
                    <a:pt x="3637235" y="4233906"/>
                  </a:lnTo>
                  <a:lnTo>
                    <a:pt x="3642321" y="4189742"/>
                  </a:lnTo>
                  <a:lnTo>
                    <a:pt x="3642321" y="192595"/>
                  </a:lnTo>
                  <a:lnTo>
                    <a:pt x="3637235" y="148436"/>
                  </a:lnTo>
                  <a:lnTo>
                    <a:pt x="3622745" y="107899"/>
                  </a:lnTo>
                  <a:lnTo>
                    <a:pt x="3600009" y="72138"/>
                  </a:lnTo>
                  <a:lnTo>
                    <a:pt x="3570182" y="42312"/>
                  </a:lnTo>
                  <a:lnTo>
                    <a:pt x="3534422" y="19576"/>
                  </a:lnTo>
                  <a:lnTo>
                    <a:pt x="3493885" y="5086"/>
                  </a:lnTo>
                  <a:lnTo>
                    <a:pt x="3449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8">
              <a:extLst>
                <a:ext uri="{FF2B5EF4-FFF2-40B4-BE49-F238E27FC236}">
                  <a16:creationId xmlns:a16="http://schemas.microsoft.com/office/drawing/2014/main" id="{73F7FCCE-98C2-D0A2-EC51-F786856FF6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0265" y="2073402"/>
              <a:ext cx="3642334" cy="2501770"/>
            </a:xfrm>
            <a:prstGeom prst="rect">
              <a:avLst/>
            </a:prstGeom>
          </p:spPr>
        </p:pic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F105D7BE-D94C-F5A4-86D0-3BB2939C1994}"/>
                </a:ext>
              </a:extLst>
            </p:cNvPr>
            <p:cNvSpPr/>
            <p:nvPr/>
          </p:nvSpPr>
          <p:spPr>
            <a:xfrm>
              <a:off x="1970278" y="2073400"/>
              <a:ext cx="3642360" cy="4382770"/>
            </a:xfrm>
            <a:custGeom>
              <a:avLst/>
              <a:gdLst/>
              <a:ahLst/>
              <a:cxnLst/>
              <a:rect l="l" t="t" r="r" b="b"/>
              <a:pathLst>
                <a:path w="3642360" h="4382770">
                  <a:moveTo>
                    <a:pt x="192595" y="0"/>
                  </a:moveTo>
                  <a:lnTo>
                    <a:pt x="148432" y="5086"/>
                  </a:lnTo>
                  <a:lnTo>
                    <a:pt x="107893" y="19576"/>
                  </a:lnTo>
                  <a:lnTo>
                    <a:pt x="72133" y="42312"/>
                  </a:lnTo>
                  <a:lnTo>
                    <a:pt x="42308" y="72138"/>
                  </a:lnTo>
                  <a:lnTo>
                    <a:pt x="19574" y="107899"/>
                  </a:lnTo>
                  <a:lnTo>
                    <a:pt x="5086" y="148436"/>
                  </a:lnTo>
                  <a:lnTo>
                    <a:pt x="0" y="192595"/>
                  </a:lnTo>
                  <a:lnTo>
                    <a:pt x="0" y="4189742"/>
                  </a:lnTo>
                  <a:lnTo>
                    <a:pt x="5086" y="4233906"/>
                  </a:lnTo>
                  <a:lnTo>
                    <a:pt x="19574" y="4274447"/>
                  </a:lnTo>
                  <a:lnTo>
                    <a:pt x="42308" y="4310209"/>
                  </a:lnTo>
                  <a:lnTo>
                    <a:pt x="72133" y="4340037"/>
                  </a:lnTo>
                  <a:lnTo>
                    <a:pt x="107893" y="4362774"/>
                  </a:lnTo>
                  <a:lnTo>
                    <a:pt x="148432" y="4377264"/>
                  </a:lnTo>
                  <a:lnTo>
                    <a:pt x="192595" y="4382350"/>
                  </a:lnTo>
                  <a:lnTo>
                    <a:pt x="3449726" y="4382350"/>
                  </a:lnTo>
                  <a:lnTo>
                    <a:pt x="3493885" y="4377264"/>
                  </a:lnTo>
                  <a:lnTo>
                    <a:pt x="3534422" y="4362774"/>
                  </a:lnTo>
                  <a:lnTo>
                    <a:pt x="3570182" y="4340037"/>
                  </a:lnTo>
                  <a:lnTo>
                    <a:pt x="3600009" y="4310209"/>
                  </a:lnTo>
                  <a:lnTo>
                    <a:pt x="3622745" y="4274447"/>
                  </a:lnTo>
                  <a:lnTo>
                    <a:pt x="3637235" y="4233906"/>
                  </a:lnTo>
                  <a:lnTo>
                    <a:pt x="3642321" y="4189742"/>
                  </a:lnTo>
                  <a:lnTo>
                    <a:pt x="3642321" y="192595"/>
                  </a:lnTo>
                  <a:lnTo>
                    <a:pt x="3637235" y="148436"/>
                  </a:lnTo>
                  <a:lnTo>
                    <a:pt x="3622745" y="107899"/>
                  </a:lnTo>
                  <a:lnTo>
                    <a:pt x="3600009" y="72138"/>
                  </a:lnTo>
                  <a:lnTo>
                    <a:pt x="3570182" y="42312"/>
                  </a:lnTo>
                  <a:lnTo>
                    <a:pt x="3534422" y="19576"/>
                  </a:lnTo>
                  <a:lnTo>
                    <a:pt x="3493885" y="5086"/>
                  </a:lnTo>
                  <a:lnTo>
                    <a:pt x="3449726" y="0"/>
                  </a:lnTo>
                  <a:lnTo>
                    <a:pt x="192595" y="0"/>
                  </a:lnTo>
                  <a:close/>
                </a:path>
              </a:pathLst>
            </a:custGeom>
            <a:ln w="6794">
              <a:solidFill>
                <a:srgbClr val="37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0">
            <a:extLst>
              <a:ext uri="{FF2B5EF4-FFF2-40B4-BE49-F238E27FC236}">
                <a16:creationId xmlns:a16="http://schemas.microsoft.com/office/drawing/2014/main" id="{BD32164A-052E-DEE0-230C-0C09D3A8ECEE}"/>
              </a:ext>
            </a:extLst>
          </p:cNvPr>
          <p:cNvSpPr txBox="1"/>
          <p:nvPr/>
        </p:nvSpPr>
        <p:spPr>
          <a:xfrm>
            <a:off x="4275078" y="5221216"/>
            <a:ext cx="2658745" cy="67069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000" b="1" dirty="0">
                <a:latin typeface="Arial"/>
                <a:cs typeface="Arial"/>
              </a:rPr>
              <a:t>6kwp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ASTRONERGY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455W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N-type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napelem</a:t>
            </a:r>
            <a:endParaRPr sz="1000" dirty="0">
              <a:latin typeface="Arial"/>
              <a:cs typeface="Arial"/>
            </a:endParaRPr>
          </a:p>
          <a:p>
            <a:pPr marL="12700" marR="632460">
              <a:lnSpc>
                <a:spcPts val="1070"/>
              </a:lnSpc>
              <a:spcBef>
                <a:spcPts val="655"/>
              </a:spcBef>
            </a:pPr>
            <a:r>
              <a:rPr lang="hu-HU" sz="950" b="1" dirty="0" err="1">
                <a:latin typeface="Arial"/>
                <a:cs typeface="Arial"/>
              </a:rPr>
              <a:t>FoxESS</a:t>
            </a:r>
            <a:r>
              <a:rPr lang="hu-HU" sz="950" b="1" dirty="0">
                <a:latin typeface="Arial"/>
                <a:cs typeface="Arial"/>
              </a:rPr>
              <a:t> P3-5.0-SH </a:t>
            </a:r>
            <a:r>
              <a:rPr lang="hu-HU" sz="950" b="1" dirty="0" err="1">
                <a:latin typeface="Arial"/>
                <a:cs typeface="Arial"/>
              </a:rPr>
              <a:t>inverter</a:t>
            </a:r>
            <a:endParaRPr lang="hu-HU" sz="95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lang="hu-HU" sz="950" b="1" dirty="0" err="1">
                <a:latin typeface="Arial"/>
                <a:cs typeface="Arial"/>
              </a:rPr>
              <a:t>FoxESS</a:t>
            </a:r>
            <a:r>
              <a:rPr lang="hu-HU" sz="950" b="1" dirty="0">
                <a:latin typeface="Arial"/>
                <a:cs typeface="Arial"/>
              </a:rPr>
              <a:t> EP12 11,5KWh akkumulátor</a:t>
            </a:r>
            <a:endParaRPr sz="950" b="1" dirty="0">
              <a:latin typeface="Arial"/>
              <a:cs typeface="Arial"/>
            </a:endParaRPr>
          </a:p>
        </p:txBody>
      </p:sp>
      <p:grpSp>
        <p:nvGrpSpPr>
          <p:cNvPr id="27" name="object 11">
            <a:extLst>
              <a:ext uri="{FF2B5EF4-FFF2-40B4-BE49-F238E27FC236}">
                <a16:creationId xmlns:a16="http://schemas.microsoft.com/office/drawing/2014/main" id="{BC60D594-3EAE-037C-2265-DFC57AA2B483}"/>
              </a:ext>
            </a:extLst>
          </p:cNvPr>
          <p:cNvGrpSpPr/>
          <p:nvPr/>
        </p:nvGrpSpPr>
        <p:grpSpPr>
          <a:xfrm>
            <a:off x="3801891" y="4264366"/>
            <a:ext cx="3633470" cy="1406525"/>
            <a:chOff x="1974850" y="4426979"/>
            <a:chExt cx="3633470" cy="1406525"/>
          </a:xfrm>
        </p:grpSpPr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79632568-5818-5B6D-3A2B-348A6DEBC57C}"/>
                </a:ext>
              </a:extLst>
            </p:cNvPr>
            <p:cNvSpPr/>
            <p:nvPr/>
          </p:nvSpPr>
          <p:spPr>
            <a:xfrm>
              <a:off x="2199613" y="5506053"/>
              <a:ext cx="147955" cy="100330"/>
            </a:xfrm>
            <a:custGeom>
              <a:avLst/>
              <a:gdLst/>
              <a:ahLst/>
              <a:cxnLst/>
              <a:rect l="l" t="t" r="r" b="b"/>
              <a:pathLst>
                <a:path w="147955" h="100329">
                  <a:moveTo>
                    <a:pt x="0" y="60426"/>
                  </a:moveTo>
                  <a:lnTo>
                    <a:pt x="35458" y="99707"/>
                  </a:lnTo>
                  <a:lnTo>
                    <a:pt x="147739" y="0"/>
                  </a:lnTo>
                </a:path>
              </a:pathLst>
            </a:custGeom>
            <a:ln w="9512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298C02D5-C2F0-E3F6-F410-5C27DBA9FFD6}"/>
                </a:ext>
              </a:extLst>
            </p:cNvPr>
            <p:cNvSpPr/>
            <p:nvPr/>
          </p:nvSpPr>
          <p:spPr>
            <a:xfrm>
              <a:off x="2199613" y="5728943"/>
              <a:ext cx="147955" cy="100330"/>
            </a:xfrm>
            <a:custGeom>
              <a:avLst/>
              <a:gdLst/>
              <a:ahLst/>
              <a:cxnLst/>
              <a:rect l="l" t="t" r="r" b="b"/>
              <a:pathLst>
                <a:path w="147955" h="100329">
                  <a:moveTo>
                    <a:pt x="0" y="60426"/>
                  </a:moveTo>
                  <a:lnTo>
                    <a:pt x="35458" y="99707"/>
                  </a:lnTo>
                  <a:lnTo>
                    <a:pt x="147739" y="0"/>
                  </a:lnTo>
                </a:path>
              </a:pathLst>
            </a:custGeom>
            <a:ln w="9512">
              <a:solidFill>
                <a:srgbClr val="37C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>
              <a:extLst>
                <a:ext uri="{FF2B5EF4-FFF2-40B4-BE49-F238E27FC236}">
                  <a16:creationId xmlns:a16="http://schemas.microsoft.com/office/drawing/2014/main" id="{2BB2C2E7-C4F4-76BD-3401-53E68D13CD23}"/>
                </a:ext>
              </a:extLst>
            </p:cNvPr>
            <p:cNvSpPr/>
            <p:nvPr/>
          </p:nvSpPr>
          <p:spPr>
            <a:xfrm>
              <a:off x="1974850" y="4426979"/>
              <a:ext cx="3633470" cy="256540"/>
            </a:xfrm>
            <a:custGeom>
              <a:avLst/>
              <a:gdLst/>
              <a:ahLst/>
              <a:cxnLst/>
              <a:rect l="l" t="t" r="r" b="b"/>
              <a:pathLst>
                <a:path w="3633470" h="256539">
                  <a:moveTo>
                    <a:pt x="3633165" y="0"/>
                  </a:moveTo>
                  <a:lnTo>
                    <a:pt x="0" y="0"/>
                  </a:lnTo>
                  <a:lnTo>
                    <a:pt x="0" y="256184"/>
                  </a:lnTo>
                  <a:lnTo>
                    <a:pt x="3633165" y="256184"/>
                  </a:lnTo>
                  <a:lnTo>
                    <a:pt x="3633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15">
            <a:extLst>
              <a:ext uri="{FF2B5EF4-FFF2-40B4-BE49-F238E27FC236}">
                <a16:creationId xmlns:a16="http://schemas.microsoft.com/office/drawing/2014/main" id="{B2025B53-6C1F-3385-26F4-85D8D3A0E2EC}"/>
              </a:ext>
            </a:extLst>
          </p:cNvPr>
          <p:cNvSpPr txBox="1"/>
          <p:nvPr/>
        </p:nvSpPr>
        <p:spPr>
          <a:xfrm>
            <a:off x="4241068" y="4355620"/>
            <a:ext cx="1789430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Támogatással</a:t>
            </a:r>
            <a:r>
              <a:rPr sz="1050" b="1" spc="-35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-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2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500</a:t>
            </a:r>
            <a:r>
              <a:rPr sz="1050" b="1" spc="-30" dirty="0">
                <a:solidFill>
                  <a:srgbClr val="6D6E71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6D6E71"/>
                </a:solidFill>
                <a:latin typeface="Arial"/>
                <a:cs typeface="Arial"/>
              </a:rPr>
              <a:t>000</a:t>
            </a:r>
            <a:r>
              <a:rPr sz="1050" b="1" spc="-35" dirty="0">
                <a:solidFill>
                  <a:srgbClr val="6D6E71"/>
                </a:solidFill>
                <a:latin typeface="Arial"/>
                <a:cs typeface="Arial"/>
              </a:rPr>
              <a:t> Ft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32" name="object 16">
            <a:extLst>
              <a:ext uri="{FF2B5EF4-FFF2-40B4-BE49-F238E27FC236}">
                <a16:creationId xmlns:a16="http://schemas.microsoft.com/office/drawing/2014/main" id="{7A7A6865-BF30-3E89-C7FF-10D100BE688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3738" y="4594718"/>
            <a:ext cx="1843290" cy="570293"/>
          </a:xfrm>
          <a:prstGeom prst="rect">
            <a:avLst/>
          </a:prstGeom>
        </p:spPr>
      </p:pic>
      <p:sp>
        <p:nvSpPr>
          <p:cNvPr id="33" name="object 17">
            <a:extLst>
              <a:ext uri="{FF2B5EF4-FFF2-40B4-BE49-F238E27FC236}">
                <a16:creationId xmlns:a16="http://schemas.microsoft.com/office/drawing/2014/main" id="{2D03821C-E477-168E-0400-137DBCC14488}"/>
              </a:ext>
            </a:extLst>
          </p:cNvPr>
          <p:cNvSpPr txBox="1"/>
          <p:nvPr/>
        </p:nvSpPr>
        <p:spPr>
          <a:xfrm>
            <a:off x="4350741" y="4605221"/>
            <a:ext cx="1412240" cy="498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235"/>
              </a:lnSpc>
              <a:spcBef>
                <a:spcPts val="125"/>
              </a:spcBef>
            </a:pPr>
            <a:r>
              <a:rPr lang="hu-HU" sz="1900" b="1" spc="-35" dirty="0">
                <a:solidFill>
                  <a:srgbClr val="FFFFFF"/>
                </a:solidFill>
                <a:latin typeface="Arial"/>
                <a:cs typeface="Arial"/>
              </a:rPr>
              <a:t>990.000</a:t>
            </a:r>
            <a:r>
              <a:rPr sz="19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Arial"/>
                <a:cs typeface="Arial"/>
              </a:rPr>
              <a:t>Ft</a:t>
            </a:r>
            <a:endParaRPr sz="1900" dirty="0">
              <a:latin typeface="Arial"/>
              <a:cs typeface="Arial"/>
            </a:endParaRPr>
          </a:p>
          <a:p>
            <a:pPr marL="12700">
              <a:lnSpc>
                <a:spcPts val="1455"/>
              </a:lnSpc>
            </a:pPr>
            <a:r>
              <a:rPr sz="1250" b="1" spc="-10" dirty="0">
                <a:solidFill>
                  <a:srgbClr val="FFFFFF"/>
                </a:solidFill>
                <a:latin typeface="Arial"/>
                <a:cs typeface="Arial"/>
              </a:rPr>
              <a:t>önrésszel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6BCB2730-F251-6951-A3BF-9B46B9CDF62B}"/>
              </a:ext>
            </a:extLst>
          </p:cNvPr>
          <p:cNvSpPr/>
          <p:nvPr/>
        </p:nvSpPr>
        <p:spPr>
          <a:xfrm>
            <a:off x="4026654" y="5820220"/>
            <a:ext cx="147955" cy="100330"/>
          </a:xfrm>
          <a:custGeom>
            <a:avLst/>
            <a:gdLst/>
            <a:ahLst/>
            <a:cxnLst/>
            <a:rect l="l" t="t" r="r" b="b"/>
            <a:pathLst>
              <a:path w="147955" h="100329">
                <a:moveTo>
                  <a:pt x="0" y="60426"/>
                </a:moveTo>
                <a:lnTo>
                  <a:pt x="35458" y="99707"/>
                </a:lnTo>
                <a:lnTo>
                  <a:pt x="147739" y="0"/>
                </a:lnTo>
              </a:path>
            </a:pathLst>
          </a:custGeom>
          <a:ln w="9512">
            <a:solidFill>
              <a:srgbClr val="37C1B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Kép 34" descr="A képen Háztartási eszköz, berendezés, hűtőszekrén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CCA9CA2-B8F1-9DF1-3B0C-E98962904B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3"/>
          <a:stretch>
            <a:fillRect/>
          </a:stretch>
        </p:blipFill>
        <p:spPr>
          <a:xfrm>
            <a:off x="3813214" y="2036978"/>
            <a:ext cx="3582871" cy="2237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5709199" y="369609"/>
            <a:ext cx="148526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Spark</a:t>
            </a:r>
            <a:r>
              <a:rPr sz="9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Electric</a:t>
            </a:r>
            <a:r>
              <a:rPr sz="9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939598"/>
                </a:solidFill>
                <a:latin typeface="Arial"/>
                <a:cs typeface="Arial"/>
              </a:rPr>
              <a:t>Kft.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1147</a:t>
            </a:r>
            <a:r>
              <a:rPr sz="900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Budapest,</a:t>
            </a:r>
            <a:endParaRPr sz="9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Telepes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utca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72-74.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psz.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939598"/>
                </a:solidFill>
                <a:latin typeface="Arial"/>
                <a:cs typeface="Arial"/>
              </a:rPr>
              <a:t>37.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+36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20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409</a:t>
            </a:r>
            <a:r>
              <a:rPr sz="900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39598"/>
                </a:solidFill>
                <a:latin typeface="Arial"/>
                <a:cs typeface="Arial"/>
              </a:rPr>
              <a:t>0060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2728789" y="348762"/>
            <a:ext cx="197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39598"/>
                </a:solidFill>
                <a:latin typeface="Arial"/>
                <a:cs typeface="Arial"/>
                <a:hlinkClick r:id="rId2"/>
              </a:rPr>
              <a:t>www.akkumulator-tamogatas.hu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Cím"/>
          <p:cNvSpPr txBox="1"/>
          <p:nvPr/>
        </p:nvSpPr>
        <p:spPr>
          <a:xfrm>
            <a:off x="360000" y="1134000"/>
            <a:ext cx="6840000" cy="32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u-HU" sz="2200" b="1" spc="-40" dirty="0">
                <a:solidFill>
                  <a:srgbClr val="39BEB7"/>
                </a:solidFill>
                <a:latin typeface="Arial"/>
                <a:cs typeface="Arial"/>
              </a:rPr>
              <a:t>Inverter + akkumulátor csomagajánlatok</a:t>
            </a:r>
          </a:p>
        </p:txBody>
      </p:sp>
      <p:sp>
        <p:nvSpPr>
          <p:cNvPr id="6" name="Alcím"/>
          <p:cNvSpPr txBox="1"/>
          <p:nvPr/>
        </p:nvSpPr>
        <p:spPr>
          <a:xfrm>
            <a:off x="360000" y="1458000"/>
            <a:ext cx="6840000" cy="19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u-HU" sz="1100" b="0" spc="0" dirty="0">
                <a:solidFill>
                  <a:srgbClr val="6D6E71"/>
                </a:solidFill>
                <a:latin typeface="Arial"/>
                <a:cs typeface="Arial"/>
              </a:rPr>
              <a:t>Komplett hibrid rendszer 1 800 000 Ft vissza nem térítendő támogatással</a:t>
            </a:r>
          </a:p>
        </p:txBody>
      </p:sp>
      <p:sp>
        <p:nvSpPr>
          <p:cNvPr id="7" name="FoxESS csomag"/>
          <p:cNvSpPr/>
          <p:nvPr/>
        </p:nvSpPr>
        <p:spPr>
          <a:xfrm>
            <a:off x="360000" y="1908000"/>
            <a:ext cx="3330000" cy="8100000"/>
          </a:xfrm>
          <a:prstGeom prst="roundRect">
            <a:avLst>
              <a:gd name="adj" fmla="val 2378"/>
            </a:avLst>
          </a:prstGeom>
          <a:solidFill>
            <a:srgbClr val="FFFFFF"/>
          </a:solidFill>
          <a:ln w="9525">
            <a:solidFill>
              <a:srgbClr val="DDE3E3"/>
            </a:solidFill>
          </a:ln>
          <a:effectLst>
            <a:outerShdw blurRad="304800" dist="50800" dir="5400000" algn="t" rotWithShape="0">
              <a:srgbClr val="0B3B3E">
                <a:alpha val="7000"/>
              </a:srgbClr>
            </a:outerShdw>
          </a:effectLst>
        </p:spPr>
        <p:txBody>
          <a:bodyPr rtlCol="0" anchor="ctr"/>
          <a:lstStyle/>
          <a:p>
            <a:endParaRPr lang="hu-HU"/>
          </a:p>
        </p:txBody>
      </p:sp>
      <p:pic>
        <p:nvPicPr>
          <p:cNvPr id="8" name="FoxESS termékfotó" descr="FoxESS P3-SH inverter és EP12 akkumulá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2052000"/>
            <a:ext cx="3042000" cy="3816000"/>
          </a:xfrm>
          <a:prstGeom prst="rect">
            <a:avLst/>
          </a:prstGeom>
        </p:spPr>
      </p:pic>
      <p:sp>
        <p:nvSpPr>
          <p:cNvPr id="9" name="Illusztráció megjegyzés"/>
          <p:cNvSpPr txBox="1"/>
          <p:nvPr/>
        </p:nvSpPr>
        <p:spPr>
          <a:xfrm>
            <a:off x="504000" y="5886000"/>
            <a:ext cx="3042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700" b="0" spc="0" dirty="0">
                <a:solidFill>
                  <a:srgbClr val="939598"/>
                </a:solidFill>
                <a:latin typeface="Arial"/>
                <a:cs typeface="Arial"/>
              </a:rPr>
              <a:t>A termékmegjelenítés illusztráció.</a:t>
            </a:r>
          </a:p>
        </p:txBody>
      </p:sp>
      <p:sp>
        <p:nvSpPr>
          <p:cNvPr id="10" name="Márka"/>
          <p:cNvSpPr txBox="1"/>
          <p:nvPr/>
        </p:nvSpPr>
        <p:spPr>
          <a:xfrm>
            <a:off x="612000" y="6120000"/>
            <a:ext cx="2826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1" spc="120" dirty="0">
                <a:solidFill>
                  <a:srgbClr val="39BEB7"/>
                </a:solidFill>
                <a:latin typeface="Arial"/>
                <a:cs typeface="Arial"/>
              </a:rPr>
              <a:t>FOXESS</a:t>
            </a:r>
          </a:p>
        </p:txBody>
      </p:sp>
      <p:sp>
        <p:nvSpPr>
          <p:cNvPr id="11" name="Csomag neve"/>
          <p:cNvSpPr txBox="1"/>
          <p:nvPr/>
        </p:nvSpPr>
        <p:spPr>
          <a:xfrm>
            <a:off x="612000" y="6318000"/>
            <a:ext cx="2826000" cy="66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FoxESS P3-5-15.0-SH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inverter + EP12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12" name="Elválasztó vonal"/>
          <p:cNvSpPr/>
          <p:nvPr/>
        </p:nvSpPr>
        <p:spPr>
          <a:xfrm>
            <a:off x="612000" y="7074000"/>
            <a:ext cx="2826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3" name="Inverter címke"/>
          <p:cNvSpPr txBox="1"/>
          <p:nvPr/>
        </p:nvSpPr>
        <p:spPr>
          <a:xfrm>
            <a:off x="612000" y="7200000"/>
            <a:ext cx="1251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Inverter</a:t>
            </a:r>
          </a:p>
        </p:txBody>
      </p:sp>
      <p:sp>
        <p:nvSpPr>
          <p:cNvPr id="14" name="Inverter"/>
          <p:cNvSpPr txBox="1"/>
          <p:nvPr/>
        </p:nvSpPr>
        <p:spPr>
          <a:xfrm>
            <a:off x="612000" y="7362000"/>
            <a:ext cx="1251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400" b="1" spc="-30" dirty="0">
                <a:solidFill>
                  <a:srgbClr val="231F20"/>
                </a:solidFill>
                <a:latin typeface="Arial"/>
                <a:cs typeface="Arial"/>
              </a:rPr>
              <a:t>5–15</a:t>
            </a:r>
            <a:r>
              <a:rPr lang="hu-HU" sz="1300" b="1" spc="0" dirty="0">
                <a:solidFill>
                  <a:srgbClr val="231F20"/>
                </a:solidFill>
                <a:latin typeface="Arial"/>
                <a:cs typeface="Arial"/>
              </a:rPr>
              <a:t> kW</a:t>
            </a:r>
          </a:p>
        </p:txBody>
      </p:sp>
      <p:sp>
        <p:nvSpPr>
          <p:cNvPr id="15" name="Akkumulátor címke"/>
          <p:cNvSpPr txBox="1"/>
          <p:nvPr/>
        </p:nvSpPr>
        <p:spPr>
          <a:xfrm>
            <a:off x="2187000" y="7200000"/>
            <a:ext cx="1251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16" name="Akkumulátor"/>
          <p:cNvSpPr txBox="1"/>
          <p:nvPr/>
        </p:nvSpPr>
        <p:spPr>
          <a:xfrm>
            <a:off x="2187000" y="7362000"/>
            <a:ext cx="1251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400" b="1" spc="-30" dirty="0">
                <a:solidFill>
                  <a:srgbClr val="231F20"/>
                </a:solidFill>
                <a:latin typeface="Arial"/>
                <a:cs typeface="Arial"/>
              </a:rPr>
              <a:t>11,5</a:t>
            </a:r>
            <a:r>
              <a:rPr lang="hu-HU" sz="1300" b="1" spc="0" dirty="0">
                <a:solidFill>
                  <a:srgbClr val="231F20"/>
                </a:solidFill>
                <a:latin typeface="Arial"/>
                <a:cs typeface="Arial"/>
              </a:rPr>
              <a:t> kWh</a:t>
            </a:r>
          </a:p>
        </p:txBody>
      </p:sp>
      <p:sp>
        <p:nvSpPr>
          <p:cNvPr id="17" name="Függőleges elválasztó"/>
          <p:cNvSpPr/>
          <p:nvPr/>
        </p:nvSpPr>
        <p:spPr>
          <a:xfrm>
            <a:off x="2025000" y="7218000"/>
            <a:ext cx="6480" cy="48600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8" name="Elválasztó vonal"/>
          <p:cNvSpPr/>
          <p:nvPr/>
        </p:nvSpPr>
        <p:spPr>
          <a:xfrm>
            <a:off x="612000" y="7848000"/>
            <a:ext cx="2826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9" name="Rendszer értéke"/>
          <p:cNvSpPr txBox="1"/>
          <p:nvPr/>
        </p:nvSpPr>
        <p:spPr>
          <a:xfrm>
            <a:off x="612000" y="79560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1050" b="0" spc="0" dirty="0">
                <a:solidFill>
                  <a:srgbClr val="6D6E71"/>
                </a:solidFill>
                <a:latin typeface="Arial"/>
                <a:cs typeface="Arial"/>
              </a:rPr>
              <a:t>Rendszer értéke</a:t>
            </a:r>
          </a:p>
        </p:txBody>
      </p:sp>
      <p:sp>
        <p:nvSpPr>
          <p:cNvPr id="20" name="Rendszer értéke összeg"/>
          <p:cNvSpPr txBox="1"/>
          <p:nvPr/>
        </p:nvSpPr>
        <p:spPr>
          <a:xfrm>
            <a:off x="612000" y="79560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1050" b="1" spc="0" dirty="0">
                <a:solidFill>
                  <a:srgbClr val="231F20"/>
                </a:solidFill>
                <a:latin typeface="Arial"/>
                <a:cs typeface="Arial"/>
              </a:rPr>
              <a:t>2 290 000 Ft</a:t>
            </a:r>
          </a:p>
        </p:txBody>
      </p:sp>
      <p:sp>
        <p:nvSpPr>
          <p:cNvPr id="21" name="Támogatás mértéke"/>
          <p:cNvSpPr txBox="1"/>
          <p:nvPr/>
        </p:nvSpPr>
        <p:spPr>
          <a:xfrm>
            <a:off x="612000" y="81792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1050" b="0" spc="0" dirty="0">
                <a:solidFill>
                  <a:srgbClr val="6D6E71"/>
                </a:solidFill>
                <a:latin typeface="Arial"/>
                <a:cs typeface="Arial"/>
              </a:rPr>
              <a:t>Támogatás mértéke</a:t>
            </a:r>
          </a:p>
        </p:txBody>
      </p:sp>
      <p:sp>
        <p:nvSpPr>
          <p:cNvPr id="22" name="Támogatás mértéke összeg"/>
          <p:cNvSpPr txBox="1"/>
          <p:nvPr/>
        </p:nvSpPr>
        <p:spPr>
          <a:xfrm>
            <a:off x="612000" y="81792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1050" b="1" spc="0" dirty="0">
                <a:solidFill>
                  <a:srgbClr val="39BEB7"/>
                </a:solidFill>
                <a:latin typeface="Arial"/>
                <a:cs typeface="Arial"/>
              </a:rPr>
              <a:t>– 1 800 000 Ft</a:t>
            </a:r>
          </a:p>
        </p:txBody>
      </p:sp>
      <p:sp>
        <p:nvSpPr>
          <p:cNvPr id="23" name="Önerő sáv"/>
          <p:cNvSpPr/>
          <p:nvPr/>
        </p:nvSpPr>
        <p:spPr>
          <a:xfrm rot="10800000">
            <a:off x="360000" y="8712000"/>
            <a:ext cx="3330000" cy="1296000"/>
          </a:xfrm>
          <a:prstGeom prst="round2SameRect">
            <a:avLst>
              <a:gd name="adj1" fmla="val 6111"/>
              <a:gd name="adj2" fmla="val 0"/>
            </a:avLst>
          </a:prstGeom>
          <a:solidFill>
            <a:srgbClr val="EE8A32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4" name="Önerő"/>
          <p:cNvSpPr txBox="1"/>
          <p:nvPr/>
        </p:nvSpPr>
        <p:spPr>
          <a:xfrm>
            <a:off x="558000" y="8712000"/>
            <a:ext cx="2934000" cy="129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3000" b="1" spc="-30" dirty="0">
                <a:solidFill>
                  <a:srgbClr val="FFFFFF"/>
                </a:solidFill>
                <a:latin typeface="Arial"/>
                <a:cs typeface="Arial"/>
              </a:rPr>
              <a:t>490 000 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hu-HU" sz="1350" b="1" spc="0" dirty="0">
                <a:solidFill>
                  <a:srgbClr val="FFFFFF"/>
                </a:solidFill>
                <a:latin typeface="Arial"/>
                <a:cs typeface="Arial"/>
              </a:rPr>
              <a:t>önerővel</a:t>
            </a:r>
          </a:p>
        </p:txBody>
      </p:sp>
      <p:sp>
        <p:nvSpPr>
          <p:cNvPr id="25" name="Deye csomag"/>
          <p:cNvSpPr/>
          <p:nvPr/>
        </p:nvSpPr>
        <p:spPr>
          <a:xfrm>
            <a:off x="3870000" y="1908000"/>
            <a:ext cx="3330000" cy="8100000"/>
          </a:xfrm>
          <a:prstGeom prst="roundRect">
            <a:avLst>
              <a:gd name="adj" fmla="val 2378"/>
            </a:avLst>
          </a:prstGeom>
          <a:solidFill>
            <a:srgbClr val="FFFFFF"/>
          </a:solidFill>
          <a:ln w="9525">
            <a:solidFill>
              <a:srgbClr val="DDE3E3"/>
            </a:solidFill>
          </a:ln>
          <a:effectLst>
            <a:outerShdw blurRad="304800" dist="50800" dir="5400000" algn="t" rotWithShape="0">
              <a:srgbClr val="0B3B3E">
                <a:alpha val="7000"/>
              </a:srgbClr>
            </a:outerShdw>
          </a:effectLst>
        </p:spPr>
        <p:txBody>
          <a:bodyPr rtlCol="0" anchor="ctr"/>
          <a:lstStyle/>
          <a:p>
            <a:endParaRPr lang="hu-HU"/>
          </a:p>
        </p:txBody>
      </p:sp>
      <p:pic>
        <p:nvPicPr>
          <p:cNvPr id="26" name="Deye termékfotó" descr="Deye SUN-SG05LP3 inverter és SE-F12-C akkumulá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000" y="2052000"/>
            <a:ext cx="3042000" cy="3816000"/>
          </a:xfrm>
          <a:prstGeom prst="rect">
            <a:avLst/>
          </a:prstGeom>
        </p:spPr>
      </p:pic>
      <p:sp>
        <p:nvSpPr>
          <p:cNvPr id="27" name="Illusztráció megjegyzés"/>
          <p:cNvSpPr txBox="1"/>
          <p:nvPr/>
        </p:nvSpPr>
        <p:spPr>
          <a:xfrm>
            <a:off x="4014000" y="5886000"/>
            <a:ext cx="3042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700" b="0" spc="0" dirty="0">
                <a:solidFill>
                  <a:srgbClr val="939598"/>
                </a:solidFill>
                <a:latin typeface="Arial"/>
                <a:cs typeface="Arial"/>
              </a:rPr>
              <a:t>A termékmegjelenítés illusztráció.</a:t>
            </a:r>
          </a:p>
        </p:txBody>
      </p:sp>
      <p:sp>
        <p:nvSpPr>
          <p:cNvPr id="28" name="Márka"/>
          <p:cNvSpPr txBox="1"/>
          <p:nvPr/>
        </p:nvSpPr>
        <p:spPr>
          <a:xfrm>
            <a:off x="4122000" y="6120000"/>
            <a:ext cx="2826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1" spc="120" dirty="0">
                <a:solidFill>
                  <a:srgbClr val="39BEB7"/>
                </a:solidFill>
                <a:latin typeface="Arial"/>
                <a:cs typeface="Arial"/>
              </a:rPr>
              <a:t>DEYE</a:t>
            </a:r>
          </a:p>
        </p:txBody>
      </p:sp>
      <p:sp>
        <p:nvSpPr>
          <p:cNvPr id="29" name="Csomag neve"/>
          <p:cNvSpPr txBox="1"/>
          <p:nvPr/>
        </p:nvSpPr>
        <p:spPr>
          <a:xfrm>
            <a:off x="4122000" y="6318000"/>
            <a:ext cx="2826000" cy="66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Deye SUN-4-8K-SG05LP3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inverter + SE-F12-C/MAX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1" spc="-20" dirty="0">
                <a:solidFill>
                  <a:srgbClr val="231F20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30" name="Elválasztó vonal"/>
          <p:cNvSpPr/>
          <p:nvPr/>
        </p:nvSpPr>
        <p:spPr>
          <a:xfrm>
            <a:off x="4122000" y="7074000"/>
            <a:ext cx="2826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31" name="Inverter címke"/>
          <p:cNvSpPr txBox="1"/>
          <p:nvPr/>
        </p:nvSpPr>
        <p:spPr>
          <a:xfrm>
            <a:off x="4122000" y="7200000"/>
            <a:ext cx="1251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Inverter</a:t>
            </a:r>
          </a:p>
        </p:txBody>
      </p:sp>
      <p:sp>
        <p:nvSpPr>
          <p:cNvPr id="32" name="Inverter"/>
          <p:cNvSpPr txBox="1"/>
          <p:nvPr/>
        </p:nvSpPr>
        <p:spPr>
          <a:xfrm>
            <a:off x="4122000" y="7362000"/>
            <a:ext cx="1251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400" b="1" spc="-30" dirty="0">
                <a:solidFill>
                  <a:srgbClr val="231F20"/>
                </a:solidFill>
                <a:latin typeface="Arial"/>
                <a:cs typeface="Arial"/>
              </a:rPr>
              <a:t>4–8</a:t>
            </a:r>
            <a:r>
              <a:rPr lang="hu-HU" sz="1300" b="1" spc="0" dirty="0">
                <a:solidFill>
                  <a:srgbClr val="231F20"/>
                </a:solidFill>
                <a:latin typeface="Arial"/>
                <a:cs typeface="Arial"/>
              </a:rPr>
              <a:t> kW</a:t>
            </a:r>
          </a:p>
        </p:txBody>
      </p:sp>
      <p:sp>
        <p:nvSpPr>
          <p:cNvPr id="33" name="Akkumulátor címke"/>
          <p:cNvSpPr txBox="1"/>
          <p:nvPr/>
        </p:nvSpPr>
        <p:spPr>
          <a:xfrm>
            <a:off x="5697000" y="7200000"/>
            <a:ext cx="1251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34" name="Akkumulátor"/>
          <p:cNvSpPr txBox="1"/>
          <p:nvPr/>
        </p:nvSpPr>
        <p:spPr>
          <a:xfrm>
            <a:off x="5697000" y="7362000"/>
            <a:ext cx="1251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400" b="1" spc="-30" dirty="0">
                <a:solidFill>
                  <a:srgbClr val="231F20"/>
                </a:solidFill>
                <a:latin typeface="Arial"/>
                <a:cs typeface="Arial"/>
              </a:rPr>
              <a:t>11,8</a:t>
            </a:r>
            <a:r>
              <a:rPr lang="hu-HU" sz="1300" b="1" spc="0" dirty="0">
                <a:solidFill>
                  <a:srgbClr val="231F20"/>
                </a:solidFill>
                <a:latin typeface="Arial"/>
                <a:cs typeface="Arial"/>
              </a:rPr>
              <a:t> kWh</a:t>
            </a:r>
          </a:p>
        </p:txBody>
      </p:sp>
      <p:sp>
        <p:nvSpPr>
          <p:cNvPr id="35" name="Függőleges elválasztó"/>
          <p:cNvSpPr/>
          <p:nvPr/>
        </p:nvSpPr>
        <p:spPr>
          <a:xfrm>
            <a:off x="5535000" y="7218000"/>
            <a:ext cx="6480" cy="48600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36" name="Elválasztó vonal"/>
          <p:cNvSpPr/>
          <p:nvPr/>
        </p:nvSpPr>
        <p:spPr>
          <a:xfrm>
            <a:off x="4122000" y="7848000"/>
            <a:ext cx="2826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37" name="Rendszer értéke"/>
          <p:cNvSpPr txBox="1"/>
          <p:nvPr/>
        </p:nvSpPr>
        <p:spPr>
          <a:xfrm>
            <a:off x="4122000" y="79560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1050" b="0" spc="0" dirty="0">
                <a:solidFill>
                  <a:srgbClr val="6D6E71"/>
                </a:solidFill>
                <a:latin typeface="Arial"/>
                <a:cs typeface="Arial"/>
              </a:rPr>
              <a:t>Rendszer értéke</a:t>
            </a:r>
          </a:p>
        </p:txBody>
      </p:sp>
      <p:sp>
        <p:nvSpPr>
          <p:cNvPr id="38" name="Rendszer értéke összeg"/>
          <p:cNvSpPr txBox="1"/>
          <p:nvPr/>
        </p:nvSpPr>
        <p:spPr>
          <a:xfrm>
            <a:off x="4122000" y="79560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1050" b="1" spc="0" dirty="0">
                <a:solidFill>
                  <a:srgbClr val="231F20"/>
                </a:solidFill>
                <a:latin typeface="Arial"/>
                <a:cs typeface="Arial"/>
              </a:rPr>
              <a:t>2 250 000 Ft</a:t>
            </a:r>
          </a:p>
        </p:txBody>
      </p:sp>
      <p:sp>
        <p:nvSpPr>
          <p:cNvPr id="39" name="Támogatás mértéke"/>
          <p:cNvSpPr txBox="1"/>
          <p:nvPr/>
        </p:nvSpPr>
        <p:spPr>
          <a:xfrm>
            <a:off x="4122000" y="81792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1050" b="0" spc="0" dirty="0">
                <a:solidFill>
                  <a:srgbClr val="6D6E71"/>
                </a:solidFill>
                <a:latin typeface="Arial"/>
                <a:cs typeface="Arial"/>
              </a:rPr>
              <a:t>Támogatás mértéke</a:t>
            </a:r>
          </a:p>
        </p:txBody>
      </p:sp>
      <p:sp>
        <p:nvSpPr>
          <p:cNvPr id="40" name="Támogatás mértéke összeg"/>
          <p:cNvSpPr txBox="1"/>
          <p:nvPr/>
        </p:nvSpPr>
        <p:spPr>
          <a:xfrm>
            <a:off x="4122000" y="8179200"/>
            <a:ext cx="2826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1050" b="1" spc="0" dirty="0">
                <a:solidFill>
                  <a:srgbClr val="39BEB7"/>
                </a:solidFill>
                <a:latin typeface="Arial"/>
                <a:cs typeface="Arial"/>
              </a:rPr>
              <a:t>– 1 800 000 Ft</a:t>
            </a:r>
          </a:p>
        </p:txBody>
      </p:sp>
      <p:sp>
        <p:nvSpPr>
          <p:cNvPr id="41" name="Önerő sáv"/>
          <p:cNvSpPr/>
          <p:nvPr/>
        </p:nvSpPr>
        <p:spPr>
          <a:xfrm rot="10800000">
            <a:off x="3870000" y="8712000"/>
            <a:ext cx="3330000" cy="1296000"/>
          </a:xfrm>
          <a:prstGeom prst="round2SameRect">
            <a:avLst>
              <a:gd name="adj1" fmla="val 6111"/>
              <a:gd name="adj2" fmla="val 0"/>
            </a:avLst>
          </a:prstGeom>
          <a:solidFill>
            <a:srgbClr val="EE8A32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42" name="Önerő"/>
          <p:cNvSpPr txBox="1"/>
          <p:nvPr/>
        </p:nvSpPr>
        <p:spPr>
          <a:xfrm>
            <a:off x="4068000" y="8712000"/>
            <a:ext cx="2934000" cy="129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3000" b="1" spc="-30" dirty="0">
                <a:solidFill>
                  <a:srgbClr val="FFFFFF"/>
                </a:solidFill>
                <a:latin typeface="Arial"/>
                <a:cs typeface="Arial"/>
              </a:rPr>
              <a:t>450 000 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hu-HU" sz="1350" b="1" spc="0" dirty="0">
                <a:solidFill>
                  <a:srgbClr val="FFFFFF"/>
                </a:solidFill>
                <a:latin typeface="Arial"/>
                <a:cs typeface="Arial"/>
              </a:rPr>
              <a:t>önerővel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5709199" y="369609"/>
            <a:ext cx="148526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Spark</a:t>
            </a:r>
            <a:r>
              <a:rPr sz="900" b="1" spc="-3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39598"/>
                </a:solidFill>
                <a:latin typeface="Arial"/>
                <a:cs typeface="Arial"/>
              </a:rPr>
              <a:t>Electric</a:t>
            </a:r>
            <a:r>
              <a:rPr sz="900" b="1" spc="-2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939598"/>
                </a:solidFill>
                <a:latin typeface="Arial"/>
                <a:cs typeface="Arial"/>
              </a:rPr>
              <a:t>Kft.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1147</a:t>
            </a:r>
            <a:r>
              <a:rPr sz="900" spc="-4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Budapest,</a:t>
            </a:r>
            <a:endParaRPr sz="9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Telepes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utca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72-74.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psz.</a:t>
            </a:r>
            <a:r>
              <a:rPr sz="900" spc="-1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939598"/>
                </a:solidFill>
                <a:latin typeface="Arial"/>
                <a:cs typeface="Arial"/>
              </a:rPr>
              <a:t>37.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+36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20</a:t>
            </a:r>
            <a:r>
              <a:rPr sz="900" spc="-1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39598"/>
                </a:solidFill>
                <a:latin typeface="Arial"/>
                <a:cs typeface="Arial"/>
              </a:rPr>
              <a:t>409</a:t>
            </a:r>
            <a:r>
              <a:rPr sz="900" spc="-5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39598"/>
                </a:solidFill>
                <a:latin typeface="Arial"/>
                <a:cs typeface="Arial"/>
              </a:rPr>
              <a:t>0060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2728789" y="348762"/>
            <a:ext cx="197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39598"/>
                </a:solidFill>
                <a:latin typeface="Arial"/>
                <a:cs typeface="Arial"/>
                <a:hlinkClick r:id="rId2"/>
              </a:rPr>
              <a:t>www.akkumulator-tamogatas.hu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Cím"/>
          <p:cNvSpPr txBox="1"/>
          <p:nvPr/>
        </p:nvSpPr>
        <p:spPr>
          <a:xfrm>
            <a:off x="360000" y="1134000"/>
            <a:ext cx="6840000" cy="32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u-HU" sz="2200" b="1" spc="-40" dirty="0">
                <a:solidFill>
                  <a:srgbClr val="39BEB7"/>
                </a:solidFill>
                <a:latin typeface="Arial"/>
                <a:cs typeface="Arial"/>
              </a:rPr>
              <a:t>Akkumulátor csomagajánlatok</a:t>
            </a:r>
          </a:p>
        </p:txBody>
      </p:sp>
      <p:sp>
        <p:nvSpPr>
          <p:cNvPr id="6" name="Alcím"/>
          <p:cNvSpPr txBox="1"/>
          <p:nvPr/>
        </p:nvSpPr>
        <p:spPr>
          <a:xfrm>
            <a:off x="360000" y="1458000"/>
            <a:ext cx="6840000" cy="19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u-HU" sz="1100" b="0" spc="0" dirty="0">
                <a:solidFill>
                  <a:srgbClr val="6D6E71"/>
                </a:solidFill>
                <a:latin typeface="Arial"/>
                <a:cs typeface="Arial"/>
              </a:rPr>
              <a:t>1 800 000 Ft vissza nem térítendő támogatással – akár 0 Ft önerővel</a:t>
            </a:r>
          </a:p>
        </p:txBody>
      </p:sp>
      <p:sp>
        <p:nvSpPr>
          <p:cNvPr id="7" name="Deye SE-F16-C/MAX kártya"/>
          <p:cNvSpPr/>
          <p:nvPr/>
        </p:nvSpPr>
        <p:spPr>
          <a:xfrm>
            <a:off x="360000" y="1908000"/>
            <a:ext cx="2184000" cy="597600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9525">
            <a:solidFill>
              <a:srgbClr val="DDE3E3"/>
            </a:solidFill>
          </a:ln>
          <a:effectLst>
            <a:outerShdw blurRad="304800" dist="50800" dir="5400000" algn="t" rotWithShape="0">
              <a:srgbClr val="0B3B3E">
                <a:alpha val="7000"/>
              </a:srgbClr>
            </a:outerShdw>
          </a:effectLst>
        </p:spPr>
        <p:txBody>
          <a:bodyPr rtlCol="0" anchor="ctr"/>
          <a:lstStyle/>
          <a:p>
            <a:endParaRPr lang="hu-HU"/>
          </a:p>
        </p:txBody>
      </p:sp>
      <p:pic>
        <p:nvPicPr>
          <p:cNvPr id="8" name="Termékfotó" descr="Deye SE-F16-C akkumulá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2016000"/>
            <a:ext cx="1968000" cy="2484000"/>
          </a:xfrm>
          <a:prstGeom prst="rect">
            <a:avLst/>
          </a:prstGeom>
        </p:spPr>
      </p:pic>
      <p:sp>
        <p:nvSpPr>
          <p:cNvPr id="9" name="Illusztráció megjegyzés"/>
          <p:cNvSpPr txBox="1"/>
          <p:nvPr/>
        </p:nvSpPr>
        <p:spPr>
          <a:xfrm>
            <a:off x="468000" y="4510800"/>
            <a:ext cx="1968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700" b="0" spc="0" dirty="0">
                <a:solidFill>
                  <a:srgbClr val="939598"/>
                </a:solidFill>
                <a:latin typeface="Arial"/>
                <a:cs typeface="Arial"/>
              </a:rPr>
              <a:t>A termékmegjelenítés illusztráció.</a:t>
            </a:r>
          </a:p>
        </p:txBody>
      </p:sp>
      <p:sp>
        <p:nvSpPr>
          <p:cNvPr id="10" name="Kompatibilitás"/>
          <p:cNvSpPr txBox="1"/>
          <p:nvPr/>
        </p:nvSpPr>
        <p:spPr>
          <a:xfrm>
            <a:off x="522000" y="4698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750" b="1" spc="60" dirty="0">
                <a:solidFill>
                  <a:srgbClr val="39BEB7"/>
                </a:solidFill>
                <a:latin typeface="Arial"/>
                <a:cs typeface="Arial"/>
              </a:rPr>
              <a:t>DEYE LV INVERTERHEZ</a:t>
            </a:r>
          </a:p>
        </p:txBody>
      </p:sp>
      <p:sp>
        <p:nvSpPr>
          <p:cNvPr id="11" name="Termék neve"/>
          <p:cNvSpPr txBox="1"/>
          <p:nvPr/>
        </p:nvSpPr>
        <p:spPr>
          <a:xfrm>
            <a:off x="522000" y="4878000"/>
            <a:ext cx="1860000" cy="5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Deye SE-F16-C/MAX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12" name="Kapacitás címke"/>
          <p:cNvSpPr txBox="1"/>
          <p:nvPr/>
        </p:nvSpPr>
        <p:spPr>
          <a:xfrm>
            <a:off x="522000" y="5472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Kapacitás</a:t>
            </a:r>
          </a:p>
        </p:txBody>
      </p:sp>
      <p:sp>
        <p:nvSpPr>
          <p:cNvPr id="13" name="Kapacitás"/>
          <p:cNvSpPr txBox="1"/>
          <p:nvPr/>
        </p:nvSpPr>
        <p:spPr>
          <a:xfrm>
            <a:off x="522000" y="5616000"/>
            <a:ext cx="1860000" cy="34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231F20"/>
                </a:solidFill>
                <a:latin typeface="Arial"/>
                <a:cs typeface="Arial"/>
              </a:rPr>
              <a:t>16</a:t>
            </a:r>
            <a:r>
              <a:rPr lang="hu-HU" sz="1400" b="1" spc="0" dirty="0">
                <a:solidFill>
                  <a:srgbClr val="231F20"/>
                </a:solidFill>
                <a:latin typeface="Arial"/>
                <a:cs typeface="Arial"/>
              </a:rPr>
              <a:t> kWh</a:t>
            </a:r>
          </a:p>
        </p:txBody>
      </p:sp>
      <p:sp>
        <p:nvSpPr>
          <p:cNvPr id="14" name="Elválasztó vonal"/>
          <p:cNvSpPr/>
          <p:nvPr/>
        </p:nvSpPr>
        <p:spPr>
          <a:xfrm>
            <a:off x="522000" y="6048000"/>
            <a:ext cx="1860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5" name="Rendszer értéke"/>
          <p:cNvSpPr txBox="1"/>
          <p:nvPr/>
        </p:nvSpPr>
        <p:spPr>
          <a:xfrm>
            <a:off x="522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Rendszer értéke</a:t>
            </a:r>
          </a:p>
        </p:txBody>
      </p:sp>
      <p:sp>
        <p:nvSpPr>
          <p:cNvPr id="16" name="Rendszer értéke összeg"/>
          <p:cNvSpPr txBox="1"/>
          <p:nvPr/>
        </p:nvSpPr>
        <p:spPr>
          <a:xfrm>
            <a:off x="522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231F20"/>
                </a:solidFill>
                <a:latin typeface="Arial"/>
                <a:cs typeface="Arial"/>
              </a:rPr>
              <a:t>1 800 000 Ft</a:t>
            </a:r>
          </a:p>
        </p:txBody>
      </p:sp>
      <p:sp>
        <p:nvSpPr>
          <p:cNvPr id="17" name="Támogatás mértéke"/>
          <p:cNvSpPr txBox="1"/>
          <p:nvPr/>
        </p:nvSpPr>
        <p:spPr>
          <a:xfrm>
            <a:off x="522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Támogatás mértéke</a:t>
            </a:r>
          </a:p>
        </p:txBody>
      </p:sp>
      <p:sp>
        <p:nvSpPr>
          <p:cNvPr id="18" name="Támogatás mértéke összeg"/>
          <p:cNvSpPr txBox="1"/>
          <p:nvPr/>
        </p:nvSpPr>
        <p:spPr>
          <a:xfrm>
            <a:off x="522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39BEB7"/>
                </a:solidFill>
                <a:latin typeface="Arial"/>
                <a:cs typeface="Arial"/>
              </a:rPr>
              <a:t>– 1 800 000 Ft</a:t>
            </a:r>
          </a:p>
        </p:txBody>
      </p:sp>
      <p:sp>
        <p:nvSpPr>
          <p:cNvPr id="19" name="Önerő sáv"/>
          <p:cNvSpPr/>
          <p:nvPr/>
        </p:nvSpPr>
        <p:spPr>
          <a:xfrm rot="10800000">
            <a:off x="360000" y="6876000"/>
            <a:ext cx="2184000" cy="1008000"/>
          </a:xfrm>
          <a:prstGeom prst="round2SameRect">
            <a:avLst>
              <a:gd name="adj1" fmla="val 7857"/>
              <a:gd name="adj2" fmla="val 0"/>
            </a:avLst>
          </a:prstGeom>
          <a:solidFill>
            <a:srgbClr val="EE8A32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0" name="Önerő"/>
          <p:cNvSpPr txBox="1"/>
          <p:nvPr/>
        </p:nvSpPr>
        <p:spPr>
          <a:xfrm>
            <a:off x="558000" y="6876000"/>
            <a:ext cx="1788000" cy="10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FFFFFF"/>
                </a:solidFill>
                <a:latin typeface="Arial"/>
                <a:cs typeface="Arial"/>
              </a:rPr>
              <a:t>0 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hu-HU" sz="1170" b="1" spc="0" dirty="0">
                <a:solidFill>
                  <a:srgbClr val="FFFFFF"/>
                </a:solidFill>
                <a:latin typeface="Arial"/>
                <a:cs typeface="Arial"/>
              </a:rPr>
              <a:t>önerővel</a:t>
            </a:r>
          </a:p>
        </p:txBody>
      </p:sp>
      <p:sp>
        <p:nvSpPr>
          <p:cNvPr id="21" name="FoxESS EP12 kártya"/>
          <p:cNvSpPr/>
          <p:nvPr/>
        </p:nvSpPr>
        <p:spPr>
          <a:xfrm>
            <a:off x="2688000" y="1908000"/>
            <a:ext cx="2184000" cy="597600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9525">
            <a:solidFill>
              <a:srgbClr val="DDE3E3"/>
            </a:solidFill>
          </a:ln>
          <a:effectLst>
            <a:outerShdw blurRad="304800" dist="50800" dir="5400000" algn="t" rotWithShape="0">
              <a:srgbClr val="0B3B3E">
                <a:alpha val="7000"/>
              </a:srgbClr>
            </a:outerShdw>
          </a:effectLst>
        </p:spPr>
        <p:txBody>
          <a:bodyPr rtlCol="0" anchor="ctr"/>
          <a:lstStyle/>
          <a:p>
            <a:endParaRPr lang="hu-HU"/>
          </a:p>
        </p:txBody>
      </p:sp>
      <p:pic>
        <p:nvPicPr>
          <p:cNvPr id="22" name="Termékfotó" descr="FoxESS EP12 akkumulá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000" y="2016000"/>
            <a:ext cx="1968000" cy="2484000"/>
          </a:xfrm>
          <a:prstGeom prst="rect">
            <a:avLst/>
          </a:prstGeom>
        </p:spPr>
      </p:pic>
      <p:sp>
        <p:nvSpPr>
          <p:cNvPr id="23" name="Illusztráció megjegyzés"/>
          <p:cNvSpPr txBox="1"/>
          <p:nvPr/>
        </p:nvSpPr>
        <p:spPr>
          <a:xfrm>
            <a:off x="2796000" y="4510800"/>
            <a:ext cx="1968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700" b="0" spc="0" dirty="0">
                <a:solidFill>
                  <a:srgbClr val="939598"/>
                </a:solidFill>
                <a:latin typeface="Arial"/>
                <a:cs typeface="Arial"/>
              </a:rPr>
              <a:t>A termékmegjelenítés illusztráció.</a:t>
            </a:r>
          </a:p>
        </p:txBody>
      </p:sp>
      <p:sp>
        <p:nvSpPr>
          <p:cNvPr id="24" name="Kompatibilitás"/>
          <p:cNvSpPr txBox="1"/>
          <p:nvPr/>
        </p:nvSpPr>
        <p:spPr>
          <a:xfrm>
            <a:off x="2850000" y="4698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750" b="1" spc="60" dirty="0">
                <a:solidFill>
                  <a:srgbClr val="39BEB7"/>
                </a:solidFill>
                <a:latin typeface="Arial"/>
                <a:cs typeface="Arial"/>
              </a:rPr>
              <a:t>FOXESS HIBRID INVERTERHEZ</a:t>
            </a:r>
          </a:p>
        </p:txBody>
      </p:sp>
      <p:sp>
        <p:nvSpPr>
          <p:cNvPr id="25" name="Termék neve"/>
          <p:cNvSpPr txBox="1"/>
          <p:nvPr/>
        </p:nvSpPr>
        <p:spPr>
          <a:xfrm>
            <a:off x="2850000" y="4878000"/>
            <a:ext cx="1860000" cy="5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FoxESS EP12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akkumulátor</a:t>
            </a:r>
          </a:p>
        </p:txBody>
      </p:sp>
      <p:sp>
        <p:nvSpPr>
          <p:cNvPr id="26" name="Kapacitás címke"/>
          <p:cNvSpPr txBox="1"/>
          <p:nvPr/>
        </p:nvSpPr>
        <p:spPr>
          <a:xfrm>
            <a:off x="2850000" y="5472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Kapacitás</a:t>
            </a:r>
          </a:p>
        </p:txBody>
      </p:sp>
      <p:sp>
        <p:nvSpPr>
          <p:cNvPr id="27" name="Kapacitás"/>
          <p:cNvSpPr txBox="1"/>
          <p:nvPr/>
        </p:nvSpPr>
        <p:spPr>
          <a:xfrm>
            <a:off x="2850000" y="5616000"/>
            <a:ext cx="1860000" cy="34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231F20"/>
                </a:solidFill>
                <a:latin typeface="Arial"/>
                <a:cs typeface="Arial"/>
              </a:rPr>
              <a:t>11,5</a:t>
            </a:r>
            <a:r>
              <a:rPr lang="hu-HU" sz="1400" b="1" spc="0" dirty="0">
                <a:solidFill>
                  <a:srgbClr val="231F20"/>
                </a:solidFill>
                <a:latin typeface="Arial"/>
                <a:cs typeface="Arial"/>
              </a:rPr>
              <a:t> kWh</a:t>
            </a:r>
          </a:p>
        </p:txBody>
      </p:sp>
      <p:sp>
        <p:nvSpPr>
          <p:cNvPr id="28" name="Elválasztó vonal"/>
          <p:cNvSpPr/>
          <p:nvPr/>
        </p:nvSpPr>
        <p:spPr>
          <a:xfrm>
            <a:off x="2850000" y="6048000"/>
            <a:ext cx="1860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9" name="Rendszer értéke"/>
          <p:cNvSpPr txBox="1"/>
          <p:nvPr/>
        </p:nvSpPr>
        <p:spPr>
          <a:xfrm>
            <a:off x="2850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Rendszer értéke</a:t>
            </a:r>
          </a:p>
        </p:txBody>
      </p:sp>
      <p:sp>
        <p:nvSpPr>
          <p:cNvPr id="30" name="Rendszer értéke összeg"/>
          <p:cNvSpPr txBox="1"/>
          <p:nvPr/>
        </p:nvSpPr>
        <p:spPr>
          <a:xfrm>
            <a:off x="2850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231F20"/>
                </a:solidFill>
                <a:latin typeface="Arial"/>
                <a:cs typeface="Arial"/>
              </a:rPr>
              <a:t>1 800 000 Ft</a:t>
            </a:r>
          </a:p>
        </p:txBody>
      </p:sp>
      <p:sp>
        <p:nvSpPr>
          <p:cNvPr id="31" name="Támogatás mértéke"/>
          <p:cNvSpPr txBox="1"/>
          <p:nvPr/>
        </p:nvSpPr>
        <p:spPr>
          <a:xfrm>
            <a:off x="2850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Támogatás mértéke</a:t>
            </a:r>
          </a:p>
        </p:txBody>
      </p:sp>
      <p:sp>
        <p:nvSpPr>
          <p:cNvPr id="32" name="Támogatás mértéke összeg"/>
          <p:cNvSpPr txBox="1"/>
          <p:nvPr/>
        </p:nvSpPr>
        <p:spPr>
          <a:xfrm>
            <a:off x="2850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39BEB7"/>
                </a:solidFill>
                <a:latin typeface="Arial"/>
                <a:cs typeface="Arial"/>
              </a:rPr>
              <a:t>– 1 800 000 Ft</a:t>
            </a:r>
          </a:p>
        </p:txBody>
      </p:sp>
      <p:sp>
        <p:nvSpPr>
          <p:cNvPr id="33" name="Önerő sáv"/>
          <p:cNvSpPr/>
          <p:nvPr/>
        </p:nvSpPr>
        <p:spPr>
          <a:xfrm rot="10800000">
            <a:off x="2688000" y="6876000"/>
            <a:ext cx="2184000" cy="1008000"/>
          </a:xfrm>
          <a:prstGeom prst="round2SameRect">
            <a:avLst>
              <a:gd name="adj1" fmla="val 7857"/>
              <a:gd name="adj2" fmla="val 0"/>
            </a:avLst>
          </a:prstGeom>
          <a:solidFill>
            <a:srgbClr val="EE8A32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34" name="Önerő"/>
          <p:cNvSpPr txBox="1"/>
          <p:nvPr/>
        </p:nvSpPr>
        <p:spPr>
          <a:xfrm>
            <a:off x="2886000" y="6876000"/>
            <a:ext cx="1788000" cy="10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FFFFFF"/>
                </a:solidFill>
                <a:latin typeface="Arial"/>
                <a:cs typeface="Arial"/>
              </a:rPr>
              <a:t>0 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hu-HU" sz="1170" b="1" spc="0" dirty="0">
                <a:solidFill>
                  <a:srgbClr val="FFFFFF"/>
                </a:solidFill>
                <a:latin typeface="Arial"/>
                <a:cs typeface="Arial"/>
              </a:rPr>
              <a:t>önerővel</a:t>
            </a:r>
          </a:p>
        </p:txBody>
      </p:sp>
      <p:sp>
        <p:nvSpPr>
          <p:cNvPr id="35" name="Huawei LUNA2000-5-E1 kártya"/>
          <p:cNvSpPr/>
          <p:nvPr/>
        </p:nvSpPr>
        <p:spPr>
          <a:xfrm>
            <a:off x="5016000" y="1908000"/>
            <a:ext cx="2184000" cy="597600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9525">
            <a:solidFill>
              <a:srgbClr val="DDE3E3"/>
            </a:solidFill>
          </a:ln>
          <a:effectLst>
            <a:outerShdw blurRad="304800" dist="50800" dir="5400000" algn="t" rotWithShape="0">
              <a:srgbClr val="0B3B3E">
                <a:alpha val="7000"/>
              </a:srgbClr>
            </a:outerShdw>
          </a:effectLst>
        </p:spPr>
        <p:txBody>
          <a:bodyPr rtlCol="0" anchor="ctr"/>
          <a:lstStyle/>
          <a:p>
            <a:endParaRPr lang="hu-HU"/>
          </a:p>
        </p:txBody>
      </p:sp>
      <p:pic>
        <p:nvPicPr>
          <p:cNvPr id="36" name="Termékfotó" descr="Huawei LUNA2000 akkumulá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000" y="2016000"/>
            <a:ext cx="1968000" cy="2484000"/>
          </a:xfrm>
          <a:prstGeom prst="rect">
            <a:avLst/>
          </a:prstGeom>
        </p:spPr>
      </p:pic>
      <p:sp>
        <p:nvSpPr>
          <p:cNvPr id="37" name="Illusztráció megjegyzés"/>
          <p:cNvSpPr txBox="1"/>
          <p:nvPr/>
        </p:nvSpPr>
        <p:spPr>
          <a:xfrm>
            <a:off x="5124000" y="4510800"/>
            <a:ext cx="1968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700" b="0" spc="0" dirty="0">
                <a:solidFill>
                  <a:srgbClr val="939598"/>
                </a:solidFill>
                <a:latin typeface="Arial"/>
                <a:cs typeface="Arial"/>
              </a:rPr>
              <a:t>A termékmegjelenítés illusztráció.</a:t>
            </a:r>
          </a:p>
        </p:txBody>
      </p:sp>
      <p:sp>
        <p:nvSpPr>
          <p:cNvPr id="38" name="Kompatibilitás"/>
          <p:cNvSpPr txBox="1"/>
          <p:nvPr/>
        </p:nvSpPr>
        <p:spPr>
          <a:xfrm>
            <a:off x="5178000" y="4698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750" b="1" spc="60" dirty="0">
                <a:solidFill>
                  <a:srgbClr val="39BEB7"/>
                </a:solidFill>
                <a:latin typeface="Arial"/>
                <a:cs typeface="Arial"/>
              </a:rPr>
              <a:t>HUAWEI SUN2000 INVERTERHEZ</a:t>
            </a:r>
          </a:p>
        </p:txBody>
      </p:sp>
      <p:sp>
        <p:nvSpPr>
          <p:cNvPr id="39" name="Termék neve"/>
          <p:cNvSpPr txBox="1"/>
          <p:nvPr/>
        </p:nvSpPr>
        <p:spPr>
          <a:xfrm>
            <a:off x="5178000" y="4878000"/>
            <a:ext cx="1860000" cy="5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Huawei LUNA2000-5-E1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akkumulátor (2 db) +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150" b="1" spc="-15" dirty="0">
                <a:solidFill>
                  <a:srgbClr val="231F20"/>
                </a:solidFill>
                <a:latin typeface="Arial"/>
                <a:cs typeface="Arial"/>
              </a:rPr>
              <a:t>LUNA2000-10kW-C1 BMS</a:t>
            </a:r>
          </a:p>
        </p:txBody>
      </p:sp>
      <p:sp>
        <p:nvSpPr>
          <p:cNvPr id="40" name="Kapacitás címke"/>
          <p:cNvSpPr txBox="1"/>
          <p:nvPr/>
        </p:nvSpPr>
        <p:spPr>
          <a:xfrm>
            <a:off x="5178000" y="5472000"/>
            <a:ext cx="1860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Kapacitás</a:t>
            </a:r>
          </a:p>
        </p:txBody>
      </p:sp>
      <p:sp>
        <p:nvSpPr>
          <p:cNvPr id="41" name="Kapacitás"/>
          <p:cNvSpPr txBox="1"/>
          <p:nvPr/>
        </p:nvSpPr>
        <p:spPr>
          <a:xfrm>
            <a:off x="5178000" y="5616000"/>
            <a:ext cx="1860000" cy="34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lang="hu-HU" sz="1400" b="1" spc="0" dirty="0">
                <a:solidFill>
                  <a:srgbClr val="231F20"/>
                </a:solidFill>
                <a:latin typeface="Arial"/>
                <a:cs typeface="Arial"/>
              </a:rPr>
              <a:t> kWh</a:t>
            </a:r>
          </a:p>
        </p:txBody>
      </p:sp>
      <p:sp>
        <p:nvSpPr>
          <p:cNvPr id="42" name="Elválasztó vonal"/>
          <p:cNvSpPr/>
          <p:nvPr/>
        </p:nvSpPr>
        <p:spPr>
          <a:xfrm>
            <a:off x="5178000" y="6048000"/>
            <a:ext cx="1860000" cy="6480"/>
          </a:xfrm>
          <a:prstGeom prst="rect">
            <a:avLst/>
          </a:prstGeom>
          <a:solidFill>
            <a:srgbClr val="E3E7E8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43" name="Rendszer értéke"/>
          <p:cNvSpPr txBox="1"/>
          <p:nvPr/>
        </p:nvSpPr>
        <p:spPr>
          <a:xfrm>
            <a:off x="5178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Rendszer értéke</a:t>
            </a:r>
          </a:p>
        </p:txBody>
      </p:sp>
      <p:sp>
        <p:nvSpPr>
          <p:cNvPr id="44" name="Rendszer értéke összeg"/>
          <p:cNvSpPr txBox="1"/>
          <p:nvPr/>
        </p:nvSpPr>
        <p:spPr>
          <a:xfrm>
            <a:off x="5178000" y="61308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231F20"/>
                </a:solidFill>
                <a:latin typeface="Arial"/>
                <a:cs typeface="Arial"/>
              </a:rPr>
              <a:t>2 790 000 Ft</a:t>
            </a:r>
          </a:p>
        </p:txBody>
      </p:sp>
      <p:sp>
        <p:nvSpPr>
          <p:cNvPr id="45" name="Támogatás mértéke"/>
          <p:cNvSpPr txBox="1"/>
          <p:nvPr/>
        </p:nvSpPr>
        <p:spPr>
          <a:xfrm>
            <a:off x="5178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900" b="0" spc="0" dirty="0">
                <a:solidFill>
                  <a:srgbClr val="6D6E71"/>
                </a:solidFill>
                <a:latin typeface="Arial"/>
                <a:cs typeface="Arial"/>
              </a:rPr>
              <a:t>Támogatás mértéke</a:t>
            </a:r>
          </a:p>
        </p:txBody>
      </p:sp>
      <p:sp>
        <p:nvSpPr>
          <p:cNvPr id="46" name="Támogatás mértéke összeg"/>
          <p:cNvSpPr txBox="1"/>
          <p:nvPr/>
        </p:nvSpPr>
        <p:spPr>
          <a:xfrm>
            <a:off x="5178000" y="6354000"/>
            <a:ext cx="18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u-HU" sz="900" b="1" spc="0" dirty="0">
                <a:solidFill>
                  <a:srgbClr val="39BEB7"/>
                </a:solidFill>
                <a:latin typeface="Arial"/>
                <a:cs typeface="Arial"/>
              </a:rPr>
              <a:t>– 1 800 000 Ft</a:t>
            </a:r>
          </a:p>
        </p:txBody>
      </p:sp>
      <p:sp>
        <p:nvSpPr>
          <p:cNvPr id="47" name="Önerő sáv"/>
          <p:cNvSpPr/>
          <p:nvPr/>
        </p:nvSpPr>
        <p:spPr>
          <a:xfrm rot="10800000">
            <a:off x="5016000" y="6876000"/>
            <a:ext cx="2184000" cy="1008000"/>
          </a:xfrm>
          <a:prstGeom prst="round2SameRect">
            <a:avLst>
              <a:gd name="adj1" fmla="val 7857"/>
              <a:gd name="adj2" fmla="val 0"/>
            </a:avLst>
          </a:prstGeom>
          <a:solidFill>
            <a:srgbClr val="EE8A32"/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48" name="Önerő"/>
          <p:cNvSpPr txBox="1"/>
          <p:nvPr/>
        </p:nvSpPr>
        <p:spPr>
          <a:xfrm>
            <a:off x="5214000" y="6876000"/>
            <a:ext cx="1788000" cy="10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2600" b="1" spc="-30" dirty="0">
                <a:solidFill>
                  <a:srgbClr val="FFFFFF"/>
                </a:solidFill>
                <a:latin typeface="Arial"/>
                <a:cs typeface="Arial"/>
              </a:rPr>
              <a:t>990 000 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hu-HU" sz="1170" b="1" spc="0" dirty="0">
                <a:solidFill>
                  <a:srgbClr val="FFFFFF"/>
                </a:solidFill>
                <a:latin typeface="Arial"/>
                <a:cs typeface="Arial"/>
              </a:rPr>
              <a:t>önerővel</a:t>
            </a:r>
          </a:p>
        </p:txBody>
      </p:sp>
      <p:pic>
        <p:nvPicPr>
          <p:cNvPr id="49" name="Kapcsolat sáv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80000"/>
            <a:ext cx="7556400" cy="2412000"/>
          </a:xfrm>
          <a:prstGeom prst="rect">
            <a:avLst/>
          </a:prstGeom>
        </p:spPr>
      </p:pic>
      <p:sp>
        <p:nvSpPr>
          <p:cNvPr id="50" name="Kapcsolat cím"/>
          <p:cNvSpPr txBox="1"/>
          <p:nvPr/>
        </p:nvSpPr>
        <p:spPr>
          <a:xfrm>
            <a:off x="540000" y="8730000"/>
            <a:ext cx="3708000" cy="28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1800" b="1" spc="-20" dirty="0">
                <a:solidFill>
                  <a:srgbClr val="FFFFFF"/>
                </a:solidFill>
                <a:latin typeface="Arial"/>
                <a:cs typeface="Arial"/>
              </a:rPr>
              <a:t>Melyik csomagot választja?</a:t>
            </a:r>
          </a:p>
        </p:txBody>
      </p:sp>
      <p:sp>
        <p:nvSpPr>
          <p:cNvPr id="51" name="Kapcsolat szöveg"/>
          <p:cNvSpPr txBox="1"/>
          <p:nvPr/>
        </p:nvSpPr>
        <p:spPr>
          <a:xfrm>
            <a:off x="540000" y="9072000"/>
            <a:ext cx="3708000" cy="9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lang="hu-HU" sz="1050" b="0" spc="0" dirty="0">
                <a:solidFill>
                  <a:srgbClr val="FFFFFF"/>
                </a:solidFill>
                <a:latin typeface="Arial"/>
                <a:cs typeface="Arial"/>
              </a:rPr>
              <a:t>A megrendelés előkészítéséhez kérjük, szíveskedjen visszajelezni, melyik csomagot kívánja igénybe venni.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050" b="0" spc="0" dirty="0">
                <a:solidFill>
                  <a:srgbClr val="FFFFFF"/>
                </a:solidFill>
                <a:latin typeface="Arial"/>
                <a:cs typeface="Arial"/>
              </a:rPr>
              <a:t>Kollégáink e-mailben vagy telefonon készséggel állnak rendelkezésére.</a:t>
            </a:r>
          </a:p>
        </p:txBody>
      </p:sp>
      <p:sp>
        <p:nvSpPr>
          <p:cNvPr id="52" name="Elválasztó"/>
          <p:cNvSpPr/>
          <p:nvPr/>
        </p:nvSpPr>
        <p:spPr>
          <a:xfrm>
            <a:off x="4536000" y="8766000"/>
            <a:ext cx="7200" cy="1296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53" name="Elérhetőség"/>
          <p:cNvSpPr txBox="1"/>
          <p:nvPr/>
        </p:nvSpPr>
        <p:spPr>
          <a:xfrm>
            <a:off x="4788000" y="8730000"/>
            <a:ext cx="2304000" cy="13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hu-HU" sz="800" b="1" spc="150" dirty="0">
                <a:solidFill>
                  <a:srgbClr val="FFFFFF"/>
                </a:solidFill>
                <a:latin typeface="Arial"/>
                <a:cs typeface="Arial"/>
              </a:rPr>
              <a:t>KAPCSOLAT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hu-HU" sz="1300" b="1" spc="0" dirty="0">
                <a:solidFill>
                  <a:srgbClr val="FFFFFF"/>
                </a:solidFill>
                <a:latin typeface="Arial"/>
                <a:cs typeface="Arial"/>
              </a:rPr>
              <a:t>Spark Electric Kft.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lang="hu-HU" sz="1600" b="1" spc="0" dirty="0">
                <a:solidFill>
                  <a:srgbClr val="FFFFFF"/>
                </a:solidFill>
                <a:latin typeface="Arial"/>
                <a:cs typeface="Arial"/>
              </a:rPr>
              <a:t>+36 20 409 0060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lang="hu-HU" sz="1000" b="0" spc="0" dirty="0">
                <a:solidFill>
                  <a:srgbClr val="FFFFFF"/>
                </a:solidFill>
                <a:latin typeface="Arial"/>
                <a:cs typeface="Arial"/>
              </a:rPr>
              <a:t>sparkvill@akkumulátor-tamogatas.hu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687</Words>
  <Application>Microsoft Office PowerPoint</Application>
  <PresentationFormat>Egyéni</PresentationFormat>
  <Paragraphs>146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O365 felhasználó</cp:lastModifiedBy>
  <cp:revision>9</cp:revision>
  <dcterms:created xsi:type="dcterms:W3CDTF">2026-01-08T11:43:34Z</dcterms:created>
  <dcterms:modified xsi:type="dcterms:W3CDTF">2026-10-10T09:29:18Z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2026-01-08T00:00:00Z</vt:filetime>
  </property>
  <property fmtid="{D5CDD505-2E9C-101B-9397-08002B2CF9AE}" pid="5" name="Producer">
    <vt:lpwstr>Adobe PDF Library 17.0</vt:lpwstr>
  </property>
</Properties>
</file>