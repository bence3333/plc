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7" d="100"/>
          <a:sy n="97" d="100"/>
        </p:scale>
        <p:origin x="4194" y="10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60005" cy="10692002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7559992" cy="5400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25500" y="222808"/>
            <a:ext cx="1285198" cy="31871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akkumulator-tamogatas.hu/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jpg"/><Relationship Id="rId11" Type="http://schemas.openxmlformats.org/officeDocument/2006/relationships/image" Target="../media/image10.png"/><Relationship Id="rId5" Type="http://schemas.openxmlformats.org/officeDocument/2006/relationships/hyperlink" Target="http://www.akkumulator-tamogatas.hu/" TargetMode="External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jpg"/><Relationship Id="rId7" Type="http://schemas.openxmlformats.org/officeDocument/2006/relationships/image" Target="../media/image15.png"/><Relationship Id="rId2" Type="http://schemas.openxmlformats.org/officeDocument/2006/relationships/hyperlink" Target="http://www.akkumulator-tamogatas.hu/" TargetMode="Externa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://www.akkumulator-tamogatas.hu/" TargetMode="Externa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1.jpeg"/><Relationship Id="rId5" Type="http://schemas.openxmlformats.org/officeDocument/2006/relationships/image" Target="../media/image20.jpg"/><Relationship Id="rId4" Type="http://schemas.openxmlformats.org/officeDocument/2006/relationships/image" Target="../media/image19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://www.akkumulator-tamogatas.hu/" TargetMode="External"/><Relationship Id="rId3" Type="http://schemas.openxmlformats.org/officeDocument/2006/relationships/image" Target="../media/s5_bg.png"/><Relationship Id="rId4" Type="http://schemas.openxmlformats.org/officeDocument/2006/relationships/image" Target="../media/s5_logo.png"/><Relationship Id="rId5" Type="http://schemas.openxmlformats.org/officeDocument/2006/relationships/image" Target="../media/s5_bolt.png"/><Relationship Id="rId6" Type="http://schemas.openxmlformats.org/officeDocument/2006/relationships/image" Target="../media/s5_batt.png"/><Relationship Id="rId7" Type="http://schemas.openxmlformats.org/officeDocument/2006/relationships/image" Target="../media/s5_check.png"/><Relationship Id="rId8" Type="http://schemas.openxmlformats.org/officeDocument/2006/relationships/image" Target="../media/s5_fox.png"/><Relationship Id="rId9" Type="http://schemas.openxmlformats.org/officeDocument/2006/relationships/image" Target="../media/s5_deye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://www.akkumulator-tamogatas.hu/" TargetMode="External"/><Relationship Id="rId3" Type="http://schemas.openxmlformats.org/officeDocument/2006/relationships/image" Target="../media/s6_bg.png"/><Relationship Id="rId4" Type="http://schemas.openxmlformats.org/officeDocument/2006/relationships/image" Target="../media/s6_logo.png"/><Relationship Id="rId5" Type="http://schemas.openxmlformats.org/officeDocument/2006/relationships/image" Target="../media/s6_bolt.png"/><Relationship Id="rId6" Type="http://schemas.openxmlformats.org/officeDocument/2006/relationships/image" Target="../media/s6_batt.png"/><Relationship Id="rId7" Type="http://schemas.openxmlformats.org/officeDocument/2006/relationships/image" Target="../media/s6_check.png"/><Relationship Id="rId8" Type="http://schemas.openxmlformats.org/officeDocument/2006/relationships/image" Target="../media/s6_f16.png"/><Relationship Id="rId9" Type="http://schemas.openxmlformats.org/officeDocument/2006/relationships/image" Target="../media/s6_ep12.png"/><Relationship Id="rId10" Type="http://schemas.openxmlformats.org/officeDocument/2006/relationships/image" Target="../media/s6_luna.png"/><Relationship Id="rId11" Type="http://schemas.openxmlformats.org/officeDocument/2006/relationships/image" Target="../media/s6_phone.png"/><Relationship Id="rId12" Type="http://schemas.openxmlformats.org/officeDocument/2006/relationships/image" Target="../media/s6_mail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7560005" cy="106920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3176479" y="8030609"/>
            <a:ext cx="341312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75789" algn="l"/>
              </a:tabLst>
            </a:pPr>
            <a:r>
              <a:rPr sz="4800" b="1" spc="-10" dirty="0">
                <a:latin typeface="Arial"/>
                <a:cs typeface="Arial"/>
              </a:rPr>
              <a:t>Spark</a:t>
            </a:r>
            <a:r>
              <a:rPr sz="4800" b="1" dirty="0">
                <a:latin typeface="Arial"/>
                <a:cs typeface="Arial"/>
              </a:rPr>
              <a:t>	</a:t>
            </a:r>
            <a:r>
              <a:rPr sz="4800" b="1" spc="-10" dirty="0">
                <a:latin typeface="Arial"/>
                <a:cs typeface="Arial"/>
              </a:rPr>
              <a:t>Solar</a:t>
            </a:r>
            <a:endParaRPr sz="4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054657" y="8729109"/>
            <a:ext cx="3536950" cy="13030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065">
              <a:lnSpc>
                <a:spcPct val="100000"/>
              </a:lnSpc>
              <a:spcBef>
                <a:spcPts val="100"/>
              </a:spcBef>
            </a:pPr>
            <a:r>
              <a:rPr sz="3300" b="1" spc="-10" dirty="0">
                <a:solidFill>
                  <a:srgbClr val="FFFFFF"/>
                </a:solidFill>
                <a:latin typeface="Arial"/>
                <a:cs typeface="Arial"/>
              </a:rPr>
              <a:t>csomagajánlatok</a:t>
            </a:r>
            <a:endParaRPr sz="3300">
              <a:latin typeface="Arial"/>
              <a:cs typeface="Arial"/>
            </a:endParaRPr>
          </a:p>
          <a:p>
            <a:pPr marL="12700" marR="5080" indent="28575">
              <a:lnSpc>
                <a:spcPct val="101800"/>
              </a:lnSpc>
              <a:spcBef>
                <a:spcPts val="1700"/>
              </a:spcBef>
            </a:pPr>
            <a:r>
              <a:rPr sz="1800" b="1" spc="-10" dirty="0">
                <a:solidFill>
                  <a:srgbClr val="FFFFFF"/>
                </a:solidFill>
                <a:latin typeface="Arial"/>
                <a:cs typeface="Arial"/>
              </a:rPr>
              <a:t>Napelem-</a:t>
            </a:r>
            <a:r>
              <a:rPr sz="1800" b="1" dirty="0">
                <a:solidFill>
                  <a:srgbClr val="FFFFFF"/>
                </a:solidFill>
                <a:latin typeface="Arial"/>
                <a:cs typeface="Arial"/>
              </a:rPr>
              <a:t>akkumlátor</a:t>
            </a:r>
            <a:r>
              <a:rPr sz="1800" b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FFFFFF"/>
                </a:solidFill>
                <a:latin typeface="Arial"/>
                <a:cs typeface="Arial"/>
              </a:rPr>
              <a:t>rendszerre </a:t>
            </a:r>
            <a:r>
              <a:rPr sz="1800" b="1" spc="-10" dirty="0">
                <a:solidFill>
                  <a:srgbClr val="FFFFFF"/>
                </a:solidFill>
                <a:latin typeface="Arial"/>
                <a:cs typeface="Arial"/>
                <a:hlinkClick r:id="rId3"/>
              </a:rPr>
              <a:t>www.akkumulator-tamogatas.hu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7560005" cy="10692002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6336004"/>
            <a:ext cx="7560309" cy="4356100"/>
          </a:xfrm>
          <a:custGeom>
            <a:avLst/>
            <a:gdLst/>
            <a:ahLst/>
            <a:cxnLst/>
            <a:rect l="l" t="t" r="r" b="b"/>
            <a:pathLst>
              <a:path w="7560309" h="4356100">
                <a:moveTo>
                  <a:pt x="7559992" y="0"/>
                </a:moveTo>
                <a:lnTo>
                  <a:pt x="0" y="0"/>
                </a:lnTo>
                <a:lnTo>
                  <a:pt x="0" y="4355998"/>
                </a:lnTo>
                <a:lnTo>
                  <a:pt x="7559992" y="4355998"/>
                </a:lnTo>
                <a:lnTo>
                  <a:pt x="7559992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0"/>
            <a:ext cx="7559992" cy="540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25500" y="222808"/>
            <a:ext cx="1285198" cy="31871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5709199" y="369609"/>
            <a:ext cx="148526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dirty="0">
                <a:solidFill>
                  <a:srgbClr val="939598"/>
                </a:solidFill>
                <a:latin typeface="Arial"/>
                <a:cs typeface="Arial"/>
              </a:rPr>
              <a:t>Spark</a:t>
            </a:r>
            <a:r>
              <a:rPr sz="900" b="1" spc="-3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939598"/>
                </a:solidFill>
                <a:latin typeface="Arial"/>
                <a:cs typeface="Arial"/>
              </a:rPr>
              <a:t>Electric</a:t>
            </a:r>
            <a:r>
              <a:rPr sz="900" b="1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939598"/>
                </a:solidFill>
                <a:latin typeface="Arial"/>
                <a:cs typeface="Arial"/>
              </a:rPr>
              <a:t>Kft.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1147</a:t>
            </a:r>
            <a:r>
              <a:rPr sz="900" spc="-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Budapest,</a:t>
            </a:r>
            <a:endParaRPr sz="900">
              <a:latin typeface="Arial"/>
              <a:cs typeface="Arial"/>
            </a:endParaRPr>
          </a:p>
          <a:p>
            <a:pPr marL="41910">
              <a:lnSpc>
                <a:spcPct val="100000"/>
              </a:lnSpc>
              <a:spcBef>
                <a:spcPts val="20"/>
              </a:spcBef>
            </a:pP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Telepes</a:t>
            </a:r>
            <a:r>
              <a:rPr sz="900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utca</a:t>
            </a:r>
            <a:r>
              <a:rPr sz="900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72-74.</a:t>
            </a: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psz.</a:t>
            </a:r>
            <a:r>
              <a:rPr sz="900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939598"/>
                </a:solidFill>
                <a:latin typeface="Arial"/>
                <a:cs typeface="Arial"/>
              </a:rPr>
              <a:t>37.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+36</a:t>
            </a: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20</a:t>
            </a: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409</a:t>
            </a:r>
            <a:r>
              <a:rPr sz="900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939598"/>
                </a:solidFill>
                <a:latin typeface="Arial"/>
                <a:cs typeface="Arial"/>
              </a:rPr>
              <a:t>0060</a:t>
            </a:r>
            <a:endParaRPr sz="9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728789" y="348762"/>
            <a:ext cx="197612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939598"/>
                </a:solidFill>
                <a:latin typeface="Arial"/>
                <a:cs typeface="Arial"/>
                <a:hlinkClick r:id="rId5"/>
              </a:rPr>
              <a:t>www.akkumulator-tamogatas.hu</a:t>
            </a:r>
            <a:endParaRPr sz="100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83463" y="7229233"/>
            <a:ext cx="6572288" cy="2875546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529041" y="6588309"/>
            <a:ext cx="25380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EA24C"/>
                </a:solidFill>
                <a:latin typeface="Arial"/>
                <a:cs typeface="Arial"/>
              </a:rPr>
              <a:t>A</a:t>
            </a:r>
            <a:r>
              <a:rPr sz="2400" b="1" spc="-110" dirty="0">
                <a:solidFill>
                  <a:srgbClr val="FEA24C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EA24C"/>
                </a:solidFill>
                <a:latin typeface="Arial"/>
                <a:cs typeface="Arial"/>
              </a:rPr>
              <a:t>teljes</a:t>
            </a:r>
            <a:r>
              <a:rPr sz="2400" b="1" spc="-25" dirty="0">
                <a:solidFill>
                  <a:srgbClr val="FEA24C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EA24C"/>
                </a:solidFill>
                <a:latin typeface="Arial"/>
                <a:cs typeface="Arial"/>
              </a:rPr>
              <a:t>folyamat:</a:t>
            </a:r>
            <a:endParaRPr sz="24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522203" y="1192508"/>
            <a:ext cx="2515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EA24C"/>
                </a:solidFill>
                <a:latin typeface="Arial"/>
                <a:cs typeface="Arial"/>
              </a:rPr>
              <a:t>Az</a:t>
            </a:r>
            <a:r>
              <a:rPr sz="2400" b="1" spc="-30" dirty="0">
                <a:solidFill>
                  <a:srgbClr val="FEA24C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EA24C"/>
                </a:solidFill>
                <a:latin typeface="Arial"/>
                <a:cs typeface="Arial"/>
              </a:rPr>
              <a:t>ár</a:t>
            </a:r>
            <a:r>
              <a:rPr sz="2400" b="1" spc="-30" dirty="0">
                <a:solidFill>
                  <a:srgbClr val="FEA24C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EA24C"/>
                </a:solidFill>
                <a:latin typeface="Arial"/>
                <a:cs typeface="Arial"/>
              </a:rPr>
              <a:t>tartalmazza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752302" y="1886827"/>
            <a:ext cx="1890395" cy="1998345"/>
            <a:chOff x="752302" y="1886827"/>
            <a:chExt cx="1890395" cy="1998345"/>
          </a:xfrm>
        </p:grpSpPr>
        <p:sp>
          <p:nvSpPr>
            <p:cNvPr id="12" name="object 12"/>
            <p:cNvSpPr/>
            <p:nvPr/>
          </p:nvSpPr>
          <p:spPr>
            <a:xfrm>
              <a:off x="755477" y="1890002"/>
              <a:ext cx="1884045" cy="1991995"/>
            </a:xfrm>
            <a:custGeom>
              <a:avLst/>
              <a:gdLst/>
              <a:ahLst/>
              <a:cxnLst/>
              <a:rect l="l" t="t" r="r" b="b"/>
              <a:pathLst>
                <a:path w="1884045" h="1991995">
                  <a:moveTo>
                    <a:pt x="1703641" y="0"/>
                  </a:moveTo>
                  <a:lnTo>
                    <a:pt x="179997" y="0"/>
                  </a:lnTo>
                  <a:lnTo>
                    <a:pt x="132144" y="6430"/>
                  </a:lnTo>
                  <a:lnTo>
                    <a:pt x="89146" y="24576"/>
                  </a:lnTo>
                  <a:lnTo>
                    <a:pt x="52717" y="52722"/>
                  </a:lnTo>
                  <a:lnTo>
                    <a:pt x="24573" y="89152"/>
                  </a:lnTo>
                  <a:lnTo>
                    <a:pt x="6429" y="132149"/>
                  </a:lnTo>
                  <a:lnTo>
                    <a:pt x="0" y="179997"/>
                  </a:lnTo>
                  <a:lnTo>
                    <a:pt x="0" y="1811655"/>
                  </a:lnTo>
                  <a:lnTo>
                    <a:pt x="6429" y="1859503"/>
                  </a:lnTo>
                  <a:lnTo>
                    <a:pt x="24573" y="1902499"/>
                  </a:lnTo>
                  <a:lnTo>
                    <a:pt x="52717" y="1938929"/>
                  </a:lnTo>
                  <a:lnTo>
                    <a:pt x="89146" y="1967075"/>
                  </a:lnTo>
                  <a:lnTo>
                    <a:pt x="132144" y="1985221"/>
                  </a:lnTo>
                  <a:lnTo>
                    <a:pt x="179997" y="1991652"/>
                  </a:lnTo>
                  <a:lnTo>
                    <a:pt x="1703641" y="1991652"/>
                  </a:lnTo>
                  <a:lnTo>
                    <a:pt x="1751494" y="1985221"/>
                  </a:lnTo>
                  <a:lnTo>
                    <a:pt x="1794495" y="1967075"/>
                  </a:lnTo>
                  <a:lnTo>
                    <a:pt x="1830927" y="1938929"/>
                  </a:lnTo>
                  <a:lnTo>
                    <a:pt x="1859074" y="1902499"/>
                  </a:lnTo>
                  <a:lnTo>
                    <a:pt x="1877221" y="1859503"/>
                  </a:lnTo>
                  <a:lnTo>
                    <a:pt x="1883651" y="1811655"/>
                  </a:lnTo>
                  <a:lnTo>
                    <a:pt x="1883651" y="179997"/>
                  </a:lnTo>
                  <a:lnTo>
                    <a:pt x="1877221" y="132149"/>
                  </a:lnTo>
                  <a:lnTo>
                    <a:pt x="1859074" y="89152"/>
                  </a:lnTo>
                  <a:lnTo>
                    <a:pt x="1830927" y="52722"/>
                  </a:lnTo>
                  <a:lnTo>
                    <a:pt x="1794495" y="24576"/>
                  </a:lnTo>
                  <a:lnTo>
                    <a:pt x="1751494" y="6430"/>
                  </a:lnTo>
                  <a:lnTo>
                    <a:pt x="170364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55477" y="1890002"/>
              <a:ext cx="1884045" cy="1991995"/>
            </a:xfrm>
            <a:custGeom>
              <a:avLst/>
              <a:gdLst/>
              <a:ahLst/>
              <a:cxnLst/>
              <a:rect l="l" t="t" r="r" b="b"/>
              <a:pathLst>
                <a:path w="1884045" h="1991995">
                  <a:moveTo>
                    <a:pt x="179997" y="0"/>
                  </a:moveTo>
                  <a:lnTo>
                    <a:pt x="132144" y="6430"/>
                  </a:lnTo>
                  <a:lnTo>
                    <a:pt x="89146" y="24576"/>
                  </a:lnTo>
                  <a:lnTo>
                    <a:pt x="52717" y="52722"/>
                  </a:lnTo>
                  <a:lnTo>
                    <a:pt x="24573" y="89152"/>
                  </a:lnTo>
                  <a:lnTo>
                    <a:pt x="6429" y="132149"/>
                  </a:lnTo>
                  <a:lnTo>
                    <a:pt x="0" y="179997"/>
                  </a:lnTo>
                  <a:lnTo>
                    <a:pt x="0" y="1811655"/>
                  </a:lnTo>
                  <a:lnTo>
                    <a:pt x="6429" y="1859503"/>
                  </a:lnTo>
                  <a:lnTo>
                    <a:pt x="24573" y="1902499"/>
                  </a:lnTo>
                  <a:lnTo>
                    <a:pt x="52717" y="1938929"/>
                  </a:lnTo>
                  <a:lnTo>
                    <a:pt x="89146" y="1967075"/>
                  </a:lnTo>
                  <a:lnTo>
                    <a:pt x="132144" y="1985221"/>
                  </a:lnTo>
                  <a:lnTo>
                    <a:pt x="179997" y="1991652"/>
                  </a:lnTo>
                  <a:lnTo>
                    <a:pt x="1703641" y="1991652"/>
                  </a:lnTo>
                  <a:lnTo>
                    <a:pt x="1751494" y="1985221"/>
                  </a:lnTo>
                  <a:lnTo>
                    <a:pt x="1794495" y="1967075"/>
                  </a:lnTo>
                  <a:lnTo>
                    <a:pt x="1830927" y="1938929"/>
                  </a:lnTo>
                  <a:lnTo>
                    <a:pt x="1859074" y="1902499"/>
                  </a:lnTo>
                  <a:lnTo>
                    <a:pt x="1877221" y="1859503"/>
                  </a:lnTo>
                  <a:lnTo>
                    <a:pt x="1883651" y="1811655"/>
                  </a:lnTo>
                  <a:lnTo>
                    <a:pt x="1883651" y="179997"/>
                  </a:lnTo>
                  <a:lnTo>
                    <a:pt x="1877221" y="132149"/>
                  </a:lnTo>
                  <a:lnTo>
                    <a:pt x="1859074" y="89152"/>
                  </a:lnTo>
                  <a:lnTo>
                    <a:pt x="1830927" y="52722"/>
                  </a:lnTo>
                  <a:lnTo>
                    <a:pt x="1794495" y="24576"/>
                  </a:lnTo>
                  <a:lnTo>
                    <a:pt x="1751494" y="6430"/>
                  </a:lnTo>
                  <a:lnTo>
                    <a:pt x="1703641" y="0"/>
                  </a:lnTo>
                  <a:lnTo>
                    <a:pt x="179997" y="0"/>
                  </a:lnTo>
                  <a:close/>
                </a:path>
              </a:pathLst>
            </a:custGeom>
            <a:ln w="6350">
              <a:solidFill>
                <a:srgbClr val="37D3B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2768827" y="1886827"/>
            <a:ext cx="1890395" cy="1998345"/>
            <a:chOff x="2768827" y="1886827"/>
            <a:chExt cx="1890395" cy="1998345"/>
          </a:xfrm>
        </p:grpSpPr>
        <p:sp>
          <p:nvSpPr>
            <p:cNvPr id="15" name="object 15"/>
            <p:cNvSpPr/>
            <p:nvPr/>
          </p:nvSpPr>
          <p:spPr>
            <a:xfrm>
              <a:off x="2772002" y="1890002"/>
              <a:ext cx="1884045" cy="1991995"/>
            </a:xfrm>
            <a:custGeom>
              <a:avLst/>
              <a:gdLst/>
              <a:ahLst/>
              <a:cxnLst/>
              <a:rect l="l" t="t" r="r" b="b"/>
              <a:pathLst>
                <a:path w="1884045" h="1991995">
                  <a:moveTo>
                    <a:pt x="1703641" y="0"/>
                  </a:moveTo>
                  <a:lnTo>
                    <a:pt x="179997" y="0"/>
                  </a:lnTo>
                  <a:lnTo>
                    <a:pt x="132144" y="6430"/>
                  </a:lnTo>
                  <a:lnTo>
                    <a:pt x="89146" y="24576"/>
                  </a:lnTo>
                  <a:lnTo>
                    <a:pt x="52717" y="52722"/>
                  </a:lnTo>
                  <a:lnTo>
                    <a:pt x="24573" y="89152"/>
                  </a:lnTo>
                  <a:lnTo>
                    <a:pt x="6429" y="132149"/>
                  </a:lnTo>
                  <a:lnTo>
                    <a:pt x="0" y="179997"/>
                  </a:lnTo>
                  <a:lnTo>
                    <a:pt x="0" y="1811655"/>
                  </a:lnTo>
                  <a:lnTo>
                    <a:pt x="6429" y="1859503"/>
                  </a:lnTo>
                  <a:lnTo>
                    <a:pt x="24573" y="1902499"/>
                  </a:lnTo>
                  <a:lnTo>
                    <a:pt x="52717" y="1938929"/>
                  </a:lnTo>
                  <a:lnTo>
                    <a:pt x="89146" y="1967075"/>
                  </a:lnTo>
                  <a:lnTo>
                    <a:pt x="132144" y="1985221"/>
                  </a:lnTo>
                  <a:lnTo>
                    <a:pt x="179997" y="1991652"/>
                  </a:lnTo>
                  <a:lnTo>
                    <a:pt x="1703641" y="1991652"/>
                  </a:lnTo>
                  <a:lnTo>
                    <a:pt x="1751494" y="1985221"/>
                  </a:lnTo>
                  <a:lnTo>
                    <a:pt x="1794495" y="1967075"/>
                  </a:lnTo>
                  <a:lnTo>
                    <a:pt x="1830927" y="1938929"/>
                  </a:lnTo>
                  <a:lnTo>
                    <a:pt x="1859074" y="1902499"/>
                  </a:lnTo>
                  <a:lnTo>
                    <a:pt x="1877221" y="1859503"/>
                  </a:lnTo>
                  <a:lnTo>
                    <a:pt x="1883651" y="1811655"/>
                  </a:lnTo>
                  <a:lnTo>
                    <a:pt x="1883651" y="179997"/>
                  </a:lnTo>
                  <a:lnTo>
                    <a:pt x="1877221" y="132149"/>
                  </a:lnTo>
                  <a:lnTo>
                    <a:pt x="1859074" y="89152"/>
                  </a:lnTo>
                  <a:lnTo>
                    <a:pt x="1830927" y="52722"/>
                  </a:lnTo>
                  <a:lnTo>
                    <a:pt x="1794495" y="24576"/>
                  </a:lnTo>
                  <a:lnTo>
                    <a:pt x="1751494" y="6430"/>
                  </a:lnTo>
                  <a:lnTo>
                    <a:pt x="170364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72002" y="1890002"/>
              <a:ext cx="1884045" cy="1991995"/>
            </a:xfrm>
            <a:custGeom>
              <a:avLst/>
              <a:gdLst/>
              <a:ahLst/>
              <a:cxnLst/>
              <a:rect l="l" t="t" r="r" b="b"/>
              <a:pathLst>
                <a:path w="1884045" h="1991995">
                  <a:moveTo>
                    <a:pt x="179997" y="0"/>
                  </a:moveTo>
                  <a:lnTo>
                    <a:pt x="132144" y="6430"/>
                  </a:lnTo>
                  <a:lnTo>
                    <a:pt x="89146" y="24576"/>
                  </a:lnTo>
                  <a:lnTo>
                    <a:pt x="52717" y="52722"/>
                  </a:lnTo>
                  <a:lnTo>
                    <a:pt x="24573" y="89152"/>
                  </a:lnTo>
                  <a:lnTo>
                    <a:pt x="6429" y="132149"/>
                  </a:lnTo>
                  <a:lnTo>
                    <a:pt x="0" y="179997"/>
                  </a:lnTo>
                  <a:lnTo>
                    <a:pt x="0" y="1811655"/>
                  </a:lnTo>
                  <a:lnTo>
                    <a:pt x="6429" y="1859503"/>
                  </a:lnTo>
                  <a:lnTo>
                    <a:pt x="24573" y="1902499"/>
                  </a:lnTo>
                  <a:lnTo>
                    <a:pt x="52717" y="1938929"/>
                  </a:lnTo>
                  <a:lnTo>
                    <a:pt x="89146" y="1967075"/>
                  </a:lnTo>
                  <a:lnTo>
                    <a:pt x="132144" y="1985221"/>
                  </a:lnTo>
                  <a:lnTo>
                    <a:pt x="179997" y="1991652"/>
                  </a:lnTo>
                  <a:lnTo>
                    <a:pt x="1703641" y="1991652"/>
                  </a:lnTo>
                  <a:lnTo>
                    <a:pt x="1751494" y="1985221"/>
                  </a:lnTo>
                  <a:lnTo>
                    <a:pt x="1794495" y="1967075"/>
                  </a:lnTo>
                  <a:lnTo>
                    <a:pt x="1830927" y="1938929"/>
                  </a:lnTo>
                  <a:lnTo>
                    <a:pt x="1859074" y="1902499"/>
                  </a:lnTo>
                  <a:lnTo>
                    <a:pt x="1877221" y="1859503"/>
                  </a:lnTo>
                  <a:lnTo>
                    <a:pt x="1883651" y="1811655"/>
                  </a:lnTo>
                  <a:lnTo>
                    <a:pt x="1883651" y="179997"/>
                  </a:lnTo>
                  <a:lnTo>
                    <a:pt x="1877221" y="132149"/>
                  </a:lnTo>
                  <a:lnTo>
                    <a:pt x="1859074" y="89152"/>
                  </a:lnTo>
                  <a:lnTo>
                    <a:pt x="1830927" y="52722"/>
                  </a:lnTo>
                  <a:lnTo>
                    <a:pt x="1794495" y="24576"/>
                  </a:lnTo>
                  <a:lnTo>
                    <a:pt x="1751494" y="6430"/>
                  </a:lnTo>
                  <a:lnTo>
                    <a:pt x="1703641" y="0"/>
                  </a:lnTo>
                  <a:lnTo>
                    <a:pt x="179997" y="0"/>
                  </a:lnTo>
                  <a:close/>
                </a:path>
              </a:pathLst>
            </a:custGeom>
            <a:ln w="6350">
              <a:solidFill>
                <a:srgbClr val="37D3B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7" name="object 17"/>
          <p:cNvGrpSpPr/>
          <p:nvPr/>
        </p:nvGrpSpPr>
        <p:grpSpPr>
          <a:xfrm>
            <a:off x="4774227" y="1886827"/>
            <a:ext cx="1890395" cy="1998345"/>
            <a:chOff x="4774227" y="1886827"/>
            <a:chExt cx="1890395" cy="1998345"/>
          </a:xfrm>
        </p:grpSpPr>
        <p:sp>
          <p:nvSpPr>
            <p:cNvPr id="18" name="object 18"/>
            <p:cNvSpPr/>
            <p:nvPr/>
          </p:nvSpPr>
          <p:spPr>
            <a:xfrm>
              <a:off x="4777402" y="1890002"/>
              <a:ext cx="1884045" cy="1991995"/>
            </a:xfrm>
            <a:custGeom>
              <a:avLst/>
              <a:gdLst/>
              <a:ahLst/>
              <a:cxnLst/>
              <a:rect l="l" t="t" r="r" b="b"/>
              <a:pathLst>
                <a:path w="1884045" h="1991995">
                  <a:moveTo>
                    <a:pt x="1703641" y="0"/>
                  </a:moveTo>
                  <a:lnTo>
                    <a:pt x="179997" y="0"/>
                  </a:lnTo>
                  <a:lnTo>
                    <a:pt x="132144" y="6430"/>
                  </a:lnTo>
                  <a:lnTo>
                    <a:pt x="89146" y="24576"/>
                  </a:lnTo>
                  <a:lnTo>
                    <a:pt x="52717" y="52722"/>
                  </a:lnTo>
                  <a:lnTo>
                    <a:pt x="24573" y="89152"/>
                  </a:lnTo>
                  <a:lnTo>
                    <a:pt x="6429" y="132149"/>
                  </a:lnTo>
                  <a:lnTo>
                    <a:pt x="0" y="179997"/>
                  </a:lnTo>
                  <a:lnTo>
                    <a:pt x="0" y="1811655"/>
                  </a:lnTo>
                  <a:lnTo>
                    <a:pt x="6429" y="1859503"/>
                  </a:lnTo>
                  <a:lnTo>
                    <a:pt x="24573" y="1902499"/>
                  </a:lnTo>
                  <a:lnTo>
                    <a:pt x="52717" y="1938929"/>
                  </a:lnTo>
                  <a:lnTo>
                    <a:pt x="89146" y="1967075"/>
                  </a:lnTo>
                  <a:lnTo>
                    <a:pt x="132144" y="1985221"/>
                  </a:lnTo>
                  <a:lnTo>
                    <a:pt x="179997" y="1991652"/>
                  </a:lnTo>
                  <a:lnTo>
                    <a:pt x="1703641" y="1991652"/>
                  </a:lnTo>
                  <a:lnTo>
                    <a:pt x="1751494" y="1985221"/>
                  </a:lnTo>
                  <a:lnTo>
                    <a:pt x="1794495" y="1967075"/>
                  </a:lnTo>
                  <a:lnTo>
                    <a:pt x="1830927" y="1938929"/>
                  </a:lnTo>
                  <a:lnTo>
                    <a:pt x="1859074" y="1902499"/>
                  </a:lnTo>
                  <a:lnTo>
                    <a:pt x="1877221" y="1859503"/>
                  </a:lnTo>
                  <a:lnTo>
                    <a:pt x="1883651" y="1811655"/>
                  </a:lnTo>
                  <a:lnTo>
                    <a:pt x="1883651" y="179997"/>
                  </a:lnTo>
                  <a:lnTo>
                    <a:pt x="1877221" y="132149"/>
                  </a:lnTo>
                  <a:lnTo>
                    <a:pt x="1859074" y="89152"/>
                  </a:lnTo>
                  <a:lnTo>
                    <a:pt x="1830927" y="52722"/>
                  </a:lnTo>
                  <a:lnTo>
                    <a:pt x="1794495" y="24576"/>
                  </a:lnTo>
                  <a:lnTo>
                    <a:pt x="1751494" y="6430"/>
                  </a:lnTo>
                  <a:lnTo>
                    <a:pt x="170364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777402" y="1890002"/>
              <a:ext cx="1884045" cy="1991995"/>
            </a:xfrm>
            <a:custGeom>
              <a:avLst/>
              <a:gdLst/>
              <a:ahLst/>
              <a:cxnLst/>
              <a:rect l="l" t="t" r="r" b="b"/>
              <a:pathLst>
                <a:path w="1884045" h="1991995">
                  <a:moveTo>
                    <a:pt x="179997" y="0"/>
                  </a:moveTo>
                  <a:lnTo>
                    <a:pt x="132144" y="6430"/>
                  </a:lnTo>
                  <a:lnTo>
                    <a:pt x="89146" y="24576"/>
                  </a:lnTo>
                  <a:lnTo>
                    <a:pt x="52717" y="52722"/>
                  </a:lnTo>
                  <a:lnTo>
                    <a:pt x="24573" y="89152"/>
                  </a:lnTo>
                  <a:lnTo>
                    <a:pt x="6429" y="132149"/>
                  </a:lnTo>
                  <a:lnTo>
                    <a:pt x="0" y="179997"/>
                  </a:lnTo>
                  <a:lnTo>
                    <a:pt x="0" y="1811655"/>
                  </a:lnTo>
                  <a:lnTo>
                    <a:pt x="6429" y="1859503"/>
                  </a:lnTo>
                  <a:lnTo>
                    <a:pt x="24573" y="1902499"/>
                  </a:lnTo>
                  <a:lnTo>
                    <a:pt x="52717" y="1938929"/>
                  </a:lnTo>
                  <a:lnTo>
                    <a:pt x="89146" y="1967075"/>
                  </a:lnTo>
                  <a:lnTo>
                    <a:pt x="132144" y="1985221"/>
                  </a:lnTo>
                  <a:lnTo>
                    <a:pt x="179997" y="1991652"/>
                  </a:lnTo>
                  <a:lnTo>
                    <a:pt x="1703641" y="1991652"/>
                  </a:lnTo>
                  <a:lnTo>
                    <a:pt x="1751494" y="1985221"/>
                  </a:lnTo>
                  <a:lnTo>
                    <a:pt x="1794495" y="1967075"/>
                  </a:lnTo>
                  <a:lnTo>
                    <a:pt x="1830927" y="1938929"/>
                  </a:lnTo>
                  <a:lnTo>
                    <a:pt x="1859074" y="1902499"/>
                  </a:lnTo>
                  <a:lnTo>
                    <a:pt x="1877221" y="1859503"/>
                  </a:lnTo>
                  <a:lnTo>
                    <a:pt x="1883651" y="1811655"/>
                  </a:lnTo>
                  <a:lnTo>
                    <a:pt x="1883651" y="179997"/>
                  </a:lnTo>
                  <a:lnTo>
                    <a:pt x="1877221" y="132149"/>
                  </a:lnTo>
                  <a:lnTo>
                    <a:pt x="1859074" y="89152"/>
                  </a:lnTo>
                  <a:lnTo>
                    <a:pt x="1830927" y="52722"/>
                  </a:lnTo>
                  <a:lnTo>
                    <a:pt x="1794495" y="24576"/>
                  </a:lnTo>
                  <a:lnTo>
                    <a:pt x="1751494" y="6430"/>
                  </a:lnTo>
                  <a:lnTo>
                    <a:pt x="1703641" y="0"/>
                  </a:lnTo>
                  <a:lnTo>
                    <a:pt x="179997" y="0"/>
                  </a:lnTo>
                  <a:close/>
                </a:path>
              </a:pathLst>
            </a:custGeom>
            <a:ln w="6350">
              <a:solidFill>
                <a:srgbClr val="37D3B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0" name="object 20"/>
          <p:cNvGrpSpPr/>
          <p:nvPr/>
        </p:nvGrpSpPr>
        <p:grpSpPr>
          <a:xfrm>
            <a:off x="752302" y="3992829"/>
            <a:ext cx="1890395" cy="1998345"/>
            <a:chOff x="752302" y="3992829"/>
            <a:chExt cx="1890395" cy="1998345"/>
          </a:xfrm>
        </p:grpSpPr>
        <p:sp>
          <p:nvSpPr>
            <p:cNvPr id="21" name="object 21"/>
            <p:cNvSpPr/>
            <p:nvPr/>
          </p:nvSpPr>
          <p:spPr>
            <a:xfrm>
              <a:off x="755477" y="3996004"/>
              <a:ext cx="1884045" cy="1991995"/>
            </a:xfrm>
            <a:custGeom>
              <a:avLst/>
              <a:gdLst/>
              <a:ahLst/>
              <a:cxnLst/>
              <a:rect l="l" t="t" r="r" b="b"/>
              <a:pathLst>
                <a:path w="1884045" h="1991995">
                  <a:moveTo>
                    <a:pt x="1703641" y="0"/>
                  </a:moveTo>
                  <a:lnTo>
                    <a:pt x="179997" y="0"/>
                  </a:lnTo>
                  <a:lnTo>
                    <a:pt x="132144" y="6430"/>
                  </a:lnTo>
                  <a:lnTo>
                    <a:pt x="89146" y="24576"/>
                  </a:lnTo>
                  <a:lnTo>
                    <a:pt x="52717" y="52722"/>
                  </a:lnTo>
                  <a:lnTo>
                    <a:pt x="24573" y="89152"/>
                  </a:lnTo>
                  <a:lnTo>
                    <a:pt x="6429" y="132149"/>
                  </a:lnTo>
                  <a:lnTo>
                    <a:pt x="0" y="179997"/>
                  </a:lnTo>
                  <a:lnTo>
                    <a:pt x="0" y="1811655"/>
                  </a:lnTo>
                  <a:lnTo>
                    <a:pt x="6429" y="1859503"/>
                  </a:lnTo>
                  <a:lnTo>
                    <a:pt x="24573" y="1902499"/>
                  </a:lnTo>
                  <a:lnTo>
                    <a:pt x="52717" y="1938929"/>
                  </a:lnTo>
                  <a:lnTo>
                    <a:pt x="89146" y="1967075"/>
                  </a:lnTo>
                  <a:lnTo>
                    <a:pt x="132144" y="1985221"/>
                  </a:lnTo>
                  <a:lnTo>
                    <a:pt x="179997" y="1991652"/>
                  </a:lnTo>
                  <a:lnTo>
                    <a:pt x="1703641" y="1991652"/>
                  </a:lnTo>
                  <a:lnTo>
                    <a:pt x="1751494" y="1985221"/>
                  </a:lnTo>
                  <a:lnTo>
                    <a:pt x="1794495" y="1967075"/>
                  </a:lnTo>
                  <a:lnTo>
                    <a:pt x="1830927" y="1938929"/>
                  </a:lnTo>
                  <a:lnTo>
                    <a:pt x="1859074" y="1902499"/>
                  </a:lnTo>
                  <a:lnTo>
                    <a:pt x="1877221" y="1859503"/>
                  </a:lnTo>
                  <a:lnTo>
                    <a:pt x="1883651" y="1811655"/>
                  </a:lnTo>
                  <a:lnTo>
                    <a:pt x="1883651" y="179997"/>
                  </a:lnTo>
                  <a:lnTo>
                    <a:pt x="1877221" y="132149"/>
                  </a:lnTo>
                  <a:lnTo>
                    <a:pt x="1859074" y="89152"/>
                  </a:lnTo>
                  <a:lnTo>
                    <a:pt x="1830927" y="52722"/>
                  </a:lnTo>
                  <a:lnTo>
                    <a:pt x="1794495" y="24576"/>
                  </a:lnTo>
                  <a:lnTo>
                    <a:pt x="1751494" y="6430"/>
                  </a:lnTo>
                  <a:lnTo>
                    <a:pt x="170364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55477" y="3996004"/>
              <a:ext cx="1884045" cy="1991995"/>
            </a:xfrm>
            <a:custGeom>
              <a:avLst/>
              <a:gdLst/>
              <a:ahLst/>
              <a:cxnLst/>
              <a:rect l="l" t="t" r="r" b="b"/>
              <a:pathLst>
                <a:path w="1884045" h="1991995">
                  <a:moveTo>
                    <a:pt x="179997" y="0"/>
                  </a:moveTo>
                  <a:lnTo>
                    <a:pt x="132144" y="6430"/>
                  </a:lnTo>
                  <a:lnTo>
                    <a:pt x="89146" y="24576"/>
                  </a:lnTo>
                  <a:lnTo>
                    <a:pt x="52717" y="52722"/>
                  </a:lnTo>
                  <a:lnTo>
                    <a:pt x="24573" y="89152"/>
                  </a:lnTo>
                  <a:lnTo>
                    <a:pt x="6429" y="132149"/>
                  </a:lnTo>
                  <a:lnTo>
                    <a:pt x="0" y="179997"/>
                  </a:lnTo>
                  <a:lnTo>
                    <a:pt x="0" y="1811655"/>
                  </a:lnTo>
                  <a:lnTo>
                    <a:pt x="6429" y="1859503"/>
                  </a:lnTo>
                  <a:lnTo>
                    <a:pt x="24573" y="1902499"/>
                  </a:lnTo>
                  <a:lnTo>
                    <a:pt x="52717" y="1938929"/>
                  </a:lnTo>
                  <a:lnTo>
                    <a:pt x="89146" y="1967075"/>
                  </a:lnTo>
                  <a:lnTo>
                    <a:pt x="132144" y="1985221"/>
                  </a:lnTo>
                  <a:lnTo>
                    <a:pt x="179997" y="1991652"/>
                  </a:lnTo>
                  <a:lnTo>
                    <a:pt x="1703641" y="1991652"/>
                  </a:lnTo>
                  <a:lnTo>
                    <a:pt x="1751494" y="1985221"/>
                  </a:lnTo>
                  <a:lnTo>
                    <a:pt x="1794495" y="1967075"/>
                  </a:lnTo>
                  <a:lnTo>
                    <a:pt x="1830927" y="1938929"/>
                  </a:lnTo>
                  <a:lnTo>
                    <a:pt x="1859074" y="1902499"/>
                  </a:lnTo>
                  <a:lnTo>
                    <a:pt x="1877221" y="1859503"/>
                  </a:lnTo>
                  <a:lnTo>
                    <a:pt x="1883651" y="1811655"/>
                  </a:lnTo>
                  <a:lnTo>
                    <a:pt x="1883651" y="179997"/>
                  </a:lnTo>
                  <a:lnTo>
                    <a:pt x="1877221" y="132149"/>
                  </a:lnTo>
                  <a:lnTo>
                    <a:pt x="1859074" y="89152"/>
                  </a:lnTo>
                  <a:lnTo>
                    <a:pt x="1830927" y="52722"/>
                  </a:lnTo>
                  <a:lnTo>
                    <a:pt x="1794495" y="24576"/>
                  </a:lnTo>
                  <a:lnTo>
                    <a:pt x="1751494" y="6430"/>
                  </a:lnTo>
                  <a:lnTo>
                    <a:pt x="1703641" y="0"/>
                  </a:lnTo>
                  <a:lnTo>
                    <a:pt x="179997" y="0"/>
                  </a:lnTo>
                  <a:close/>
                </a:path>
              </a:pathLst>
            </a:custGeom>
            <a:ln w="6350">
              <a:solidFill>
                <a:srgbClr val="37D3B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3" name="object 23"/>
          <p:cNvGrpSpPr/>
          <p:nvPr/>
        </p:nvGrpSpPr>
        <p:grpSpPr>
          <a:xfrm>
            <a:off x="2757177" y="3992829"/>
            <a:ext cx="1890395" cy="1998345"/>
            <a:chOff x="2757177" y="3992829"/>
            <a:chExt cx="1890395" cy="1998345"/>
          </a:xfrm>
        </p:grpSpPr>
        <p:sp>
          <p:nvSpPr>
            <p:cNvPr id="24" name="object 24"/>
            <p:cNvSpPr/>
            <p:nvPr/>
          </p:nvSpPr>
          <p:spPr>
            <a:xfrm>
              <a:off x="2760352" y="3996004"/>
              <a:ext cx="1884045" cy="1991995"/>
            </a:xfrm>
            <a:custGeom>
              <a:avLst/>
              <a:gdLst/>
              <a:ahLst/>
              <a:cxnLst/>
              <a:rect l="l" t="t" r="r" b="b"/>
              <a:pathLst>
                <a:path w="1884045" h="1991995">
                  <a:moveTo>
                    <a:pt x="1703641" y="0"/>
                  </a:moveTo>
                  <a:lnTo>
                    <a:pt x="179997" y="0"/>
                  </a:lnTo>
                  <a:lnTo>
                    <a:pt x="132144" y="6430"/>
                  </a:lnTo>
                  <a:lnTo>
                    <a:pt x="89146" y="24576"/>
                  </a:lnTo>
                  <a:lnTo>
                    <a:pt x="52717" y="52722"/>
                  </a:lnTo>
                  <a:lnTo>
                    <a:pt x="24573" y="89152"/>
                  </a:lnTo>
                  <a:lnTo>
                    <a:pt x="6429" y="132149"/>
                  </a:lnTo>
                  <a:lnTo>
                    <a:pt x="0" y="179997"/>
                  </a:lnTo>
                  <a:lnTo>
                    <a:pt x="0" y="1811655"/>
                  </a:lnTo>
                  <a:lnTo>
                    <a:pt x="6429" y="1859503"/>
                  </a:lnTo>
                  <a:lnTo>
                    <a:pt x="24573" y="1902499"/>
                  </a:lnTo>
                  <a:lnTo>
                    <a:pt x="52717" y="1938929"/>
                  </a:lnTo>
                  <a:lnTo>
                    <a:pt x="89146" y="1967075"/>
                  </a:lnTo>
                  <a:lnTo>
                    <a:pt x="132144" y="1985221"/>
                  </a:lnTo>
                  <a:lnTo>
                    <a:pt x="179997" y="1991652"/>
                  </a:lnTo>
                  <a:lnTo>
                    <a:pt x="1703641" y="1991652"/>
                  </a:lnTo>
                  <a:lnTo>
                    <a:pt x="1751494" y="1985221"/>
                  </a:lnTo>
                  <a:lnTo>
                    <a:pt x="1794495" y="1967075"/>
                  </a:lnTo>
                  <a:lnTo>
                    <a:pt x="1830927" y="1938929"/>
                  </a:lnTo>
                  <a:lnTo>
                    <a:pt x="1859074" y="1902499"/>
                  </a:lnTo>
                  <a:lnTo>
                    <a:pt x="1877221" y="1859503"/>
                  </a:lnTo>
                  <a:lnTo>
                    <a:pt x="1883651" y="1811655"/>
                  </a:lnTo>
                  <a:lnTo>
                    <a:pt x="1883651" y="179997"/>
                  </a:lnTo>
                  <a:lnTo>
                    <a:pt x="1877221" y="132149"/>
                  </a:lnTo>
                  <a:lnTo>
                    <a:pt x="1859074" y="89152"/>
                  </a:lnTo>
                  <a:lnTo>
                    <a:pt x="1830927" y="52722"/>
                  </a:lnTo>
                  <a:lnTo>
                    <a:pt x="1794495" y="24576"/>
                  </a:lnTo>
                  <a:lnTo>
                    <a:pt x="1751494" y="6430"/>
                  </a:lnTo>
                  <a:lnTo>
                    <a:pt x="170364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2760352" y="3996004"/>
              <a:ext cx="1884045" cy="1991995"/>
            </a:xfrm>
            <a:custGeom>
              <a:avLst/>
              <a:gdLst/>
              <a:ahLst/>
              <a:cxnLst/>
              <a:rect l="l" t="t" r="r" b="b"/>
              <a:pathLst>
                <a:path w="1884045" h="1991995">
                  <a:moveTo>
                    <a:pt x="179997" y="0"/>
                  </a:moveTo>
                  <a:lnTo>
                    <a:pt x="132144" y="6430"/>
                  </a:lnTo>
                  <a:lnTo>
                    <a:pt x="89146" y="24576"/>
                  </a:lnTo>
                  <a:lnTo>
                    <a:pt x="52717" y="52722"/>
                  </a:lnTo>
                  <a:lnTo>
                    <a:pt x="24573" y="89152"/>
                  </a:lnTo>
                  <a:lnTo>
                    <a:pt x="6429" y="132149"/>
                  </a:lnTo>
                  <a:lnTo>
                    <a:pt x="0" y="179997"/>
                  </a:lnTo>
                  <a:lnTo>
                    <a:pt x="0" y="1811655"/>
                  </a:lnTo>
                  <a:lnTo>
                    <a:pt x="6429" y="1859503"/>
                  </a:lnTo>
                  <a:lnTo>
                    <a:pt x="24573" y="1902499"/>
                  </a:lnTo>
                  <a:lnTo>
                    <a:pt x="52717" y="1938929"/>
                  </a:lnTo>
                  <a:lnTo>
                    <a:pt x="89146" y="1967075"/>
                  </a:lnTo>
                  <a:lnTo>
                    <a:pt x="132144" y="1985221"/>
                  </a:lnTo>
                  <a:lnTo>
                    <a:pt x="179997" y="1991652"/>
                  </a:lnTo>
                  <a:lnTo>
                    <a:pt x="1703641" y="1991652"/>
                  </a:lnTo>
                  <a:lnTo>
                    <a:pt x="1751494" y="1985221"/>
                  </a:lnTo>
                  <a:lnTo>
                    <a:pt x="1794495" y="1967075"/>
                  </a:lnTo>
                  <a:lnTo>
                    <a:pt x="1830927" y="1938929"/>
                  </a:lnTo>
                  <a:lnTo>
                    <a:pt x="1859074" y="1902499"/>
                  </a:lnTo>
                  <a:lnTo>
                    <a:pt x="1877221" y="1859503"/>
                  </a:lnTo>
                  <a:lnTo>
                    <a:pt x="1883651" y="1811655"/>
                  </a:lnTo>
                  <a:lnTo>
                    <a:pt x="1883651" y="179997"/>
                  </a:lnTo>
                  <a:lnTo>
                    <a:pt x="1877221" y="132149"/>
                  </a:lnTo>
                  <a:lnTo>
                    <a:pt x="1859074" y="89152"/>
                  </a:lnTo>
                  <a:lnTo>
                    <a:pt x="1830927" y="52722"/>
                  </a:lnTo>
                  <a:lnTo>
                    <a:pt x="1794495" y="24576"/>
                  </a:lnTo>
                  <a:lnTo>
                    <a:pt x="1751494" y="6430"/>
                  </a:lnTo>
                  <a:lnTo>
                    <a:pt x="1703641" y="0"/>
                  </a:lnTo>
                  <a:lnTo>
                    <a:pt x="179997" y="0"/>
                  </a:lnTo>
                  <a:close/>
                </a:path>
              </a:pathLst>
            </a:custGeom>
            <a:ln w="6350">
              <a:solidFill>
                <a:srgbClr val="37D3B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6" name="object 26"/>
          <p:cNvGrpSpPr/>
          <p:nvPr/>
        </p:nvGrpSpPr>
        <p:grpSpPr>
          <a:xfrm>
            <a:off x="4774227" y="3999179"/>
            <a:ext cx="1890395" cy="1998345"/>
            <a:chOff x="4774227" y="3999179"/>
            <a:chExt cx="1890395" cy="1998345"/>
          </a:xfrm>
        </p:grpSpPr>
        <p:sp>
          <p:nvSpPr>
            <p:cNvPr id="27" name="object 27"/>
            <p:cNvSpPr/>
            <p:nvPr/>
          </p:nvSpPr>
          <p:spPr>
            <a:xfrm>
              <a:off x="4777402" y="4002354"/>
              <a:ext cx="1884045" cy="1991995"/>
            </a:xfrm>
            <a:custGeom>
              <a:avLst/>
              <a:gdLst/>
              <a:ahLst/>
              <a:cxnLst/>
              <a:rect l="l" t="t" r="r" b="b"/>
              <a:pathLst>
                <a:path w="1884045" h="1991995">
                  <a:moveTo>
                    <a:pt x="1703641" y="0"/>
                  </a:moveTo>
                  <a:lnTo>
                    <a:pt x="179997" y="0"/>
                  </a:lnTo>
                  <a:lnTo>
                    <a:pt x="132144" y="6430"/>
                  </a:lnTo>
                  <a:lnTo>
                    <a:pt x="89146" y="24576"/>
                  </a:lnTo>
                  <a:lnTo>
                    <a:pt x="52717" y="52722"/>
                  </a:lnTo>
                  <a:lnTo>
                    <a:pt x="24573" y="89152"/>
                  </a:lnTo>
                  <a:lnTo>
                    <a:pt x="6429" y="132149"/>
                  </a:lnTo>
                  <a:lnTo>
                    <a:pt x="0" y="179997"/>
                  </a:lnTo>
                  <a:lnTo>
                    <a:pt x="0" y="1811655"/>
                  </a:lnTo>
                  <a:lnTo>
                    <a:pt x="6429" y="1859503"/>
                  </a:lnTo>
                  <a:lnTo>
                    <a:pt x="24573" y="1902499"/>
                  </a:lnTo>
                  <a:lnTo>
                    <a:pt x="52717" y="1938929"/>
                  </a:lnTo>
                  <a:lnTo>
                    <a:pt x="89146" y="1967075"/>
                  </a:lnTo>
                  <a:lnTo>
                    <a:pt x="132144" y="1985221"/>
                  </a:lnTo>
                  <a:lnTo>
                    <a:pt x="179997" y="1991652"/>
                  </a:lnTo>
                  <a:lnTo>
                    <a:pt x="1703641" y="1991652"/>
                  </a:lnTo>
                  <a:lnTo>
                    <a:pt x="1751494" y="1985221"/>
                  </a:lnTo>
                  <a:lnTo>
                    <a:pt x="1794495" y="1967075"/>
                  </a:lnTo>
                  <a:lnTo>
                    <a:pt x="1830927" y="1938929"/>
                  </a:lnTo>
                  <a:lnTo>
                    <a:pt x="1859074" y="1902499"/>
                  </a:lnTo>
                  <a:lnTo>
                    <a:pt x="1877221" y="1859503"/>
                  </a:lnTo>
                  <a:lnTo>
                    <a:pt x="1883651" y="1811655"/>
                  </a:lnTo>
                  <a:lnTo>
                    <a:pt x="1883651" y="179997"/>
                  </a:lnTo>
                  <a:lnTo>
                    <a:pt x="1877221" y="132149"/>
                  </a:lnTo>
                  <a:lnTo>
                    <a:pt x="1859074" y="89152"/>
                  </a:lnTo>
                  <a:lnTo>
                    <a:pt x="1830927" y="52722"/>
                  </a:lnTo>
                  <a:lnTo>
                    <a:pt x="1794495" y="24576"/>
                  </a:lnTo>
                  <a:lnTo>
                    <a:pt x="1751494" y="6430"/>
                  </a:lnTo>
                  <a:lnTo>
                    <a:pt x="170364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777402" y="4002354"/>
              <a:ext cx="1884045" cy="1991995"/>
            </a:xfrm>
            <a:custGeom>
              <a:avLst/>
              <a:gdLst/>
              <a:ahLst/>
              <a:cxnLst/>
              <a:rect l="l" t="t" r="r" b="b"/>
              <a:pathLst>
                <a:path w="1884045" h="1991995">
                  <a:moveTo>
                    <a:pt x="179997" y="0"/>
                  </a:moveTo>
                  <a:lnTo>
                    <a:pt x="132144" y="6430"/>
                  </a:lnTo>
                  <a:lnTo>
                    <a:pt x="89146" y="24576"/>
                  </a:lnTo>
                  <a:lnTo>
                    <a:pt x="52717" y="52722"/>
                  </a:lnTo>
                  <a:lnTo>
                    <a:pt x="24573" y="89152"/>
                  </a:lnTo>
                  <a:lnTo>
                    <a:pt x="6429" y="132149"/>
                  </a:lnTo>
                  <a:lnTo>
                    <a:pt x="0" y="179997"/>
                  </a:lnTo>
                  <a:lnTo>
                    <a:pt x="0" y="1811655"/>
                  </a:lnTo>
                  <a:lnTo>
                    <a:pt x="6429" y="1859503"/>
                  </a:lnTo>
                  <a:lnTo>
                    <a:pt x="24573" y="1902499"/>
                  </a:lnTo>
                  <a:lnTo>
                    <a:pt x="52717" y="1938929"/>
                  </a:lnTo>
                  <a:lnTo>
                    <a:pt x="89146" y="1967075"/>
                  </a:lnTo>
                  <a:lnTo>
                    <a:pt x="132144" y="1985221"/>
                  </a:lnTo>
                  <a:lnTo>
                    <a:pt x="179997" y="1991652"/>
                  </a:lnTo>
                  <a:lnTo>
                    <a:pt x="1703641" y="1991652"/>
                  </a:lnTo>
                  <a:lnTo>
                    <a:pt x="1751494" y="1985221"/>
                  </a:lnTo>
                  <a:lnTo>
                    <a:pt x="1794495" y="1967075"/>
                  </a:lnTo>
                  <a:lnTo>
                    <a:pt x="1830927" y="1938929"/>
                  </a:lnTo>
                  <a:lnTo>
                    <a:pt x="1859074" y="1902499"/>
                  </a:lnTo>
                  <a:lnTo>
                    <a:pt x="1877221" y="1859503"/>
                  </a:lnTo>
                  <a:lnTo>
                    <a:pt x="1883651" y="1811655"/>
                  </a:lnTo>
                  <a:lnTo>
                    <a:pt x="1883651" y="179997"/>
                  </a:lnTo>
                  <a:lnTo>
                    <a:pt x="1877221" y="132149"/>
                  </a:lnTo>
                  <a:lnTo>
                    <a:pt x="1859074" y="89152"/>
                  </a:lnTo>
                  <a:lnTo>
                    <a:pt x="1830927" y="52722"/>
                  </a:lnTo>
                  <a:lnTo>
                    <a:pt x="1794495" y="24576"/>
                  </a:lnTo>
                  <a:lnTo>
                    <a:pt x="1751494" y="6430"/>
                  </a:lnTo>
                  <a:lnTo>
                    <a:pt x="1703641" y="0"/>
                  </a:lnTo>
                  <a:lnTo>
                    <a:pt x="179997" y="0"/>
                  </a:lnTo>
                  <a:close/>
                </a:path>
              </a:pathLst>
            </a:custGeom>
            <a:ln w="6350">
              <a:solidFill>
                <a:srgbClr val="37D3B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853608" y="2711274"/>
            <a:ext cx="1687830" cy="909319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marL="446405">
              <a:lnSpc>
                <a:spcPct val="100000"/>
              </a:lnSpc>
              <a:spcBef>
                <a:spcPts val="235"/>
              </a:spcBef>
            </a:pPr>
            <a:r>
              <a:rPr sz="1500" b="1" spc="-10" dirty="0">
                <a:solidFill>
                  <a:srgbClr val="292829"/>
                </a:solidFill>
                <a:latin typeface="Arial"/>
                <a:cs typeface="Arial"/>
              </a:rPr>
              <a:t>Napelem</a:t>
            </a:r>
            <a:endParaRPr sz="1500">
              <a:latin typeface="Arial"/>
              <a:cs typeface="Arial"/>
            </a:endParaRPr>
          </a:p>
          <a:p>
            <a:pPr marL="241935" algn="just">
              <a:lnSpc>
                <a:spcPts val="1260"/>
              </a:lnSpc>
              <a:spcBef>
                <a:spcPts val="100"/>
              </a:spcBef>
            </a:pP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Napelem modulok</a:t>
            </a:r>
            <a:endParaRPr sz="1100">
              <a:latin typeface="Arial"/>
              <a:cs typeface="Arial"/>
            </a:endParaRPr>
          </a:p>
          <a:p>
            <a:pPr marL="12700" marR="5080" indent="38735" algn="just">
              <a:lnSpc>
                <a:spcPts val="1200"/>
              </a:lnSpc>
              <a:spcBef>
                <a:spcPts val="80"/>
              </a:spcBef>
            </a:pP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–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25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év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termékgaranciá-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val,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valamint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30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év</a:t>
            </a:r>
            <a:r>
              <a:rPr sz="11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87.4% teljesítménygaranciával</a:t>
            </a:r>
            <a:endParaRPr sz="110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2866719" y="2711274"/>
            <a:ext cx="1694814" cy="909319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35"/>
              </a:spcBef>
            </a:pPr>
            <a:r>
              <a:rPr sz="1500" b="1" spc="-10" dirty="0">
                <a:solidFill>
                  <a:srgbClr val="292829"/>
                </a:solidFill>
                <a:latin typeface="Arial"/>
                <a:cs typeface="Arial"/>
              </a:rPr>
              <a:t>Inverter</a:t>
            </a:r>
            <a:endParaRPr sz="1500">
              <a:latin typeface="Arial"/>
              <a:cs typeface="Arial"/>
            </a:endParaRPr>
          </a:p>
          <a:p>
            <a:pPr marL="12700" marR="5080" indent="-635" algn="ctr">
              <a:lnSpc>
                <a:spcPts val="1200"/>
              </a:lnSpc>
              <a:spcBef>
                <a:spcPts val="240"/>
              </a:spcBef>
            </a:pP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Inverter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–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10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év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teljes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körű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gyártói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 garanciával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(opcionális</a:t>
            </a:r>
            <a:r>
              <a:rPr sz="1100" b="1" spc="-7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meghosszab-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bítás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elérhető)</a:t>
            </a:r>
            <a:endParaRPr sz="11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042900" y="2711274"/>
            <a:ext cx="1353185" cy="756920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35"/>
              </a:spcBef>
            </a:pPr>
            <a:r>
              <a:rPr sz="1500" b="1" spc="-10" dirty="0">
                <a:solidFill>
                  <a:srgbClr val="292829"/>
                </a:solidFill>
                <a:latin typeface="Arial"/>
                <a:cs typeface="Arial"/>
              </a:rPr>
              <a:t>Tartószerkezet</a:t>
            </a:r>
            <a:endParaRPr sz="1500" dirty="0">
              <a:latin typeface="Arial"/>
              <a:cs typeface="Arial"/>
            </a:endParaRPr>
          </a:p>
          <a:p>
            <a:pPr marL="12700" marR="5080" indent="-635" algn="ctr">
              <a:lnSpc>
                <a:spcPts val="1200"/>
              </a:lnSpc>
              <a:spcBef>
                <a:spcPts val="240"/>
              </a:spcBef>
            </a:pP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Tartószerkezet</a:t>
            </a:r>
            <a:r>
              <a:rPr sz="1100" b="1" spc="4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939598"/>
                </a:solidFill>
                <a:latin typeface="Arial"/>
                <a:cs typeface="Arial"/>
              </a:rPr>
              <a:t>–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prémium</a:t>
            </a:r>
            <a:r>
              <a:rPr sz="1100" b="1" spc="-3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minőségű,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1</a:t>
            </a:r>
            <a:r>
              <a:rPr lang="hu-HU" sz="1100" b="1" dirty="0">
                <a:solidFill>
                  <a:srgbClr val="939598"/>
                </a:solidFill>
                <a:latin typeface="Arial"/>
                <a:cs typeface="Arial"/>
              </a:rPr>
              <a:t>2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év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garanciával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846040" y="4832074"/>
            <a:ext cx="1655445" cy="902170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235"/>
              </a:spcBef>
            </a:pPr>
            <a:r>
              <a:rPr sz="1500" b="1" spc="-10" dirty="0">
                <a:solidFill>
                  <a:srgbClr val="292829"/>
                </a:solidFill>
                <a:latin typeface="Arial"/>
                <a:cs typeface="Arial"/>
              </a:rPr>
              <a:t>Dokumentáció</a:t>
            </a:r>
            <a:endParaRPr sz="1500" dirty="0">
              <a:latin typeface="Arial"/>
              <a:cs typeface="Arial"/>
            </a:endParaRPr>
          </a:p>
          <a:p>
            <a:pPr marL="12700" marR="5080" indent="635" algn="ctr">
              <a:lnSpc>
                <a:spcPts val="1200"/>
              </a:lnSpc>
              <a:spcBef>
                <a:spcPts val="240"/>
              </a:spcBef>
            </a:pP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Teljes</a:t>
            </a:r>
            <a:r>
              <a:rPr sz="1100" b="1" spc="-5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20" dirty="0" err="1">
                <a:solidFill>
                  <a:srgbClr val="939598"/>
                </a:solidFill>
                <a:latin typeface="Arial"/>
                <a:cs typeface="Arial"/>
              </a:rPr>
              <a:t>körű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lang="hu-HU" sz="1100" b="1" spc="-20" dirty="0">
                <a:solidFill>
                  <a:srgbClr val="939598"/>
                </a:solidFill>
                <a:latin typeface="Arial"/>
                <a:cs typeface="Arial"/>
              </a:rPr>
              <a:t>pályázatmenedzsment</a:t>
            </a:r>
            <a:r>
              <a:rPr sz="1100" b="1" spc="-1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–</a:t>
            </a:r>
            <a:r>
              <a:rPr sz="1100" b="1" spc="-2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tervezés, engedélyeztetés, 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2898849" y="4832074"/>
            <a:ext cx="1602105" cy="909319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35"/>
              </a:spcBef>
            </a:pPr>
            <a:r>
              <a:rPr sz="1500" b="1" spc="-10" dirty="0">
                <a:solidFill>
                  <a:srgbClr val="292829"/>
                </a:solidFill>
                <a:latin typeface="Arial"/>
                <a:cs typeface="Arial"/>
              </a:rPr>
              <a:t>Villanyszerelés</a:t>
            </a:r>
            <a:endParaRPr sz="1500">
              <a:latin typeface="Arial"/>
              <a:cs typeface="Arial"/>
            </a:endParaRPr>
          </a:p>
          <a:p>
            <a:pPr marL="12700" marR="5080" indent="-635" algn="ctr">
              <a:lnSpc>
                <a:spcPts val="1200"/>
              </a:lnSpc>
              <a:spcBef>
                <a:spcPts val="240"/>
              </a:spcBef>
            </a:pP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Teljes</a:t>
            </a:r>
            <a:r>
              <a:rPr sz="1100" b="1" spc="-5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villanyszerelési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munkálatok</a:t>
            </a:r>
            <a:r>
              <a:rPr sz="1100" b="1" spc="-3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–</a:t>
            </a:r>
            <a:r>
              <a:rPr sz="1100" b="1" spc="-7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AC/DC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oldali bekötés,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földelés, túlfeszültség-védelem</a:t>
            </a:r>
            <a:endParaRPr sz="110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4877012" y="4832074"/>
            <a:ext cx="1655445" cy="909319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35"/>
              </a:spcBef>
            </a:pPr>
            <a:r>
              <a:rPr sz="1500" b="1" spc="-10" dirty="0">
                <a:solidFill>
                  <a:srgbClr val="292829"/>
                </a:solidFill>
                <a:latin typeface="Arial"/>
                <a:cs typeface="Arial"/>
              </a:rPr>
              <a:t>Telepítés</a:t>
            </a:r>
            <a:endParaRPr sz="1500">
              <a:latin typeface="Arial"/>
              <a:cs typeface="Arial"/>
            </a:endParaRPr>
          </a:p>
          <a:p>
            <a:pPr marL="12700" marR="5080" algn="ctr">
              <a:lnSpc>
                <a:spcPts val="1200"/>
              </a:lnSpc>
              <a:spcBef>
                <a:spcPts val="240"/>
              </a:spcBef>
            </a:pP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Professzionális</a:t>
            </a:r>
            <a:r>
              <a:rPr sz="1100" b="1" spc="-7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telepítés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–</a:t>
            </a:r>
            <a:r>
              <a:rPr sz="11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saját</a:t>
            </a:r>
            <a:r>
              <a:rPr sz="11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csapatunkkal,</a:t>
            </a:r>
            <a:endParaRPr sz="1100">
              <a:latin typeface="Arial"/>
              <a:cs typeface="Arial"/>
            </a:endParaRPr>
          </a:p>
          <a:p>
            <a:pPr marL="303530" marR="294640" algn="ctr">
              <a:lnSpc>
                <a:spcPts val="1200"/>
              </a:lnSpc>
            </a:pP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3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év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 kivitelezési garanciával</a:t>
            </a:r>
            <a:endParaRPr sz="1100">
              <a:latin typeface="Arial"/>
              <a:cs typeface="Arial"/>
            </a:endParaRPr>
          </a:p>
        </p:txBody>
      </p:sp>
      <p:pic>
        <p:nvPicPr>
          <p:cNvPr id="35" name="object 35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354098" y="2119778"/>
            <a:ext cx="612803" cy="557999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357398" y="2119778"/>
            <a:ext cx="612803" cy="557999"/>
          </a:xfrm>
          <a:prstGeom prst="rect">
            <a:avLst/>
          </a:prstGeom>
        </p:spPr>
      </p:pic>
      <p:pic>
        <p:nvPicPr>
          <p:cNvPr id="37" name="object 3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409398" y="2119778"/>
            <a:ext cx="612803" cy="557999"/>
          </a:xfrm>
          <a:prstGeom prst="rect">
            <a:avLst/>
          </a:prstGeom>
        </p:spPr>
      </p:pic>
      <p:pic>
        <p:nvPicPr>
          <p:cNvPr id="38" name="object 3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354099" y="4214660"/>
            <a:ext cx="612800" cy="569645"/>
          </a:xfrm>
          <a:prstGeom prst="rect">
            <a:avLst/>
          </a:prstGeom>
        </p:spPr>
      </p:pic>
      <p:pic>
        <p:nvPicPr>
          <p:cNvPr id="39" name="object 39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3357398" y="4214660"/>
            <a:ext cx="612799" cy="557993"/>
          </a:xfrm>
          <a:prstGeom prst="rect">
            <a:avLst/>
          </a:prstGeom>
        </p:spPr>
      </p:pic>
      <p:pic>
        <p:nvPicPr>
          <p:cNvPr id="40" name="object 40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5409400" y="4214660"/>
            <a:ext cx="612802" cy="5696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09199" y="369609"/>
            <a:ext cx="148526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dirty="0">
                <a:solidFill>
                  <a:srgbClr val="939598"/>
                </a:solidFill>
                <a:latin typeface="Arial"/>
                <a:cs typeface="Arial"/>
              </a:rPr>
              <a:t>Spark</a:t>
            </a:r>
            <a:r>
              <a:rPr sz="900" b="1" spc="-3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939598"/>
                </a:solidFill>
                <a:latin typeface="Arial"/>
                <a:cs typeface="Arial"/>
              </a:rPr>
              <a:t>Electric</a:t>
            </a:r>
            <a:r>
              <a:rPr sz="900" b="1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939598"/>
                </a:solidFill>
                <a:latin typeface="Arial"/>
                <a:cs typeface="Arial"/>
              </a:rPr>
              <a:t>Kft.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1147</a:t>
            </a:r>
            <a:r>
              <a:rPr sz="900" spc="-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Budapest,</a:t>
            </a:r>
            <a:endParaRPr sz="900">
              <a:latin typeface="Arial"/>
              <a:cs typeface="Arial"/>
            </a:endParaRPr>
          </a:p>
          <a:p>
            <a:pPr marL="41910">
              <a:lnSpc>
                <a:spcPct val="100000"/>
              </a:lnSpc>
              <a:spcBef>
                <a:spcPts val="20"/>
              </a:spcBef>
            </a:pP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Telepes</a:t>
            </a:r>
            <a:r>
              <a:rPr sz="900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utca</a:t>
            </a:r>
            <a:r>
              <a:rPr sz="900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72-74.</a:t>
            </a: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psz.</a:t>
            </a:r>
            <a:r>
              <a:rPr sz="900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939598"/>
                </a:solidFill>
                <a:latin typeface="Arial"/>
                <a:cs typeface="Arial"/>
              </a:rPr>
              <a:t>37.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+36</a:t>
            </a: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20</a:t>
            </a: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409</a:t>
            </a:r>
            <a:r>
              <a:rPr sz="900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939598"/>
                </a:solidFill>
                <a:latin typeface="Arial"/>
                <a:cs typeface="Arial"/>
              </a:rPr>
              <a:t>0060</a:t>
            </a:r>
            <a:endParaRPr sz="9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728789" y="348762"/>
            <a:ext cx="197612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939598"/>
                </a:solidFill>
                <a:latin typeface="Arial"/>
                <a:cs typeface="Arial"/>
                <a:hlinkClick r:id="rId2"/>
              </a:rPr>
              <a:t>www.akkumulator-tamogatas.hu</a:t>
            </a:r>
            <a:endParaRPr sz="10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05695" y="1214305"/>
            <a:ext cx="35496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EA24C"/>
                </a:solidFill>
                <a:latin typeface="Arial"/>
                <a:cs typeface="Arial"/>
              </a:rPr>
              <a:t>Miért</a:t>
            </a:r>
            <a:r>
              <a:rPr sz="2400" b="1" spc="-90" dirty="0">
                <a:solidFill>
                  <a:srgbClr val="FEA24C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EA24C"/>
                </a:solidFill>
                <a:latin typeface="Arial"/>
                <a:cs typeface="Arial"/>
              </a:rPr>
              <a:t>válasszon</a:t>
            </a:r>
            <a:r>
              <a:rPr sz="2400" b="1" spc="-85" dirty="0">
                <a:solidFill>
                  <a:srgbClr val="FEA24C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EA24C"/>
                </a:solidFill>
                <a:latin typeface="Arial"/>
                <a:cs typeface="Arial"/>
              </a:rPr>
              <a:t>minket?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7730211"/>
            <a:ext cx="7566659" cy="1497330"/>
            <a:chOff x="0" y="7730211"/>
            <a:chExt cx="7566659" cy="149733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7730211"/>
              <a:ext cx="7559992" cy="149675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484185" y="8369338"/>
              <a:ext cx="307975" cy="388620"/>
            </a:xfrm>
            <a:custGeom>
              <a:avLst/>
              <a:gdLst/>
              <a:ahLst/>
              <a:cxnLst/>
              <a:rect l="l" t="t" r="r" b="b"/>
              <a:pathLst>
                <a:path w="307975" h="388620">
                  <a:moveTo>
                    <a:pt x="307962" y="0"/>
                  </a:moveTo>
                  <a:lnTo>
                    <a:pt x="0" y="0"/>
                  </a:lnTo>
                  <a:lnTo>
                    <a:pt x="0" y="388086"/>
                  </a:lnTo>
                  <a:lnTo>
                    <a:pt x="307962" y="388086"/>
                  </a:lnTo>
                  <a:lnTo>
                    <a:pt x="307962" y="0"/>
                  </a:lnTo>
                  <a:close/>
                </a:path>
              </a:pathLst>
            </a:custGeom>
            <a:solidFill>
              <a:srgbClr val="F6F4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484185" y="8369338"/>
              <a:ext cx="307975" cy="388620"/>
            </a:xfrm>
            <a:custGeom>
              <a:avLst/>
              <a:gdLst/>
              <a:ahLst/>
              <a:cxnLst/>
              <a:rect l="l" t="t" r="r" b="b"/>
              <a:pathLst>
                <a:path w="307975" h="388620">
                  <a:moveTo>
                    <a:pt x="0" y="388086"/>
                  </a:moveTo>
                  <a:lnTo>
                    <a:pt x="307962" y="388086"/>
                  </a:lnTo>
                  <a:lnTo>
                    <a:pt x="307962" y="0"/>
                  </a:lnTo>
                  <a:lnTo>
                    <a:pt x="0" y="0"/>
                  </a:lnTo>
                  <a:lnTo>
                    <a:pt x="0" y="388086"/>
                  </a:lnTo>
                  <a:close/>
                </a:path>
              </a:pathLst>
            </a:custGeom>
            <a:ln w="12547">
              <a:solidFill>
                <a:srgbClr val="F6F4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360208" y="8396046"/>
              <a:ext cx="200025" cy="388620"/>
            </a:xfrm>
            <a:custGeom>
              <a:avLst/>
              <a:gdLst/>
              <a:ahLst/>
              <a:cxnLst/>
              <a:rect l="l" t="t" r="r" b="b"/>
              <a:pathLst>
                <a:path w="200025" h="388620">
                  <a:moveTo>
                    <a:pt x="199783" y="0"/>
                  </a:moveTo>
                  <a:lnTo>
                    <a:pt x="0" y="0"/>
                  </a:lnTo>
                  <a:lnTo>
                    <a:pt x="0" y="388086"/>
                  </a:lnTo>
                  <a:lnTo>
                    <a:pt x="199783" y="388086"/>
                  </a:lnTo>
                  <a:lnTo>
                    <a:pt x="199783" y="0"/>
                  </a:lnTo>
                  <a:close/>
                </a:path>
              </a:pathLst>
            </a:custGeom>
            <a:solidFill>
              <a:srgbClr val="F6F4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360221" y="8396046"/>
              <a:ext cx="200025" cy="388620"/>
            </a:xfrm>
            <a:custGeom>
              <a:avLst/>
              <a:gdLst/>
              <a:ahLst/>
              <a:cxnLst/>
              <a:rect l="l" t="t" r="r" b="b"/>
              <a:pathLst>
                <a:path w="200025" h="388620">
                  <a:moveTo>
                    <a:pt x="199783" y="0"/>
                  </a:moveTo>
                  <a:lnTo>
                    <a:pt x="0" y="0"/>
                  </a:lnTo>
                  <a:lnTo>
                    <a:pt x="0" y="388086"/>
                  </a:lnTo>
                  <a:lnTo>
                    <a:pt x="199783" y="388086"/>
                  </a:lnTo>
                </a:path>
              </a:pathLst>
            </a:custGeom>
            <a:ln w="12547">
              <a:solidFill>
                <a:srgbClr val="F6F4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57999" y="9450019"/>
            <a:ext cx="1333498" cy="895489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3389299" y="9442453"/>
            <a:ext cx="3202940" cy="779780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 marR="844550">
              <a:lnSpc>
                <a:spcPct val="104200"/>
              </a:lnSpc>
              <a:spcBef>
                <a:spcPts val="40"/>
              </a:spcBef>
            </a:pPr>
            <a:r>
              <a:rPr sz="1200" b="1" dirty="0">
                <a:solidFill>
                  <a:srgbClr val="939598"/>
                </a:solidFill>
                <a:latin typeface="Arial"/>
                <a:cs typeface="Arial"/>
              </a:rPr>
              <a:t>100%</a:t>
            </a:r>
            <a:r>
              <a:rPr sz="1200" b="1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939598"/>
                </a:solidFill>
                <a:latin typeface="Arial"/>
                <a:cs typeface="Arial"/>
              </a:rPr>
              <a:t>minőségi</a:t>
            </a:r>
            <a:r>
              <a:rPr sz="1200" b="1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939598"/>
                </a:solidFill>
                <a:latin typeface="Arial"/>
                <a:cs typeface="Arial"/>
              </a:rPr>
              <a:t>munkát</a:t>
            </a:r>
            <a:r>
              <a:rPr sz="12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939598"/>
                </a:solidFill>
                <a:latin typeface="Arial"/>
                <a:cs typeface="Arial"/>
              </a:rPr>
              <a:t>végzünk </a:t>
            </a:r>
            <a:r>
              <a:rPr sz="1200" b="1" dirty="0">
                <a:solidFill>
                  <a:srgbClr val="939598"/>
                </a:solidFill>
                <a:latin typeface="Arial"/>
                <a:cs typeface="Arial"/>
              </a:rPr>
              <a:t>Nincsenek</a:t>
            </a:r>
            <a:r>
              <a:rPr sz="12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939598"/>
                </a:solidFill>
                <a:latin typeface="Arial"/>
                <a:cs typeface="Arial"/>
              </a:rPr>
              <a:t>rejtett</a:t>
            </a:r>
            <a:r>
              <a:rPr sz="12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939598"/>
                </a:solidFill>
                <a:latin typeface="Arial"/>
                <a:cs typeface="Arial"/>
              </a:rPr>
              <a:t>költségek</a:t>
            </a:r>
            <a:endParaRPr sz="1200">
              <a:latin typeface="Arial"/>
              <a:cs typeface="Arial"/>
            </a:endParaRPr>
          </a:p>
          <a:p>
            <a:pPr marL="12700" marR="5080">
              <a:lnSpc>
                <a:spcPct val="104200"/>
              </a:lnSpc>
            </a:pPr>
            <a:r>
              <a:rPr sz="1200" b="1" dirty="0">
                <a:solidFill>
                  <a:srgbClr val="939598"/>
                </a:solidFill>
                <a:latin typeface="Arial"/>
                <a:cs typeface="Arial"/>
              </a:rPr>
              <a:t>Nincs</a:t>
            </a:r>
            <a:r>
              <a:rPr sz="1200" b="1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939598"/>
                </a:solidFill>
                <a:latin typeface="Arial"/>
                <a:cs typeface="Arial"/>
              </a:rPr>
              <a:t>késlekedés,</a:t>
            </a:r>
            <a:r>
              <a:rPr sz="12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939598"/>
                </a:solidFill>
                <a:latin typeface="Arial"/>
                <a:cs typeface="Arial"/>
              </a:rPr>
              <a:t>magyarázkodás,</a:t>
            </a:r>
            <a:r>
              <a:rPr sz="12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939598"/>
                </a:solidFill>
                <a:latin typeface="Arial"/>
                <a:cs typeface="Arial"/>
              </a:rPr>
              <a:t>csúszás </a:t>
            </a:r>
            <a:r>
              <a:rPr sz="1200" b="1" dirty="0">
                <a:solidFill>
                  <a:srgbClr val="939598"/>
                </a:solidFill>
                <a:latin typeface="Arial"/>
                <a:cs typeface="Arial"/>
              </a:rPr>
              <a:t>Nincsenek</a:t>
            </a:r>
            <a:r>
              <a:rPr sz="1200" b="1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939598"/>
                </a:solidFill>
                <a:latin typeface="Arial"/>
                <a:cs typeface="Arial"/>
              </a:rPr>
              <a:t>utólagos</a:t>
            </a:r>
            <a:r>
              <a:rPr sz="1200" b="1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939598"/>
                </a:solidFill>
                <a:latin typeface="Arial"/>
                <a:cs typeface="Arial"/>
              </a:rPr>
              <a:t>meglepetések</a:t>
            </a:r>
            <a:endParaRPr sz="120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2771943" y="1996850"/>
            <a:ext cx="1965325" cy="2679065"/>
          </a:xfrm>
          <a:custGeom>
            <a:avLst/>
            <a:gdLst/>
            <a:ahLst/>
            <a:cxnLst/>
            <a:rect l="l" t="t" r="r" b="b"/>
            <a:pathLst>
              <a:path w="1965325" h="2679065">
                <a:moveTo>
                  <a:pt x="1784718" y="0"/>
                </a:moveTo>
                <a:lnTo>
                  <a:pt x="179997" y="0"/>
                </a:lnTo>
                <a:lnTo>
                  <a:pt x="132144" y="6430"/>
                </a:lnTo>
                <a:lnTo>
                  <a:pt x="89146" y="24576"/>
                </a:lnTo>
                <a:lnTo>
                  <a:pt x="52717" y="52722"/>
                </a:lnTo>
                <a:lnTo>
                  <a:pt x="24573" y="89152"/>
                </a:lnTo>
                <a:lnTo>
                  <a:pt x="6429" y="132149"/>
                </a:lnTo>
                <a:lnTo>
                  <a:pt x="0" y="179997"/>
                </a:lnTo>
                <a:lnTo>
                  <a:pt x="0" y="2498712"/>
                </a:lnTo>
                <a:lnTo>
                  <a:pt x="6429" y="2546564"/>
                </a:lnTo>
                <a:lnTo>
                  <a:pt x="24573" y="2589562"/>
                </a:lnTo>
                <a:lnTo>
                  <a:pt x="52717" y="2625991"/>
                </a:lnTo>
                <a:lnTo>
                  <a:pt x="89146" y="2654135"/>
                </a:lnTo>
                <a:lnTo>
                  <a:pt x="132144" y="2672280"/>
                </a:lnTo>
                <a:lnTo>
                  <a:pt x="179997" y="2678709"/>
                </a:lnTo>
                <a:lnTo>
                  <a:pt x="1784718" y="2678709"/>
                </a:lnTo>
                <a:lnTo>
                  <a:pt x="1832570" y="2672280"/>
                </a:lnTo>
                <a:lnTo>
                  <a:pt x="1875568" y="2654135"/>
                </a:lnTo>
                <a:lnTo>
                  <a:pt x="1911997" y="2625991"/>
                </a:lnTo>
                <a:lnTo>
                  <a:pt x="1940141" y="2589562"/>
                </a:lnTo>
                <a:lnTo>
                  <a:pt x="1958286" y="2546564"/>
                </a:lnTo>
                <a:lnTo>
                  <a:pt x="1964715" y="2498712"/>
                </a:lnTo>
                <a:lnTo>
                  <a:pt x="1964715" y="179997"/>
                </a:lnTo>
                <a:lnTo>
                  <a:pt x="1958286" y="132149"/>
                </a:lnTo>
                <a:lnTo>
                  <a:pt x="1940141" y="89152"/>
                </a:lnTo>
                <a:lnTo>
                  <a:pt x="1911997" y="52722"/>
                </a:lnTo>
                <a:lnTo>
                  <a:pt x="1875568" y="24576"/>
                </a:lnTo>
                <a:lnTo>
                  <a:pt x="1832570" y="6430"/>
                </a:lnTo>
                <a:lnTo>
                  <a:pt x="178471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68629" y="1996850"/>
            <a:ext cx="1965325" cy="2679065"/>
          </a:xfrm>
          <a:custGeom>
            <a:avLst/>
            <a:gdLst/>
            <a:ahLst/>
            <a:cxnLst/>
            <a:rect l="l" t="t" r="r" b="b"/>
            <a:pathLst>
              <a:path w="1965325" h="2679065">
                <a:moveTo>
                  <a:pt x="1784718" y="0"/>
                </a:moveTo>
                <a:lnTo>
                  <a:pt x="179997" y="0"/>
                </a:lnTo>
                <a:lnTo>
                  <a:pt x="132144" y="6430"/>
                </a:lnTo>
                <a:lnTo>
                  <a:pt x="89146" y="24576"/>
                </a:lnTo>
                <a:lnTo>
                  <a:pt x="52717" y="52722"/>
                </a:lnTo>
                <a:lnTo>
                  <a:pt x="24573" y="89152"/>
                </a:lnTo>
                <a:lnTo>
                  <a:pt x="6429" y="132149"/>
                </a:lnTo>
                <a:lnTo>
                  <a:pt x="0" y="179997"/>
                </a:lnTo>
                <a:lnTo>
                  <a:pt x="0" y="2498712"/>
                </a:lnTo>
                <a:lnTo>
                  <a:pt x="6429" y="2546564"/>
                </a:lnTo>
                <a:lnTo>
                  <a:pt x="24573" y="2589562"/>
                </a:lnTo>
                <a:lnTo>
                  <a:pt x="52717" y="2625991"/>
                </a:lnTo>
                <a:lnTo>
                  <a:pt x="89146" y="2654135"/>
                </a:lnTo>
                <a:lnTo>
                  <a:pt x="132144" y="2672280"/>
                </a:lnTo>
                <a:lnTo>
                  <a:pt x="179997" y="2678709"/>
                </a:lnTo>
                <a:lnTo>
                  <a:pt x="1784718" y="2678709"/>
                </a:lnTo>
                <a:lnTo>
                  <a:pt x="1832570" y="2672280"/>
                </a:lnTo>
                <a:lnTo>
                  <a:pt x="1875568" y="2654135"/>
                </a:lnTo>
                <a:lnTo>
                  <a:pt x="1911997" y="2625991"/>
                </a:lnTo>
                <a:lnTo>
                  <a:pt x="1940141" y="2589562"/>
                </a:lnTo>
                <a:lnTo>
                  <a:pt x="1958286" y="2546564"/>
                </a:lnTo>
                <a:lnTo>
                  <a:pt x="1964715" y="2498712"/>
                </a:lnTo>
                <a:lnTo>
                  <a:pt x="1964715" y="179997"/>
                </a:lnTo>
                <a:lnTo>
                  <a:pt x="1958286" y="132149"/>
                </a:lnTo>
                <a:lnTo>
                  <a:pt x="1940141" y="89152"/>
                </a:lnTo>
                <a:lnTo>
                  <a:pt x="1911997" y="52722"/>
                </a:lnTo>
                <a:lnTo>
                  <a:pt x="1875568" y="24576"/>
                </a:lnTo>
                <a:lnTo>
                  <a:pt x="1832570" y="6430"/>
                </a:lnTo>
                <a:lnTo>
                  <a:pt x="178471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object 19"/>
          <p:cNvSpPr/>
          <p:nvPr/>
        </p:nvSpPr>
        <p:spPr>
          <a:xfrm>
            <a:off x="4863654" y="1996850"/>
            <a:ext cx="1965325" cy="2679065"/>
          </a:xfrm>
          <a:custGeom>
            <a:avLst/>
            <a:gdLst/>
            <a:ahLst/>
            <a:cxnLst/>
            <a:rect l="l" t="t" r="r" b="b"/>
            <a:pathLst>
              <a:path w="1965325" h="2679065">
                <a:moveTo>
                  <a:pt x="1784718" y="0"/>
                </a:moveTo>
                <a:lnTo>
                  <a:pt x="179997" y="0"/>
                </a:lnTo>
                <a:lnTo>
                  <a:pt x="132144" y="6430"/>
                </a:lnTo>
                <a:lnTo>
                  <a:pt x="89146" y="24576"/>
                </a:lnTo>
                <a:lnTo>
                  <a:pt x="52717" y="52722"/>
                </a:lnTo>
                <a:lnTo>
                  <a:pt x="24573" y="89152"/>
                </a:lnTo>
                <a:lnTo>
                  <a:pt x="6429" y="132149"/>
                </a:lnTo>
                <a:lnTo>
                  <a:pt x="0" y="179997"/>
                </a:lnTo>
                <a:lnTo>
                  <a:pt x="0" y="2498712"/>
                </a:lnTo>
                <a:lnTo>
                  <a:pt x="6429" y="2546564"/>
                </a:lnTo>
                <a:lnTo>
                  <a:pt x="24573" y="2589562"/>
                </a:lnTo>
                <a:lnTo>
                  <a:pt x="52717" y="2625991"/>
                </a:lnTo>
                <a:lnTo>
                  <a:pt x="89146" y="2654135"/>
                </a:lnTo>
                <a:lnTo>
                  <a:pt x="132144" y="2672280"/>
                </a:lnTo>
                <a:lnTo>
                  <a:pt x="179997" y="2678709"/>
                </a:lnTo>
                <a:lnTo>
                  <a:pt x="1784718" y="2678709"/>
                </a:lnTo>
                <a:lnTo>
                  <a:pt x="1832570" y="2672280"/>
                </a:lnTo>
                <a:lnTo>
                  <a:pt x="1875568" y="2654135"/>
                </a:lnTo>
                <a:lnTo>
                  <a:pt x="1911997" y="2625991"/>
                </a:lnTo>
                <a:lnTo>
                  <a:pt x="1940141" y="2589562"/>
                </a:lnTo>
                <a:lnTo>
                  <a:pt x="1958286" y="2546564"/>
                </a:lnTo>
                <a:lnTo>
                  <a:pt x="1964715" y="2498712"/>
                </a:lnTo>
                <a:lnTo>
                  <a:pt x="1964715" y="179997"/>
                </a:lnTo>
                <a:lnTo>
                  <a:pt x="1958286" y="132149"/>
                </a:lnTo>
                <a:lnTo>
                  <a:pt x="1940141" y="89152"/>
                </a:lnTo>
                <a:lnTo>
                  <a:pt x="1911997" y="52722"/>
                </a:lnTo>
                <a:lnTo>
                  <a:pt x="1875568" y="24576"/>
                </a:lnTo>
                <a:lnTo>
                  <a:pt x="1832570" y="6430"/>
                </a:lnTo>
                <a:lnTo>
                  <a:pt x="178471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701785" y="4829360"/>
            <a:ext cx="1965325" cy="2679065"/>
          </a:xfrm>
          <a:custGeom>
            <a:avLst/>
            <a:gdLst/>
            <a:ahLst/>
            <a:cxnLst/>
            <a:rect l="l" t="t" r="r" b="b"/>
            <a:pathLst>
              <a:path w="1965325" h="2679065">
                <a:moveTo>
                  <a:pt x="1784718" y="0"/>
                </a:moveTo>
                <a:lnTo>
                  <a:pt x="179997" y="0"/>
                </a:lnTo>
                <a:lnTo>
                  <a:pt x="132144" y="6430"/>
                </a:lnTo>
                <a:lnTo>
                  <a:pt x="89146" y="24576"/>
                </a:lnTo>
                <a:lnTo>
                  <a:pt x="52717" y="52722"/>
                </a:lnTo>
                <a:lnTo>
                  <a:pt x="24573" y="89152"/>
                </a:lnTo>
                <a:lnTo>
                  <a:pt x="6429" y="132149"/>
                </a:lnTo>
                <a:lnTo>
                  <a:pt x="0" y="179997"/>
                </a:lnTo>
                <a:lnTo>
                  <a:pt x="0" y="2498712"/>
                </a:lnTo>
                <a:lnTo>
                  <a:pt x="6429" y="2546564"/>
                </a:lnTo>
                <a:lnTo>
                  <a:pt x="24573" y="2589562"/>
                </a:lnTo>
                <a:lnTo>
                  <a:pt x="52717" y="2625991"/>
                </a:lnTo>
                <a:lnTo>
                  <a:pt x="89146" y="2654135"/>
                </a:lnTo>
                <a:lnTo>
                  <a:pt x="132144" y="2672280"/>
                </a:lnTo>
                <a:lnTo>
                  <a:pt x="179997" y="2678709"/>
                </a:lnTo>
                <a:lnTo>
                  <a:pt x="1784718" y="2678709"/>
                </a:lnTo>
                <a:lnTo>
                  <a:pt x="1832570" y="2672280"/>
                </a:lnTo>
                <a:lnTo>
                  <a:pt x="1875568" y="2654135"/>
                </a:lnTo>
                <a:lnTo>
                  <a:pt x="1911997" y="2625991"/>
                </a:lnTo>
                <a:lnTo>
                  <a:pt x="1940141" y="2589562"/>
                </a:lnTo>
                <a:lnTo>
                  <a:pt x="1958286" y="2546564"/>
                </a:lnTo>
                <a:lnTo>
                  <a:pt x="1964715" y="2498712"/>
                </a:lnTo>
                <a:lnTo>
                  <a:pt x="1964715" y="179997"/>
                </a:lnTo>
                <a:lnTo>
                  <a:pt x="1958286" y="132149"/>
                </a:lnTo>
                <a:lnTo>
                  <a:pt x="1940141" y="89152"/>
                </a:lnTo>
                <a:lnTo>
                  <a:pt x="1911997" y="52722"/>
                </a:lnTo>
                <a:lnTo>
                  <a:pt x="1875568" y="24576"/>
                </a:lnTo>
                <a:lnTo>
                  <a:pt x="1832570" y="6430"/>
                </a:lnTo>
                <a:lnTo>
                  <a:pt x="178471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3805648" y="4837901"/>
            <a:ext cx="1965325" cy="2679065"/>
          </a:xfrm>
          <a:custGeom>
            <a:avLst/>
            <a:gdLst/>
            <a:ahLst/>
            <a:cxnLst/>
            <a:rect l="l" t="t" r="r" b="b"/>
            <a:pathLst>
              <a:path w="1965325" h="2679065">
                <a:moveTo>
                  <a:pt x="1784718" y="0"/>
                </a:moveTo>
                <a:lnTo>
                  <a:pt x="179997" y="0"/>
                </a:lnTo>
                <a:lnTo>
                  <a:pt x="132144" y="6430"/>
                </a:lnTo>
                <a:lnTo>
                  <a:pt x="89146" y="24576"/>
                </a:lnTo>
                <a:lnTo>
                  <a:pt x="52717" y="52722"/>
                </a:lnTo>
                <a:lnTo>
                  <a:pt x="24573" y="89152"/>
                </a:lnTo>
                <a:lnTo>
                  <a:pt x="6429" y="132149"/>
                </a:lnTo>
                <a:lnTo>
                  <a:pt x="0" y="179997"/>
                </a:lnTo>
                <a:lnTo>
                  <a:pt x="0" y="2498712"/>
                </a:lnTo>
                <a:lnTo>
                  <a:pt x="6429" y="2546564"/>
                </a:lnTo>
                <a:lnTo>
                  <a:pt x="24573" y="2589562"/>
                </a:lnTo>
                <a:lnTo>
                  <a:pt x="52717" y="2625991"/>
                </a:lnTo>
                <a:lnTo>
                  <a:pt x="89146" y="2654135"/>
                </a:lnTo>
                <a:lnTo>
                  <a:pt x="132144" y="2672280"/>
                </a:lnTo>
                <a:lnTo>
                  <a:pt x="179997" y="2678709"/>
                </a:lnTo>
                <a:lnTo>
                  <a:pt x="1784718" y="2678709"/>
                </a:lnTo>
                <a:lnTo>
                  <a:pt x="1832570" y="2672280"/>
                </a:lnTo>
                <a:lnTo>
                  <a:pt x="1875568" y="2654135"/>
                </a:lnTo>
                <a:lnTo>
                  <a:pt x="1911997" y="2625991"/>
                </a:lnTo>
                <a:lnTo>
                  <a:pt x="1940141" y="2589562"/>
                </a:lnTo>
                <a:lnTo>
                  <a:pt x="1958286" y="2546564"/>
                </a:lnTo>
                <a:lnTo>
                  <a:pt x="1964715" y="2498712"/>
                </a:lnTo>
                <a:lnTo>
                  <a:pt x="1964715" y="179997"/>
                </a:lnTo>
                <a:lnTo>
                  <a:pt x="1958286" y="132149"/>
                </a:lnTo>
                <a:lnTo>
                  <a:pt x="1940141" y="89152"/>
                </a:lnTo>
                <a:lnTo>
                  <a:pt x="1911997" y="52722"/>
                </a:lnTo>
                <a:lnTo>
                  <a:pt x="1875568" y="24576"/>
                </a:lnTo>
                <a:lnTo>
                  <a:pt x="1832570" y="6430"/>
                </a:lnTo>
                <a:lnTo>
                  <a:pt x="178471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object 24"/>
          <p:cNvSpPr/>
          <p:nvPr/>
        </p:nvSpPr>
        <p:spPr>
          <a:xfrm>
            <a:off x="1322948" y="2276176"/>
            <a:ext cx="549910" cy="531495"/>
          </a:xfrm>
          <a:custGeom>
            <a:avLst/>
            <a:gdLst/>
            <a:ahLst/>
            <a:cxnLst/>
            <a:rect l="l" t="t" r="r" b="b"/>
            <a:pathLst>
              <a:path w="549910" h="531494">
                <a:moveTo>
                  <a:pt x="436778" y="0"/>
                </a:moveTo>
                <a:lnTo>
                  <a:pt x="112648" y="0"/>
                </a:lnTo>
                <a:lnTo>
                  <a:pt x="68912" y="8887"/>
                </a:lnTo>
                <a:lnTo>
                  <a:pt x="33093" y="33088"/>
                </a:lnTo>
                <a:lnTo>
                  <a:pt x="8889" y="68906"/>
                </a:lnTo>
                <a:lnTo>
                  <a:pt x="0" y="112648"/>
                </a:lnTo>
                <a:lnTo>
                  <a:pt x="0" y="418452"/>
                </a:lnTo>
                <a:lnTo>
                  <a:pt x="8889" y="462189"/>
                </a:lnTo>
                <a:lnTo>
                  <a:pt x="33093" y="498008"/>
                </a:lnTo>
                <a:lnTo>
                  <a:pt x="68912" y="522211"/>
                </a:lnTo>
                <a:lnTo>
                  <a:pt x="112648" y="531101"/>
                </a:lnTo>
                <a:lnTo>
                  <a:pt x="436778" y="531101"/>
                </a:lnTo>
                <a:lnTo>
                  <a:pt x="480515" y="522211"/>
                </a:lnTo>
                <a:lnTo>
                  <a:pt x="516334" y="498008"/>
                </a:lnTo>
                <a:lnTo>
                  <a:pt x="540537" y="462189"/>
                </a:lnTo>
                <a:lnTo>
                  <a:pt x="549427" y="418452"/>
                </a:lnTo>
                <a:lnTo>
                  <a:pt x="549427" y="112648"/>
                </a:lnTo>
                <a:lnTo>
                  <a:pt x="540537" y="68906"/>
                </a:lnTo>
                <a:lnTo>
                  <a:pt x="516334" y="33088"/>
                </a:lnTo>
                <a:lnTo>
                  <a:pt x="480515" y="8887"/>
                </a:lnTo>
                <a:lnTo>
                  <a:pt x="436778" y="0"/>
                </a:lnTo>
                <a:close/>
              </a:path>
            </a:pathLst>
          </a:custGeom>
          <a:solidFill>
            <a:srgbClr val="E5F5E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5" name="object 2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00785" y="2423330"/>
            <a:ext cx="193751" cy="236791"/>
          </a:xfrm>
          <a:prstGeom prst="rect">
            <a:avLst/>
          </a:prstGeom>
        </p:spPr>
      </p:pic>
      <p:sp>
        <p:nvSpPr>
          <p:cNvPr id="26" name="object 26"/>
          <p:cNvSpPr/>
          <p:nvPr/>
        </p:nvSpPr>
        <p:spPr>
          <a:xfrm>
            <a:off x="5550594" y="2257402"/>
            <a:ext cx="549910" cy="531495"/>
          </a:xfrm>
          <a:custGeom>
            <a:avLst/>
            <a:gdLst/>
            <a:ahLst/>
            <a:cxnLst/>
            <a:rect l="l" t="t" r="r" b="b"/>
            <a:pathLst>
              <a:path w="549910" h="531494">
                <a:moveTo>
                  <a:pt x="436778" y="0"/>
                </a:moveTo>
                <a:lnTo>
                  <a:pt x="112648" y="0"/>
                </a:lnTo>
                <a:lnTo>
                  <a:pt x="68912" y="8887"/>
                </a:lnTo>
                <a:lnTo>
                  <a:pt x="33093" y="33088"/>
                </a:lnTo>
                <a:lnTo>
                  <a:pt x="8889" y="68906"/>
                </a:lnTo>
                <a:lnTo>
                  <a:pt x="0" y="112648"/>
                </a:lnTo>
                <a:lnTo>
                  <a:pt x="0" y="418452"/>
                </a:lnTo>
                <a:lnTo>
                  <a:pt x="8889" y="462189"/>
                </a:lnTo>
                <a:lnTo>
                  <a:pt x="33093" y="498008"/>
                </a:lnTo>
                <a:lnTo>
                  <a:pt x="68912" y="522211"/>
                </a:lnTo>
                <a:lnTo>
                  <a:pt x="112648" y="531101"/>
                </a:lnTo>
                <a:lnTo>
                  <a:pt x="436778" y="531101"/>
                </a:lnTo>
                <a:lnTo>
                  <a:pt x="480515" y="522211"/>
                </a:lnTo>
                <a:lnTo>
                  <a:pt x="516334" y="498008"/>
                </a:lnTo>
                <a:lnTo>
                  <a:pt x="540537" y="462189"/>
                </a:lnTo>
                <a:lnTo>
                  <a:pt x="549427" y="418452"/>
                </a:lnTo>
                <a:lnTo>
                  <a:pt x="549427" y="112648"/>
                </a:lnTo>
                <a:lnTo>
                  <a:pt x="540537" y="68906"/>
                </a:lnTo>
                <a:lnTo>
                  <a:pt x="516334" y="33088"/>
                </a:lnTo>
                <a:lnTo>
                  <a:pt x="480515" y="8887"/>
                </a:lnTo>
                <a:lnTo>
                  <a:pt x="436778" y="0"/>
                </a:lnTo>
                <a:close/>
              </a:path>
            </a:pathLst>
          </a:custGeom>
          <a:solidFill>
            <a:srgbClr val="FAF2DE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7" name="object 2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711936" y="2409939"/>
            <a:ext cx="226745" cy="215811"/>
          </a:xfrm>
          <a:prstGeom prst="rect">
            <a:avLst/>
          </a:prstGeom>
        </p:spPr>
      </p:pic>
      <p:sp>
        <p:nvSpPr>
          <p:cNvPr id="28" name="object 28"/>
          <p:cNvSpPr/>
          <p:nvPr/>
        </p:nvSpPr>
        <p:spPr>
          <a:xfrm>
            <a:off x="2405830" y="5082472"/>
            <a:ext cx="549910" cy="531495"/>
          </a:xfrm>
          <a:custGeom>
            <a:avLst/>
            <a:gdLst/>
            <a:ahLst/>
            <a:cxnLst/>
            <a:rect l="l" t="t" r="r" b="b"/>
            <a:pathLst>
              <a:path w="549910" h="531495">
                <a:moveTo>
                  <a:pt x="436778" y="0"/>
                </a:moveTo>
                <a:lnTo>
                  <a:pt x="112648" y="0"/>
                </a:lnTo>
                <a:lnTo>
                  <a:pt x="68912" y="8887"/>
                </a:lnTo>
                <a:lnTo>
                  <a:pt x="33093" y="33088"/>
                </a:lnTo>
                <a:lnTo>
                  <a:pt x="8889" y="68906"/>
                </a:lnTo>
                <a:lnTo>
                  <a:pt x="0" y="112648"/>
                </a:lnTo>
                <a:lnTo>
                  <a:pt x="0" y="418452"/>
                </a:lnTo>
                <a:lnTo>
                  <a:pt x="8889" y="462189"/>
                </a:lnTo>
                <a:lnTo>
                  <a:pt x="33093" y="498008"/>
                </a:lnTo>
                <a:lnTo>
                  <a:pt x="68912" y="522211"/>
                </a:lnTo>
                <a:lnTo>
                  <a:pt x="112648" y="531101"/>
                </a:lnTo>
                <a:lnTo>
                  <a:pt x="436778" y="531101"/>
                </a:lnTo>
                <a:lnTo>
                  <a:pt x="480515" y="522211"/>
                </a:lnTo>
                <a:lnTo>
                  <a:pt x="516334" y="498008"/>
                </a:lnTo>
                <a:lnTo>
                  <a:pt x="540537" y="462189"/>
                </a:lnTo>
                <a:lnTo>
                  <a:pt x="549427" y="418452"/>
                </a:lnTo>
                <a:lnTo>
                  <a:pt x="549427" y="112648"/>
                </a:lnTo>
                <a:lnTo>
                  <a:pt x="540537" y="68906"/>
                </a:lnTo>
                <a:lnTo>
                  <a:pt x="516334" y="33088"/>
                </a:lnTo>
                <a:lnTo>
                  <a:pt x="480515" y="8887"/>
                </a:lnTo>
                <a:lnTo>
                  <a:pt x="436778" y="0"/>
                </a:lnTo>
                <a:close/>
              </a:path>
            </a:pathLst>
          </a:custGeom>
          <a:solidFill>
            <a:srgbClr val="F2E5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9" name="object 2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562147" y="5229562"/>
            <a:ext cx="237845" cy="236791"/>
          </a:xfrm>
          <a:prstGeom prst="rect">
            <a:avLst/>
          </a:prstGeom>
        </p:spPr>
      </p:pic>
      <p:sp>
        <p:nvSpPr>
          <p:cNvPr id="30" name="object 30"/>
          <p:cNvSpPr/>
          <p:nvPr/>
        </p:nvSpPr>
        <p:spPr>
          <a:xfrm>
            <a:off x="4517985" y="5082472"/>
            <a:ext cx="549910" cy="531495"/>
          </a:xfrm>
          <a:custGeom>
            <a:avLst/>
            <a:gdLst/>
            <a:ahLst/>
            <a:cxnLst/>
            <a:rect l="l" t="t" r="r" b="b"/>
            <a:pathLst>
              <a:path w="549910" h="531495">
                <a:moveTo>
                  <a:pt x="436778" y="0"/>
                </a:moveTo>
                <a:lnTo>
                  <a:pt x="112648" y="0"/>
                </a:lnTo>
                <a:lnTo>
                  <a:pt x="68912" y="8889"/>
                </a:lnTo>
                <a:lnTo>
                  <a:pt x="33093" y="33093"/>
                </a:lnTo>
                <a:lnTo>
                  <a:pt x="8889" y="68912"/>
                </a:lnTo>
                <a:lnTo>
                  <a:pt x="0" y="112648"/>
                </a:lnTo>
                <a:lnTo>
                  <a:pt x="0" y="418452"/>
                </a:lnTo>
                <a:lnTo>
                  <a:pt x="8889" y="462189"/>
                </a:lnTo>
                <a:lnTo>
                  <a:pt x="33093" y="498008"/>
                </a:lnTo>
                <a:lnTo>
                  <a:pt x="68912" y="522211"/>
                </a:lnTo>
                <a:lnTo>
                  <a:pt x="112648" y="531101"/>
                </a:lnTo>
                <a:lnTo>
                  <a:pt x="436778" y="531101"/>
                </a:lnTo>
                <a:lnTo>
                  <a:pt x="480515" y="522211"/>
                </a:lnTo>
                <a:lnTo>
                  <a:pt x="516334" y="498008"/>
                </a:lnTo>
                <a:lnTo>
                  <a:pt x="540537" y="462189"/>
                </a:lnTo>
                <a:lnTo>
                  <a:pt x="549427" y="418452"/>
                </a:lnTo>
                <a:lnTo>
                  <a:pt x="549427" y="112648"/>
                </a:lnTo>
                <a:lnTo>
                  <a:pt x="540537" y="68912"/>
                </a:lnTo>
                <a:lnTo>
                  <a:pt x="516334" y="33093"/>
                </a:lnTo>
                <a:lnTo>
                  <a:pt x="480515" y="8889"/>
                </a:lnTo>
                <a:lnTo>
                  <a:pt x="436778" y="0"/>
                </a:lnTo>
                <a:close/>
              </a:path>
            </a:pathLst>
          </a:custGeom>
          <a:solidFill>
            <a:srgbClr val="FCEBDE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1" name="object 31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663541" y="5393527"/>
            <a:ext cx="107759" cy="82550"/>
          </a:xfrm>
          <a:prstGeom prst="rect">
            <a:avLst/>
          </a:prstGeom>
        </p:spPr>
      </p:pic>
      <p:sp>
        <p:nvSpPr>
          <p:cNvPr id="32" name="object 32"/>
          <p:cNvSpPr/>
          <p:nvPr/>
        </p:nvSpPr>
        <p:spPr>
          <a:xfrm>
            <a:off x="4706581" y="5240388"/>
            <a:ext cx="215265" cy="215265"/>
          </a:xfrm>
          <a:custGeom>
            <a:avLst/>
            <a:gdLst/>
            <a:ahLst/>
            <a:cxnLst/>
            <a:rect l="l" t="t" r="r" b="b"/>
            <a:pathLst>
              <a:path w="215264" h="215264">
                <a:moveTo>
                  <a:pt x="107645" y="46736"/>
                </a:moveTo>
                <a:lnTo>
                  <a:pt x="106260" y="39763"/>
                </a:lnTo>
                <a:lnTo>
                  <a:pt x="100838" y="26682"/>
                </a:lnTo>
                <a:lnTo>
                  <a:pt x="97396" y="21539"/>
                </a:lnTo>
                <a:lnTo>
                  <a:pt x="96888" y="20777"/>
                </a:lnTo>
                <a:lnTo>
                  <a:pt x="86868" y="10756"/>
                </a:lnTo>
                <a:lnTo>
                  <a:pt x="86106" y="10248"/>
                </a:lnTo>
                <a:lnTo>
                  <a:pt x="86106" y="49479"/>
                </a:lnTo>
                <a:lnTo>
                  <a:pt x="86106" y="58153"/>
                </a:lnTo>
                <a:lnTo>
                  <a:pt x="58153" y="86106"/>
                </a:lnTo>
                <a:lnTo>
                  <a:pt x="49491" y="86106"/>
                </a:lnTo>
                <a:lnTo>
                  <a:pt x="21539" y="58153"/>
                </a:lnTo>
                <a:lnTo>
                  <a:pt x="21539" y="49479"/>
                </a:lnTo>
                <a:lnTo>
                  <a:pt x="49479" y="21539"/>
                </a:lnTo>
                <a:lnTo>
                  <a:pt x="58153" y="21539"/>
                </a:lnTo>
                <a:lnTo>
                  <a:pt x="86106" y="49479"/>
                </a:lnTo>
                <a:lnTo>
                  <a:pt x="86106" y="10248"/>
                </a:lnTo>
                <a:lnTo>
                  <a:pt x="80962" y="6807"/>
                </a:lnTo>
                <a:lnTo>
                  <a:pt x="67881" y="1384"/>
                </a:lnTo>
                <a:lnTo>
                  <a:pt x="60909" y="0"/>
                </a:lnTo>
                <a:lnTo>
                  <a:pt x="46736" y="0"/>
                </a:lnTo>
                <a:lnTo>
                  <a:pt x="10756" y="20777"/>
                </a:lnTo>
                <a:lnTo>
                  <a:pt x="0" y="46736"/>
                </a:lnTo>
                <a:lnTo>
                  <a:pt x="0" y="60909"/>
                </a:lnTo>
                <a:lnTo>
                  <a:pt x="20777" y="96888"/>
                </a:lnTo>
                <a:lnTo>
                  <a:pt x="46736" y="107645"/>
                </a:lnTo>
                <a:lnTo>
                  <a:pt x="60909" y="107645"/>
                </a:lnTo>
                <a:lnTo>
                  <a:pt x="96888" y="86868"/>
                </a:lnTo>
                <a:lnTo>
                  <a:pt x="97396" y="86106"/>
                </a:lnTo>
                <a:lnTo>
                  <a:pt x="100838" y="80962"/>
                </a:lnTo>
                <a:lnTo>
                  <a:pt x="106260" y="67881"/>
                </a:lnTo>
                <a:lnTo>
                  <a:pt x="107645" y="60909"/>
                </a:lnTo>
                <a:lnTo>
                  <a:pt x="107645" y="46736"/>
                </a:lnTo>
                <a:close/>
              </a:path>
              <a:path w="215264" h="215264">
                <a:moveTo>
                  <a:pt x="172300" y="47942"/>
                </a:moveTo>
                <a:lnTo>
                  <a:pt x="152971" y="12153"/>
                </a:lnTo>
                <a:lnTo>
                  <a:pt x="126072" y="279"/>
                </a:lnTo>
                <a:lnTo>
                  <a:pt x="120205" y="3746"/>
                </a:lnTo>
                <a:lnTo>
                  <a:pt x="117259" y="15265"/>
                </a:lnTo>
                <a:lnTo>
                  <a:pt x="120726" y="21132"/>
                </a:lnTo>
                <a:lnTo>
                  <a:pt x="126492" y="22606"/>
                </a:lnTo>
                <a:lnTo>
                  <a:pt x="129997" y="23507"/>
                </a:lnTo>
                <a:lnTo>
                  <a:pt x="150761" y="50266"/>
                </a:lnTo>
                <a:lnTo>
                  <a:pt x="150761" y="57505"/>
                </a:lnTo>
                <a:lnTo>
                  <a:pt x="120726" y="86639"/>
                </a:lnTo>
                <a:lnTo>
                  <a:pt x="117259" y="92506"/>
                </a:lnTo>
                <a:lnTo>
                  <a:pt x="120205" y="104025"/>
                </a:lnTo>
                <a:lnTo>
                  <a:pt x="126072" y="107492"/>
                </a:lnTo>
                <a:lnTo>
                  <a:pt x="137591" y="104546"/>
                </a:lnTo>
                <a:lnTo>
                  <a:pt x="167474" y="76949"/>
                </a:lnTo>
                <a:lnTo>
                  <a:pt x="172300" y="59829"/>
                </a:lnTo>
                <a:lnTo>
                  <a:pt x="172300" y="47942"/>
                </a:lnTo>
                <a:close/>
              </a:path>
              <a:path w="215264" h="215264">
                <a:moveTo>
                  <a:pt x="215265" y="177038"/>
                </a:moveTo>
                <a:lnTo>
                  <a:pt x="195986" y="141312"/>
                </a:lnTo>
                <a:lnTo>
                  <a:pt x="169151" y="129425"/>
                </a:lnTo>
                <a:lnTo>
                  <a:pt x="163283" y="132880"/>
                </a:lnTo>
                <a:lnTo>
                  <a:pt x="160312" y="144399"/>
                </a:lnTo>
                <a:lnTo>
                  <a:pt x="163766" y="150266"/>
                </a:lnTo>
                <a:lnTo>
                  <a:pt x="173012" y="152654"/>
                </a:lnTo>
                <a:lnTo>
                  <a:pt x="176187" y="154063"/>
                </a:lnTo>
                <a:lnTo>
                  <a:pt x="193738" y="179374"/>
                </a:lnTo>
                <a:lnTo>
                  <a:pt x="193738" y="210451"/>
                </a:lnTo>
                <a:lnTo>
                  <a:pt x="198564" y="215265"/>
                </a:lnTo>
                <a:lnTo>
                  <a:pt x="210451" y="215265"/>
                </a:lnTo>
                <a:lnTo>
                  <a:pt x="215265" y="210451"/>
                </a:lnTo>
                <a:lnTo>
                  <a:pt x="215265" y="204508"/>
                </a:lnTo>
                <a:lnTo>
                  <a:pt x="215265" y="177038"/>
                </a:lnTo>
                <a:close/>
              </a:path>
            </a:pathLst>
          </a:custGeom>
          <a:solidFill>
            <a:srgbClr val="E859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3450017" y="2276176"/>
            <a:ext cx="549910" cy="531495"/>
          </a:xfrm>
          <a:custGeom>
            <a:avLst/>
            <a:gdLst/>
            <a:ahLst/>
            <a:cxnLst/>
            <a:rect l="l" t="t" r="r" b="b"/>
            <a:pathLst>
              <a:path w="549910" h="531494">
                <a:moveTo>
                  <a:pt x="436778" y="0"/>
                </a:moveTo>
                <a:lnTo>
                  <a:pt x="112648" y="0"/>
                </a:lnTo>
                <a:lnTo>
                  <a:pt x="68912" y="8889"/>
                </a:lnTo>
                <a:lnTo>
                  <a:pt x="33093" y="33093"/>
                </a:lnTo>
                <a:lnTo>
                  <a:pt x="8889" y="68912"/>
                </a:lnTo>
                <a:lnTo>
                  <a:pt x="0" y="112648"/>
                </a:lnTo>
                <a:lnTo>
                  <a:pt x="0" y="418452"/>
                </a:lnTo>
                <a:lnTo>
                  <a:pt x="8889" y="462194"/>
                </a:lnTo>
                <a:lnTo>
                  <a:pt x="33093" y="498013"/>
                </a:lnTo>
                <a:lnTo>
                  <a:pt x="68912" y="522213"/>
                </a:lnTo>
                <a:lnTo>
                  <a:pt x="112648" y="531101"/>
                </a:lnTo>
                <a:lnTo>
                  <a:pt x="436778" y="531101"/>
                </a:lnTo>
                <a:lnTo>
                  <a:pt x="480520" y="522213"/>
                </a:lnTo>
                <a:lnTo>
                  <a:pt x="516339" y="498013"/>
                </a:lnTo>
                <a:lnTo>
                  <a:pt x="540539" y="462194"/>
                </a:lnTo>
                <a:lnTo>
                  <a:pt x="549427" y="418452"/>
                </a:lnTo>
                <a:lnTo>
                  <a:pt x="549427" y="112648"/>
                </a:lnTo>
                <a:lnTo>
                  <a:pt x="540539" y="68912"/>
                </a:lnTo>
                <a:lnTo>
                  <a:pt x="516339" y="33093"/>
                </a:lnTo>
                <a:lnTo>
                  <a:pt x="480520" y="8889"/>
                </a:lnTo>
                <a:lnTo>
                  <a:pt x="436778" y="0"/>
                </a:lnTo>
                <a:close/>
              </a:path>
            </a:pathLst>
          </a:custGeom>
          <a:solidFill>
            <a:srgbClr val="E5ED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4" name="object 3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627870" y="2423106"/>
            <a:ext cx="193725" cy="237388"/>
          </a:xfrm>
          <a:prstGeom prst="rect">
            <a:avLst/>
          </a:prstGeom>
        </p:spPr>
      </p:pic>
      <p:sp>
        <p:nvSpPr>
          <p:cNvPr id="35" name="object 35"/>
          <p:cNvSpPr txBox="1"/>
          <p:nvPr/>
        </p:nvSpPr>
        <p:spPr>
          <a:xfrm>
            <a:off x="784500" y="2939500"/>
            <a:ext cx="1733550" cy="114617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273685" marR="266700" algn="ctr">
              <a:lnSpc>
                <a:spcPts val="1500"/>
              </a:lnSpc>
              <a:spcBef>
                <a:spcPts val="400"/>
              </a:spcBef>
            </a:pPr>
            <a:r>
              <a:rPr sz="1500" b="1" dirty="0">
                <a:solidFill>
                  <a:srgbClr val="292829"/>
                </a:solidFill>
                <a:latin typeface="Arial"/>
                <a:cs typeface="Arial"/>
              </a:rPr>
              <a:t>Nálunk</a:t>
            </a:r>
            <a:r>
              <a:rPr sz="1500" b="1" spc="-25" dirty="0">
                <a:solidFill>
                  <a:srgbClr val="292829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292829"/>
                </a:solidFill>
                <a:latin typeface="Arial"/>
                <a:cs typeface="Arial"/>
              </a:rPr>
              <a:t>nincs apróbetű</a:t>
            </a:r>
            <a:endParaRPr sz="1500">
              <a:latin typeface="Arial"/>
              <a:cs typeface="Arial"/>
            </a:endParaRPr>
          </a:p>
          <a:p>
            <a:pPr marL="12700" marR="5080" algn="ctr">
              <a:lnSpc>
                <a:spcPts val="1200"/>
              </a:lnSpc>
              <a:spcBef>
                <a:spcPts val="740"/>
              </a:spcBef>
            </a:pP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Átlátható ajánlatot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adunk,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rejtett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költségek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nélkül.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Amit</a:t>
            </a:r>
            <a:r>
              <a:rPr sz="11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leírunk,</a:t>
            </a:r>
            <a:r>
              <a:rPr sz="11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azt</a:t>
            </a:r>
            <a:r>
              <a:rPr sz="11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be</a:t>
            </a:r>
            <a:r>
              <a:rPr sz="11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939598"/>
                </a:solidFill>
                <a:latin typeface="Arial"/>
                <a:cs typeface="Arial"/>
              </a:rPr>
              <a:t>is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tartjuk.</a:t>
            </a:r>
            <a:endParaRPr sz="110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2842801" y="2939500"/>
            <a:ext cx="1811655" cy="145097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0" marR="119380" algn="ctr">
              <a:lnSpc>
                <a:spcPts val="1500"/>
              </a:lnSpc>
              <a:spcBef>
                <a:spcPts val="400"/>
              </a:spcBef>
            </a:pPr>
            <a:r>
              <a:rPr sz="1500" b="1" spc="-10" dirty="0">
                <a:solidFill>
                  <a:srgbClr val="292829"/>
                </a:solidFill>
                <a:latin typeface="Arial"/>
                <a:cs typeface="Arial"/>
              </a:rPr>
              <a:t>Tisztességes, </a:t>
            </a:r>
            <a:r>
              <a:rPr sz="1500" b="1" dirty="0">
                <a:solidFill>
                  <a:srgbClr val="292829"/>
                </a:solidFill>
                <a:latin typeface="Arial"/>
                <a:cs typeface="Arial"/>
              </a:rPr>
              <a:t>stabil </a:t>
            </a:r>
            <a:r>
              <a:rPr sz="1500" b="1" spc="-10" dirty="0">
                <a:solidFill>
                  <a:srgbClr val="292829"/>
                </a:solidFill>
                <a:latin typeface="Arial"/>
                <a:cs typeface="Arial"/>
              </a:rPr>
              <a:t>vállalkozás</a:t>
            </a:r>
            <a:endParaRPr sz="1500">
              <a:latin typeface="Arial"/>
              <a:cs typeface="Arial"/>
            </a:endParaRPr>
          </a:p>
          <a:p>
            <a:pPr marL="12700" marR="5080" indent="-635" algn="ctr">
              <a:lnSpc>
                <a:spcPts val="1200"/>
              </a:lnSpc>
              <a:spcBef>
                <a:spcPts val="740"/>
              </a:spcBef>
            </a:pP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Csapatunk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több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mint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8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939598"/>
                </a:solidFill>
                <a:latin typeface="Arial"/>
                <a:cs typeface="Arial"/>
              </a:rPr>
              <a:t>éve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dolgozik</a:t>
            </a:r>
            <a:r>
              <a:rPr sz="11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11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villamosiparban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és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napelemes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rendsze-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rek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területén.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Nem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tegnap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kezdtük,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és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hosszú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távra tervezünk.</a:t>
            </a:r>
            <a:endParaRPr sz="110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4949378" y="2939500"/>
            <a:ext cx="1804035" cy="156781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80645" marR="74295" algn="ctr">
              <a:lnSpc>
                <a:spcPts val="1500"/>
              </a:lnSpc>
              <a:spcBef>
                <a:spcPts val="400"/>
              </a:spcBef>
            </a:pPr>
            <a:r>
              <a:rPr sz="1500" b="1" spc="-10" dirty="0">
                <a:solidFill>
                  <a:srgbClr val="292829"/>
                </a:solidFill>
                <a:latin typeface="Arial"/>
                <a:cs typeface="Arial"/>
              </a:rPr>
              <a:t>Valódi ügyfélvélemények</a:t>
            </a:r>
            <a:endParaRPr sz="1500">
              <a:latin typeface="Arial"/>
              <a:cs typeface="Arial"/>
            </a:endParaRPr>
          </a:p>
          <a:p>
            <a:pPr marL="12065" marR="5080" indent="-1270" algn="ctr">
              <a:lnSpc>
                <a:spcPts val="1160"/>
              </a:lnSpc>
              <a:spcBef>
                <a:spcPts val="730"/>
              </a:spcBef>
            </a:pP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Google</a:t>
            </a:r>
            <a:r>
              <a:rPr sz="1100" b="1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értékeléseink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valós,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ellenőrizhető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tapasztalatokon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alapulnak,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melyek</a:t>
            </a:r>
            <a:r>
              <a:rPr sz="1100" b="1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visszatükrözik munkánk</a:t>
            </a:r>
            <a:r>
              <a:rPr sz="11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minőségét</a:t>
            </a:r>
            <a:r>
              <a:rPr sz="11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939598"/>
                </a:solidFill>
                <a:latin typeface="Arial"/>
                <a:cs typeface="Arial"/>
              </a:rPr>
              <a:t>és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ügyfélközpontú hozzáállásunkat.</a:t>
            </a:r>
            <a:endParaRPr sz="110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1828896" y="5807021"/>
            <a:ext cx="1675130" cy="145097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 marR="5080" indent="4445" algn="ctr">
              <a:lnSpc>
                <a:spcPts val="1500"/>
              </a:lnSpc>
              <a:spcBef>
                <a:spcPts val="400"/>
              </a:spcBef>
            </a:pPr>
            <a:r>
              <a:rPr sz="1500" b="1" spc="-10" dirty="0">
                <a:solidFill>
                  <a:srgbClr val="292829"/>
                </a:solidFill>
                <a:latin typeface="Arial"/>
                <a:cs typeface="Arial"/>
              </a:rPr>
              <a:t>Prémium </a:t>
            </a:r>
            <a:r>
              <a:rPr sz="1500" b="1" spc="-40" dirty="0">
                <a:solidFill>
                  <a:srgbClr val="292829"/>
                </a:solidFill>
                <a:latin typeface="Arial"/>
                <a:cs typeface="Arial"/>
              </a:rPr>
              <a:t>minőségű</a:t>
            </a:r>
            <a:r>
              <a:rPr sz="1500" b="1" spc="-45" dirty="0">
                <a:solidFill>
                  <a:srgbClr val="292829"/>
                </a:solidFill>
                <a:latin typeface="Arial"/>
                <a:cs typeface="Arial"/>
              </a:rPr>
              <a:t> anyagok</a:t>
            </a:r>
            <a:endParaRPr sz="1500">
              <a:latin typeface="Arial"/>
              <a:cs typeface="Arial"/>
            </a:endParaRPr>
          </a:p>
          <a:p>
            <a:pPr marL="24130" marR="11430" algn="ctr">
              <a:lnSpc>
                <a:spcPts val="1200"/>
              </a:lnSpc>
              <a:spcBef>
                <a:spcPts val="740"/>
              </a:spcBef>
            </a:pP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Csak</a:t>
            </a:r>
            <a:r>
              <a:rPr sz="1100" b="1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bevált,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megbízható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gyártók</a:t>
            </a:r>
            <a:r>
              <a:rPr sz="1100" b="1" spc="-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termékeivel</a:t>
            </a:r>
            <a:r>
              <a:rPr sz="1100" b="1" spc="-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dol-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gozunk,</a:t>
            </a:r>
            <a:r>
              <a:rPr sz="1100" b="1" spc="-4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hogy</a:t>
            </a:r>
            <a:r>
              <a:rPr sz="1100" b="1" spc="-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rendszere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hosszú</a:t>
            </a:r>
            <a:r>
              <a:rPr sz="1100" b="1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távon</a:t>
            </a:r>
            <a:r>
              <a:rPr sz="1100" b="1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is</a:t>
            </a:r>
            <a:r>
              <a:rPr sz="1100" b="1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bizton-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ságosan</a:t>
            </a:r>
            <a:r>
              <a:rPr sz="1100" b="1" spc="-3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és</a:t>
            </a:r>
            <a:r>
              <a:rPr sz="1100" b="1" spc="-3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hatékonyan működjön.</a:t>
            </a:r>
            <a:endParaRPr sz="11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3871395" y="5807021"/>
            <a:ext cx="1819275" cy="129857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316230" marR="308610" algn="ctr">
              <a:lnSpc>
                <a:spcPts val="1500"/>
              </a:lnSpc>
              <a:spcBef>
                <a:spcPts val="400"/>
              </a:spcBef>
            </a:pPr>
            <a:r>
              <a:rPr sz="1500" b="1" dirty="0">
                <a:solidFill>
                  <a:srgbClr val="292829"/>
                </a:solidFill>
                <a:latin typeface="Arial"/>
                <a:cs typeface="Arial"/>
              </a:rPr>
              <a:t>Saját</a:t>
            </a:r>
            <a:r>
              <a:rPr sz="1500" b="1" spc="-40" dirty="0">
                <a:solidFill>
                  <a:srgbClr val="292829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292829"/>
                </a:solidFill>
                <a:latin typeface="Arial"/>
                <a:cs typeface="Arial"/>
              </a:rPr>
              <a:t>telepítő csapat</a:t>
            </a:r>
            <a:endParaRPr sz="1500" dirty="0">
              <a:latin typeface="Arial"/>
              <a:cs typeface="Arial"/>
            </a:endParaRPr>
          </a:p>
          <a:p>
            <a:pPr marL="12700" marR="5080" algn="ctr">
              <a:lnSpc>
                <a:spcPts val="1200"/>
              </a:lnSpc>
              <a:spcBef>
                <a:spcPts val="740"/>
              </a:spcBef>
            </a:pP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1100" b="1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kivitelezést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nem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alvállal-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kozók,</a:t>
            </a:r>
            <a:r>
              <a:rPr sz="1100" b="1" spc="-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hanem</a:t>
            </a:r>
            <a:r>
              <a:rPr sz="1100" b="1" spc="-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saját,</a:t>
            </a:r>
            <a:r>
              <a:rPr sz="1100" b="1" spc="-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össze-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szokott</a:t>
            </a:r>
            <a:r>
              <a:rPr sz="1100" b="1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csapatunk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végzi.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Ez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garancia</a:t>
            </a:r>
            <a:r>
              <a:rPr sz="1100" b="1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minőségre</a:t>
            </a:r>
            <a:r>
              <a:rPr sz="1100" b="1" spc="50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és</a:t>
            </a:r>
            <a:r>
              <a:rPr sz="1100" b="1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1100" b="1" spc="-10" dirty="0">
                <a:solidFill>
                  <a:srgbClr val="939598"/>
                </a:solidFill>
                <a:latin typeface="Arial"/>
                <a:cs typeface="Arial"/>
              </a:rPr>
              <a:t> felelősségvállalásra.</a:t>
            </a:r>
            <a:endParaRPr sz="11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09199" y="369609"/>
            <a:ext cx="148526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dirty="0">
                <a:solidFill>
                  <a:srgbClr val="939598"/>
                </a:solidFill>
                <a:latin typeface="Arial"/>
                <a:cs typeface="Arial"/>
              </a:rPr>
              <a:t>Spark</a:t>
            </a:r>
            <a:r>
              <a:rPr sz="900" b="1" spc="-3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939598"/>
                </a:solidFill>
                <a:latin typeface="Arial"/>
                <a:cs typeface="Arial"/>
              </a:rPr>
              <a:t>Electric</a:t>
            </a:r>
            <a:r>
              <a:rPr sz="900" b="1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939598"/>
                </a:solidFill>
                <a:latin typeface="Arial"/>
                <a:cs typeface="Arial"/>
              </a:rPr>
              <a:t>Kft.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1147</a:t>
            </a:r>
            <a:r>
              <a:rPr sz="900" spc="-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Budapest,</a:t>
            </a:r>
            <a:endParaRPr sz="900">
              <a:latin typeface="Arial"/>
              <a:cs typeface="Arial"/>
            </a:endParaRPr>
          </a:p>
          <a:p>
            <a:pPr marL="41910">
              <a:lnSpc>
                <a:spcPct val="100000"/>
              </a:lnSpc>
              <a:spcBef>
                <a:spcPts val="20"/>
              </a:spcBef>
            </a:pP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Telepes</a:t>
            </a:r>
            <a:r>
              <a:rPr sz="900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utca</a:t>
            </a:r>
            <a:r>
              <a:rPr sz="900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72-74.</a:t>
            </a: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psz.</a:t>
            </a:r>
            <a:r>
              <a:rPr sz="900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939598"/>
                </a:solidFill>
                <a:latin typeface="Arial"/>
                <a:cs typeface="Arial"/>
              </a:rPr>
              <a:t>37.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+36</a:t>
            </a: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20</a:t>
            </a:r>
            <a:r>
              <a:rPr sz="9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939598"/>
                </a:solidFill>
                <a:latin typeface="Arial"/>
                <a:cs typeface="Arial"/>
              </a:rPr>
              <a:t>409</a:t>
            </a:r>
            <a:r>
              <a:rPr sz="900" spc="-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939598"/>
                </a:solidFill>
                <a:latin typeface="Arial"/>
                <a:cs typeface="Arial"/>
              </a:rPr>
              <a:t>0060</a:t>
            </a:r>
            <a:endParaRPr sz="9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728789" y="348762"/>
            <a:ext cx="197612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939598"/>
                </a:solidFill>
                <a:latin typeface="Arial"/>
                <a:cs typeface="Arial"/>
                <a:hlinkClick r:id="rId2"/>
              </a:rPr>
              <a:t>www.akkumulator-tamogatas.hu</a:t>
            </a:r>
            <a:endParaRPr sz="10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82328" y="1405313"/>
            <a:ext cx="559054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b="1" spc="-40" dirty="0">
                <a:solidFill>
                  <a:srgbClr val="39BEB7"/>
                </a:solidFill>
                <a:latin typeface="Arial"/>
                <a:cs typeface="Arial"/>
              </a:rPr>
              <a:t>Komplett</a:t>
            </a:r>
            <a:r>
              <a:rPr sz="2200" b="1" spc="-85" dirty="0">
                <a:solidFill>
                  <a:srgbClr val="39BEB7"/>
                </a:solidFill>
                <a:latin typeface="Arial"/>
                <a:cs typeface="Arial"/>
              </a:rPr>
              <a:t> </a:t>
            </a:r>
            <a:r>
              <a:rPr sz="2200" b="1" spc="-45" dirty="0">
                <a:solidFill>
                  <a:srgbClr val="39BEB7"/>
                </a:solidFill>
                <a:latin typeface="Arial"/>
                <a:cs typeface="Arial"/>
              </a:rPr>
              <a:t>akkumulátoros</a:t>
            </a:r>
            <a:r>
              <a:rPr sz="2200" b="1" spc="-80" dirty="0">
                <a:solidFill>
                  <a:srgbClr val="39BEB7"/>
                </a:solidFill>
                <a:latin typeface="Arial"/>
                <a:cs typeface="Arial"/>
              </a:rPr>
              <a:t> </a:t>
            </a:r>
            <a:r>
              <a:rPr sz="2200" b="1" spc="-40" dirty="0">
                <a:solidFill>
                  <a:srgbClr val="39BEB7"/>
                </a:solidFill>
                <a:latin typeface="Arial"/>
                <a:cs typeface="Arial"/>
              </a:rPr>
              <a:t>napelem</a:t>
            </a:r>
            <a:r>
              <a:rPr sz="2200" b="1" spc="-80" dirty="0">
                <a:solidFill>
                  <a:srgbClr val="39BEB7"/>
                </a:solidFill>
                <a:latin typeface="Arial"/>
                <a:cs typeface="Arial"/>
              </a:rPr>
              <a:t> </a:t>
            </a:r>
            <a:r>
              <a:rPr sz="2200" b="1" spc="-10" dirty="0">
                <a:solidFill>
                  <a:srgbClr val="39BEB7"/>
                </a:solidFill>
                <a:latin typeface="Arial"/>
                <a:cs typeface="Arial"/>
              </a:rPr>
              <a:t>rendszer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10652" y="1903802"/>
            <a:ext cx="3649345" cy="4389755"/>
            <a:chOff x="1966785" y="2069908"/>
            <a:chExt cx="3649345" cy="4389755"/>
          </a:xfrm>
        </p:grpSpPr>
        <p:sp>
          <p:nvSpPr>
            <p:cNvPr id="6" name="object 6"/>
            <p:cNvSpPr/>
            <p:nvPr/>
          </p:nvSpPr>
          <p:spPr>
            <a:xfrm>
              <a:off x="2190197" y="5252389"/>
              <a:ext cx="133350" cy="90170"/>
            </a:xfrm>
            <a:custGeom>
              <a:avLst/>
              <a:gdLst/>
              <a:ahLst/>
              <a:cxnLst/>
              <a:rect l="l" t="t" r="r" b="b"/>
              <a:pathLst>
                <a:path w="133350" h="90170">
                  <a:moveTo>
                    <a:pt x="0" y="54343"/>
                  </a:moveTo>
                  <a:lnTo>
                    <a:pt x="31953" y="89661"/>
                  </a:lnTo>
                  <a:lnTo>
                    <a:pt x="133159" y="0"/>
                  </a:lnTo>
                </a:path>
              </a:pathLst>
            </a:custGeom>
            <a:ln w="8890">
              <a:solidFill>
                <a:srgbClr val="37C1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70278" y="2073400"/>
              <a:ext cx="3642360" cy="4382770"/>
            </a:xfrm>
            <a:custGeom>
              <a:avLst/>
              <a:gdLst/>
              <a:ahLst/>
              <a:cxnLst/>
              <a:rect l="l" t="t" r="r" b="b"/>
              <a:pathLst>
                <a:path w="3642360" h="4382770">
                  <a:moveTo>
                    <a:pt x="3449726" y="0"/>
                  </a:moveTo>
                  <a:lnTo>
                    <a:pt x="192595" y="0"/>
                  </a:lnTo>
                  <a:lnTo>
                    <a:pt x="148432" y="5086"/>
                  </a:lnTo>
                  <a:lnTo>
                    <a:pt x="107893" y="19576"/>
                  </a:lnTo>
                  <a:lnTo>
                    <a:pt x="72133" y="42312"/>
                  </a:lnTo>
                  <a:lnTo>
                    <a:pt x="42308" y="72138"/>
                  </a:lnTo>
                  <a:lnTo>
                    <a:pt x="19574" y="107899"/>
                  </a:lnTo>
                  <a:lnTo>
                    <a:pt x="5086" y="148436"/>
                  </a:lnTo>
                  <a:lnTo>
                    <a:pt x="0" y="192595"/>
                  </a:lnTo>
                  <a:lnTo>
                    <a:pt x="0" y="4189742"/>
                  </a:lnTo>
                  <a:lnTo>
                    <a:pt x="5086" y="4233906"/>
                  </a:lnTo>
                  <a:lnTo>
                    <a:pt x="19574" y="4274447"/>
                  </a:lnTo>
                  <a:lnTo>
                    <a:pt x="42308" y="4310209"/>
                  </a:lnTo>
                  <a:lnTo>
                    <a:pt x="72133" y="4340037"/>
                  </a:lnTo>
                  <a:lnTo>
                    <a:pt x="107893" y="4362774"/>
                  </a:lnTo>
                  <a:lnTo>
                    <a:pt x="148432" y="4377264"/>
                  </a:lnTo>
                  <a:lnTo>
                    <a:pt x="192595" y="4382350"/>
                  </a:lnTo>
                  <a:lnTo>
                    <a:pt x="3449726" y="4382350"/>
                  </a:lnTo>
                  <a:lnTo>
                    <a:pt x="3493885" y="4377264"/>
                  </a:lnTo>
                  <a:lnTo>
                    <a:pt x="3534422" y="4362774"/>
                  </a:lnTo>
                  <a:lnTo>
                    <a:pt x="3570182" y="4340037"/>
                  </a:lnTo>
                  <a:lnTo>
                    <a:pt x="3600009" y="4310209"/>
                  </a:lnTo>
                  <a:lnTo>
                    <a:pt x="3622745" y="4274447"/>
                  </a:lnTo>
                  <a:lnTo>
                    <a:pt x="3637235" y="4233906"/>
                  </a:lnTo>
                  <a:lnTo>
                    <a:pt x="3642321" y="4189742"/>
                  </a:lnTo>
                  <a:lnTo>
                    <a:pt x="3642321" y="192595"/>
                  </a:lnTo>
                  <a:lnTo>
                    <a:pt x="3637235" y="148436"/>
                  </a:lnTo>
                  <a:lnTo>
                    <a:pt x="3622745" y="107899"/>
                  </a:lnTo>
                  <a:lnTo>
                    <a:pt x="3600009" y="72138"/>
                  </a:lnTo>
                  <a:lnTo>
                    <a:pt x="3570182" y="42312"/>
                  </a:lnTo>
                  <a:lnTo>
                    <a:pt x="3534422" y="19576"/>
                  </a:lnTo>
                  <a:lnTo>
                    <a:pt x="3493885" y="5086"/>
                  </a:lnTo>
                  <a:lnTo>
                    <a:pt x="344972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70265" y="2073402"/>
              <a:ext cx="3642334" cy="2501770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970278" y="2073400"/>
              <a:ext cx="3642360" cy="4382770"/>
            </a:xfrm>
            <a:custGeom>
              <a:avLst/>
              <a:gdLst/>
              <a:ahLst/>
              <a:cxnLst/>
              <a:rect l="l" t="t" r="r" b="b"/>
              <a:pathLst>
                <a:path w="3642360" h="4382770">
                  <a:moveTo>
                    <a:pt x="192595" y="0"/>
                  </a:moveTo>
                  <a:lnTo>
                    <a:pt x="148432" y="5086"/>
                  </a:lnTo>
                  <a:lnTo>
                    <a:pt x="107893" y="19576"/>
                  </a:lnTo>
                  <a:lnTo>
                    <a:pt x="72133" y="42312"/>
                  </a:lnTo>
                  <a:lnTo>
                    <a:pt x="42308" y="72138"/>
                  </a:lnTo>
                  <a:lnTo>
                    <a:pt x="19574" y="107899"/>
                  </a:lnTo>
                  <a:lnTo>
                    <a:pt x="5086" y="148436"/>
                  </a:lnTo>
                  <a:lnTo>
                    <a:pt x="0" y="192595"/>
                  </a:lnTo>
                  <a:lnTo>
                    <a:pt x="0" y="4189742"/>
                  </a:lnTo>
                  <a:lnTo>
                    <a:pt x="5086" y="4233906"/>
                  </a:lnTo>
                  <a:lnTo>
                    <a:pt x="19574" y="4274447"/>
                  </a:lnTo>
                  <a:lnTo>
                    <a:pt x="42308" y="4310209"/>
                  </a:lnTo>
                  <a:lnTo>
                    <a:pt x="72133" y="4340037"/>
                  </a:lnTo>
                  <a:lnTo>
                    <a:pt x="107893" y="4362774"/>
                  </a:lnTo>
                  <a:lnTo>
                    <a:pt x="148432" y="4377264"/>
                  </a:lnTo>
                  <a:lnTo>
                    <a:pt x="192595" y="4382350"/>
                  </a:lnTo>
                  <a:lnTo>
                    <a:pt x="3449726" y="4382350"/>
                  </a:lnTo>
                  <a:lnTo>
                    <a:pt x="3493885" y="4377264"/>
                  </a:lnTo>
                  <a:lnTo>
                    <a:pt x="3534422" y="4362774"/>
                  </a:lnTo>
                  <a:lnTo>
                    <a:pt x="3570182" y="4340037"/>
                  </a:lnTo>
                  <a:lnTo>
                    <a:pt x="3600009" y="4310209"/>
                  </a:lnTo>
                  <a:lnTo>
                    <a:pt x="3622745" y="4274447"/>
                  </a:lnTo>
                  <a:lnTo>
                    <a:pt x="3637235" y="4233906"/>
                  </a:lnTo>
                  <a:lnTo>
                    <a:pt x="3642321" y="4189742"/>
                  </a:lnTo>
                  <a:lnTo>
                    <a:pt x="3642321" y="192595"/>
                  </a:lnTo>
                  <a:lnTo>
                    <a:pt x="3637235" y="148436"/>
                  </a:lnTo>
                  <a:lnTo>
                    <a:pt x="3622745" y="107899"/>
                  </a:lnTo>
                  <a:lnTo>
                    <a:pt x="3600009" y="72138"/>
                  </a:lnTo>
                  <a:lnTo>
                    <a:pt x="3570182" y="42312"/>
                  </a:lnTo>
                  <a:lnTo>
                    <a:pt x="3534422" y="19576"/>
                  </a:lnTo>
                  <a:lnTo>
                    <a:pt x="3493885" y="5086"/>
                  </a:lnTo>
                  <a:lnTo>
                    <a:pt x="3449726" y="0"/>
                  </a:lnTo>
                  <a:lnTo>
                    <a:pt x="192595" y="0"/>
                  </a:lnTo>
                  <a:close/>
                </a:path>
              </a:pathLst>
            </a:custGeom>
            <a:ln w="6794">
              <a:solidFill>
                <a:srgbClr val="37D3B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591904" y="5217723"/>
            <a:ext cx="2658745" cy="952825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90"/>
              </a:spcBef>
            </a:pPr>
            <a:r>
              <a:rPr sz="1000" b="1" dirty="0">
                <a:latin typeface="Arial"/>
                <a:cs typeface="Arial"/>
              </a:rPr>
              <a:t>6kwp</a:t>
            </a:r>
            <a:r>
              <a:rPr sz="1000" b="1" spc="5" dirty="0">
                <a:latin typeface="Arial"/>
                <a:cs typeface="Arial"/>
              </a:rPr>
              <a:t> </a:t>
            </a:r>
            <a:r>
              <a:rPr sz="1000" b="1" dirty="0">
                <a:latin typeface="Arial"/>
                <a:cs typeface="Arial"/>
              </a:rPr>
              <a:t>ASTRONERGY</a:t>
            </a:r>
            <a:r>
              <a:rPr sz="1000" b="1" spc="25" dirty="0">
                <a:latin typeface="Arial"/>
                <a:cs typeface="Arial"/>
              </a:rPr>
              <a:t> </a:t>
            </a:r>
            <a:r>
              <a:rPr sz="1000" b="1" dirty="0">
                <a:latin typeface="Arial"/>
                <a:cs typeface="Arial"/>
              </a:rPr>
              <a:t>455W</a:t>
            </a:r>
            <a:r>
              <a:rPr sz="1000" b="1" spc="50" dirty="0">
                <a:latin typeface="Arial"/>
                <a:cs typeface="Arial"/>
              </a:rPr>
              <a:t> </a:t>
            </a:r>
            <a:r>
              <a:rPr sz="1000" b="1" dirty="0">
                <a:latin typeface="Arial"/>
                <a:cs typeface="Arial"/>
              </a:rPr>
              <a:t>N-type</a:t>
            </a:r>
            <a:r>
              <a:rPr sz="1000" b="1" spc="45" dirty="0">
                <a:latin typeface="Arial"/>
                <a:cs typeface="Arial"/>
              </a:rPr>
              <a:t> </a:t>
            </a:r>
            <a:r>
              <a:rPr sz="1000" b="1" spc="-10" dirty="0">
                <a:latin typeface="Arial"/>
                <a:cs typeface="Arial"/>
              </a:rPr>
              <a:t>napelem</a:t>
            </a:r>
            <a:endParaRPr sz="1000" dirty="0">
              <a:latin typeface="Arial"/>
              <a:cs typeface="Arial"/>
            </a:endParaRPr>
          </a:p>
          <a:p>
            <a:pPr marL="12700" marR="632460">
              <a:lnSpc>
                <a:spcPts val="1070"/>
              </a:lnSpc>
              <a:spcBef>
                <a:spcPts val="655"/>
              </a:spcBef>
            </a:pPr>
            <a:r>
              <a:rPr sz="950" b="1" dirty="0">
                <a:latin typeface="Arial"/>
                <a:cs typeface="Arial"/>
              </a:rPr>
              <a:t>DEYE</a:t>
            </a:r>
            <a:r>
              <a:rPr sz="950" b="1" spc="10" dirty="0">
                <a:latin typeface="Arial"/>
                <a:cs typeface="Arial"/>
              </a:rPr>
              <a:t> </a:t>
            </a:r>
            <a:r>
              <a:rPr sz="950" b="1" dirty="0">
                <a:latin typeface="Arial"/>
                <a:cs typeface="Arial"/>
              </a:rPr>
              <a:t>5KW</a:t>
            </a:r>
            <a:r>
              <a:rPr sz="950" b="1" spc="10" dirty="0">
                <a:latin typeface="Arial"/>
                <a:cs typeface="Arial"/>
              </a:rPr>
              <a:t> </a:t>
            </a:r>
            <a:r>
              <a:rPr sz="950" b="1" dirty="0">
                <a:latin typeface="Arial"/>
                <a:cs typeface="Arial"/>
              </a:rPr>
              <a:t>SG04LP3</a:t>
            </a:r>
            <a:r>
              <a:rPr sz="950" b="1" spc="10" dirty="0">
                <a:latin typeface="Arial"/>
                <a:cs typeface="Arial"/>
              </a:rPr>
              <a:t> </a:t>
            </a:r>
            <a:r>
              <a:rPr sz="950" b="1" spc="-10" dirty="0">
                <a:latin typeface="Arial"/>
                <a:cs typeface="Arial"/>
              </a:rPr>
              <a:t>asszimetrikus, </a:t>
            </a:r>
            <a:r>
              <a:rPr sz="950" b="1" dirty="0">
                <a:latin typeface="Arial"/>
                <a:cs typeface="Arial"/>
              </a:rPr>
              <a:t>full</a:t>
            </a:r>
            <a:r>
              <a:rPr sz="950" b="1" spc="10" dirty="0">
                <a:latin typeface="Arial"/>
                <a:cs typeface="Arial"/>
              </a:rPr>
              <a:t> </a:t>
            </a:r>
            <a:r>
              <a:rPr sz="950" b="1" dirty="0">
                <a:latin typeface="Arial"/>
                <a:cs typeface="Arial"/>
              </a:rPr>
              <a:t>backup,</a:t>
            </a:r>
            <a:r>
              <a:rPr sz="950" b="1" spc="10" dirty="0">
                <a:latin typeface="Arial"/>
                <a:cs typeface="Arial"/>
              </a:rPr>
              <a:t> </a:t>
            </a:r>
            <a:r>
              <a:rPr sz="950" b="1" dirty="0">
                <a:latin typeface="Arial"/>
                <a:cs typeface="Arial"/>
              </a:rPr>
              <a:t>3</a:t>
            </a:r>
            <a:r>
              <a:rPr sz="950" b="1" spc="10" dirty="0">
                <a:latin typeface="Arial"/>
                <a:cs typeface="Arial"/>
              </a:rPr>
              <a:t> </a:t>
            </a:r>
            <a:r>
              <a:rPr sz="950" b="1" dirty="0">
                <a:latin typeface="Arial"/>
                <a:cs typeface="Arial"/>
              </a:rPr>
              <a:t>fázisú</a:t>
            </a:r>
            <a:r>
              <a:rPr sz="950" b="1" spc="10" dirty="0">
                <a:latin typeface="Arial"/>
                <a:cs typeface="Arial"/>
              </a:rPr>
              <a:t> </a:t>
            </a:r>
            <a:r>
              <a:rPr sz="950" b="1" spc="-10" dirty="0">
                <a:latin typeface="Arial"/>
                <a:cs typeface="Arial"/>
              </a:rPr>
              <a:t>inverter</a:t>
            </a:r>
            <a:endParaRPr sz="950" b="1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45"/>
              </a:spcBef>
            </a:pPr>
            <a:r>
              <a:rPr lang="hu-HU" sz="950" b="1" dirty="0">
                <a:latin typeface="Arial"/>
                <a:cs typeface="Arial"/>
              </a:rPr>
              <a:t>DEYE 12KWh LV akkumulátor</a:t>
            </a:r>
            <a:endParaRPr sz="950" b="1" dirty="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18717" y="4260873"/>
            <a:ext cx="3633470" cy="1483427"/>
            <a:chOff x="1974850" y="4426979"/>
            <a:chExt cx="3633470" cy="1483427"/>
          </a:xfrm>
        </p:grpSpPr>
        <p:sp>
          <p:nvSpPr>
            <p:cNvPr id="12" name="object 12"/>
            <p:cNvSpPr/>
            <p:nvPr/>
          </p:nvSpPr>
          <p:spPr>
            <a:xfrm>
              <a:off x="2199613" y="5506053"/>
              <a:ext cx="147955" cy="100330"/>
            </a:xfrm>
            <a:custGeom>
              <a:avLst/>
              <a:gdLst/>
              <a:ahLst/>
              <a:cxnLst/>
              <a:rect l="l" t="t" r="r" b="b"/>
              <a:pathLst>
                <a:path w="147955" h="100329">
                  <a:moveTo>
                    <a:pt x="0" y="60426"/>
                  </a:moveTo>
                  <a:lnTo>
                    <a:pt x="35458" y="99707"/>
                  </a:lnTo>
                  <a:lnTo>
                    <a:pt x="147739" y="0"/>
                  </a:lnTo>
                </a:path>
              </a:pathLst>
            </a:custGeom>
            <a:ln w="9512">
              <a:solidFill>
                <a:srgbClr val="37C1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199613" y="5810076"/>
              <a:ext cx="147955" cy="100330"/>
            </a:xfrm>
            <a:custGeom>
              <a:avLst/>
              <a:gdLst/>
              <a:ahLst/>
              <a:cxnLst/>
              <a:rect l="l" t="t" r="r" b="b"/>
              <a:pathLst>
                <a:path w="147955" h="100329">
                  <a:moveTo>
                    <a:pt x="0" y="60426"/>
                  </a:moveTo>
                  <a:lnTo>
                    <a:pt x="35458" y="99707"/>
                  </a:lnTo>
                  <a:lnTo>
                    <a:pt x="147739" y="0"/>
                  </a:lnTo>
                </a:path>
              </a:pathLst>
            </a:custGeom>
            <a:ln w="9512">
              <a:solidFill>
                <a:srgbClr val="37C1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974850" y="4426979"/>
              <a:ext cx="3633470" cy="256540"/>
            </a:xfrm>
            <a:custGeom>
              <a:avLst/>
              <a:gdLst/>
              <a:ahLst/>
              <a:cxnLst/>
              <a:rect l="l" t="t" r="r" b="b"/>
              <a:pathLst>
                <a:path w="3633470" h="256539">
                  <a:moveTo>
                    <a:pt x="3633165" y="0"/>
                  </a:moveTo>
                  <a:lnTo>
                    <a:pt x="0" y="0"/>
                  </a:lnTo>
                  <a:lnTo>
                    <a:pt x="0" y="256184"/>
                  </a:lnTo>
                  <a:lnTo>
                    <a:pt x="3633165" y="256184"/>
                  </a:lnTo>
                  <a:lnTo>
                    <a:pt x="363316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557894" y="4352127"/>
            <a:ext cx="1789430" cy="1885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50" b="1" dirty="0">
                <a:solidFill>
                  <a:srgbClr val="6D6E71"/>
                </a:solidFill>
                <a:latin typeface="Arial"/>
                <a:cs typeface="Arial"/>
              </a:rPr>
              <a:t>Támogatással</a:t>
            </a:r>
            <a:r>
              <a:rPr sz="1050" b="1" spc="-35" dirty="0">
                <a:solidFill>
                  <a:srgbClr val="6D6E71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6D6E71"/>
                </a:solidFill>
                <a:latin typeface="Arial"/>
                <a:cs typeface="Arial"/>
              </a:rPr>
              <a:t>-</a:t>
            </a:r>
            <a:r>
              <a:rPr sz="1050" b="1" spc="-30" dirty="0">
                <a:solidFill>
                  <a:srgbClr val="6D6E71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6D6E71"/>
                </a:solidFill>
                <a:latin typeface="Arial"/>
                <a:cs typeface="Arial"/>
              </a:rPr>
              <a:t>2</a:t>
            </a:r>
            <a:r>
              <a:rPr sz="1050" b="1" spc="-30" dirty="0">
                <a:solidFill>
                  <a:srgbClr val="6D6E71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6D6E71"/>
                </a:solidFill>
                <a:latin typeface="Arial"/>
                <a:cs typeface="Arial"/>
              </a:rPr>
              <a:t>500</a:t>
            </a:r>
            <a:r>
              <a:rPr sz="1050" b="1" spc="-30" dirty="0">
                <a:solidFill>
                  <a:srgbClr val="6D6E71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6D6E71"/>
                </a:solidFill>
                <a:latin typeface="Arial"/>
                <a:cs typeface="Arial"/>
              </a:rPr>
              <a:t>000</a:t>
            </a:r>
            <a:r>
              <a:rPr sz="1050" b="1" spc="-35" dirty="0">
                <a:solidFill>
                  <a:srgbClr val="6D6E71"/>
                </a:solidFill>
                <a:latin typeface="Arial"/>
                <a:cs typeface="Arial"/>
              </a:rPr>
              <a:t> Ft</a:t>
            </a:r>
            <a:endParaRPr sz="1050">
              <a:latin typeface="Arial"/>
              <a:cs typeface="Arial"/>
            </a:endParaRPr>
          </a:p>
        </p:txBody>
      </p:sp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80564" y="4591225"/>
            <a:ext cx="1843290" cy="570293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667567" y="4601728"/>
            <a:ext cx="1412240" cy="49847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ts val="2235"/>
              </a:lnSpc>
              <a:spcBef>
                <a:spcPts val="125"/>
              </a:spcBef>
            </a:pPr>
            <a:r>
              <a:rPr lang="hu-HU" sz="1900" b="1" spc="-35" dirty="0">
                <a:solidFill>
                  <a:srgbClr val="FFFFFF"/>
                </a:solidFill>
                <a:latin typeface="Arial"/>
                <a:cs typeface="Arial"/>
              </a:rPr>
              <a:t>990.000</a:t>
            </a:r>
            <a:r>
              <a:rPr sz="1900"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900" b="1" spc="-25" dirty="0">
                <a:solidFill>
                  <a:srgbClr val="FFFFFF"/>
                </a:solidFill>
                <a:latin typeface="Arial"/>
                <a:cs typeface="Arial"/>
              </a:rPr>
              <a:t>Ft</a:t>
            </a:r>
            <a:endParaRPr sz="1900" dirty="0">
              <a:latin typeface="Arial"/>
              <a:cs typeface="Arial"/>
            </a:endParaRPr>
          </a:p>
          <a:p>
            <a:pPr marL="12700">
              <a:lnSpc>
                <a:spcPts val="1455"/>
              </a:lnSpc>
            </a:pPr>
            <a:r>
              <a:rPr sz="1250" b="1" spc="-10" dirty="0">
                <a:solidFill>
                  <a:srgbClr val="FFFFFF"/>
                </a:solidFill>
                <a:latin typeface="Arial"/>
                <a:cs typeface="Arial"/>
              </a:rPr>
              <a:t>önrésszel</a:t>
            </a:r>
            <a:endParaRPr sz="1250" dirty="0">
              <a:latin typeface="Arial"/>
              <a:cs typeface="Arial"/>
            </a:endParaRPr>
          </a:p>
        </p:txBody>
      </p:sp>
      <p:pic>
        <p:nvPicPr>
          <p:cNvPr id="18" name="object 1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0" y="6983996"/>
            <a:ext cx="7559992" cy="3708006"/>
          </a:xfrm>
          <a:prstGeom prst="rect">
            <a:avLst/>
          </a:prstGeom>
        </p:spPr>
      </p:pic>
      <p:sp>
        <p:nvSpPr>
          <p:cNvPr id="19" name="object 19"/>
          <p:cNvSpPr/>
          <p:nvPr/>
        </p:nvSpPr>
        <p:spPr>
          <a:xfrm>
            <a:off x="334064" y="6052084"/>
            <a:ext cx="147955" cy="100330"/>
          </a:xfrm>
          <a:custGeom>
            <a:avLst/>
            <a:gdLst/>
            <a:ahLst/>
            <a:cxnLst/>
            <a:rect l="l" t="t" r="r" b="b"/>
            <a:pathLst>
              <a:path w="147955" h="100329">
                <a:moveTo>
                  <a:pt x="0" y="60426"/>
                </a:moveTo>
                <a:lnTo>
                  <a:pt x="35458" y="99707"/>
                </a:lnTo>
                <a:lnTo>
                  <a:pt x="147739" y="0"/>
                </a:lnTo>
              </a:path>
            </a:pathLst>
          </a:custGeom>
          <a:ln w="9512">
            <a:solidFill>
              <a:srgbClr val="37C1B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6" name="Kép 25" descr="A képen Háztartási eszköz, berendezés, hűtőszekrény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3ACD3CA-5E7D-0B8C-CFC2-48C9193C3F4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13"/>
          <a:stretch>
            <a:fillRect/>
          </a:stretch>
        </p:blipFill>
        <p:spPr>
          <a:xfrm>
            <a:off x="130040" y="2033485"/>
            <a:ext cx="3582871" cy="2237792"/>
          </a:xfrm>
          <a:prstGeom prst="rect">
            <a:avLst/>
          </a:prstGeom>
        </p:spPr>
      </p:pic>
      <p:grpSp>
        <p:nvGrpSpPr>
          <p:cNvPr id="20" name="object 5">
            <a:extLst>
              <a:ext uri="{FF2B5EF4-FFF2-40B4-BE49-F238E27FC236}">
                <a16:creationId xmlns:a16="http://schemas.microsoft.com/office/drawing/2014/main" id="{0C56B91E-1D05-31C7-493E-C229205BC9CF}"/>
              </a:ext>
            </a:extLst>
          </p:cNvPr>
          <p:cNvGrpSpPr/>
          <p:nvPr/>
        </p:nvGrpSpPr>
        <p:grpSpPr>
          <a:xfrm>
            <a:off x="3793826" y="1907295"/>
            <a:ext cx="3649345" cy="4389755"/>
            <a:chOff x="1966785" y="2069908"/>
            <a:chExt cx="3649345" cy="4389755"/>
          </a:xfrm>
        </p:grpSpPr>
        <p:sp>
          <p:nvSpPr>
            <p:cNvPr id="21" name="object 6">
              <a:extLst>
                <a:ext uri="{FF2B5EF4-FFF2-40B4-BE49-F238E27FC236}">
                  <a16:creationId xmlns:a16="http://schemas.microsoft.com/office/drawing/2014/main" id="{1603D9B1-5473-ACE0-2555-969983D133D5}"/>
                </a:ext>
              </a:extLst>
            </p:cNvPr>
            <p:cNvSpPr/>
            <p:nvPr/>
          </p:nvSpPr>
          <p:spPr>
            <a:xfrm>
              <a:off x="2190197" y="5252389"/>
              <a:ext cx="133350" cy="90170"/>
            </a:xfrm>
            <a:custGeom>
              <a:avLst/>
              <a:gdLst/>
              <a:ahLst/>
              <a:cxnLst/>
              <a:rect l="l" t="t" r="r" b="b"/>
              <a:pathLst>
                <a:path w="133350" h="90170">
                  <a:moveTo>
                    <a:pt x="0" y="54343"/>
                  </a:moveTo>
                  <a:lnTo>
                    <a:pt x="31953" y="89661"/>
                  </a:lnTo>
                  <a:lnTo>
                    <a:pt x="133159" y="0"/>
                  </a:lnTo>
                </a:path>
              </a:pathLst>
            </a:custGeom>
            <a:ln w="8890">
              <a:solidFill>
                <a:srgbClr val="37C1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7">
              <a:extLst>
                <a:ext uri="{FF2B5EF4-FFF2-40B4-BE49-F238E27FC236}">
                  <a16:creationId xmlns:a16="http://schemas.microsoft.com/office/drawing/2014/main" id="{F24A671F-56D5-9D0E-9BFD-3723A14770A9}"/>
                </a:ext>
              </a:extLst>
            </p:cNvPr>
            <p:cNvSpPr/>
            <p:nvPr/>
          </p:nvSpPr>
          <p:spPr>
            <a:xfrm>
              <a:off x="1970278" y="2073400"/>
              <a:ext cx="3642360" cy="4382770"/>
            </a:xfrm>
            <a:custGeom>
              <a:avLst/>
              <a:gdLst/>
              <a:ahLst/>
              <a:cxnLst/>
              <a:rect l="l" t="t" r="r" b="b"/>
              <a:pathLst>
                <a:path w="3642360" h="4382770">
                  <a:moveTo>
                    <a:pt x="3449726" y="0"/>
                  </a:moveTo>
                  <a:lnTo>
                    <a:pt x="192595" y="0"/>
                  </a:lnTo>
                  <a:lnTo>
                    <a:pt x="148432" y="5086"/>
                  </a:lnTo>
                  <a:lnTo>
                    <a:pt x="107893" y="19576"/>
                  </a:lnTo>
                  <a:lnTo>
                    <a:pt x="72133" y="42312"/>
                  </a:lnTo>
                  <a:lnTo>
                    <a:pt x="42308" y="72138"/>
                  </a:lnTo>
                  <a:lnTo>
                    <a:pt x="19574" y="107899"/>
                  </a:lnTo>
                  <a:lnTo>
                    <a:pt x="5086" y="148436"/>
                  </a:lnTo>
                  <a:lnTo>
                    <a:pt x="0" y="192595"/>
                  </a:lnTo>
                  <a:lnTo>
                    <a:pt x="0" y="4189742"/>
                  </a:lnTo>
                  <a:lnTo>
                    <a:pt x="5086" y="4233906"/>
                  </a:lnTo>
                  <a:lnTo>
                    <a:pt x="19574" y="4274447"/>
                  </a:lnTo>
                  <a:lnTo>
                    <a:pt x="42308" y="4310209"/>
                  </a:lnTo>
                  <a:lnTo>
                    <a:pt x="72133" y="4340037"/>
                  </a:lnTo>
                  <a:lnTo>
                    <a:pt x="107893" y="4362774"/>
                  </a:lnTo>
                  <a:lnTo>
                    <a:pt x="148432" y="4377264"/>
                  </a:lnTo>
                  <a:lnTo>
                    <a:pt x="192595" y="4382350"/>
                  </a:lnTo>
                  <a:lnTo>
                    <a:pt x="3449726" y="4382350"/>
                  </a:lnTo>
                  <a:lnTo>
                    <a:pt x="3493885" y="4377264"/>
                  </a:lnTo>
                  <a:lnTo>
                    <a:pt x="3534422" y="4362774"/>
                  </a:lnTo>
                  <a:lnTo>
                    <a:pt x="3570182" y="4340037"/>
                  </a:lnTo>
                  <a:lnTo>
                    <a:pt x="3600009" y="4310209"/>
                  </a:lnTo>
                  <a:lnTo>
                    <a:pt x="3622745" y="4274447"/>
                  </a:lnTo>
                  <a:lnTo>
                    <a:pt x="3637235" y="4233906"/>
                  </a:lnTo>
                  <a:lnTo>
                    <a:pt x="3642321" y="4189742"/>
                  </a:lnTo>
                  <a:lnTo>
                    <a:pt x="3642321" y="192595"/>
                  </a:lnTo>
                  <a:lnTo>
                    <a:pt x="3637235" y="148436"/>
                  </a:lnTo>
                  <a:lnTo>
                    <a:pt x="3622745" y="107899"/>
                  </a:lnTo>
                  <a:lnTo>
                    <a:pt x="3600009" y="72138"/>
                  </a:lnTo>
                  <a:lnTo>
                    <a:pt x="3570182" y="42312"/>
                  </a:lnTo>
                  <a:lnTo>
                    <a:pt x="3534422" y="19576"/>
                  </a:lnTo>
                  <a:lnTo>
                    <a:pt x="3493885" y="5086"/>
                  </a:lnTo>
                  <a:lnTo>
                    <a:pt x="344972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8">
              <a:extLst>
                <a:ext uri="{FF2B5EF4-FFF2-40B4-BE49-F238E27FC236}">
                  <a16:creationId xmlns:a16="http://schemas.microsoft.com/office/drawing/2014/main" id="{73F7FCCE-98C2-D0A2-EC51-F786856FF6A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70265" y="2073402"/>
              <a:ext cx="3642334" cy="2501770"/>
            </a:xfrm>
            <a:prstGeom prst="rect">
              <a:avLst/>
            </a:prstGeom>
          </p:spPr>
        </p:pic>
        <p:sp>
          <p:nvSpPr>
            <p:cNvPr id="24" name="object 9">
              <a:extLst>
                <a:ext uri="{FF2B5EF4-FFF2-40B4-BE49-F238E27FC236}">
                  <a16:creationId xmlns:a16="http://schemas.microsoft.com/office/drawing/2014/main" id="{F105D7BE-D94C-F5A4-86D0-3BB2939C1994}"/>
                </a:ext>
              </a:extLst>
            </p:cNvPr>
            <p:cNvSpPr/>
            <p:nvPr/>
          </p:nvSpPr>
          <p:spPr>
            <a:xfrm>
              <a:off x="1970278" y="2073400"/>
              <a:ext cx="3642360" cy="4382770"/>
            </a:xfrm>
            <a:custGeom>
              <a:avLst/>
              <a:gdLst/>
              <a:ahLst/>
              <a:cxnLst/>
              <a:rect l="l" t="t" r="r" b="b"/>
              <a:pathLst>
                <a:path w="3642360" h="4382770">
                  <a:moveTo>
                    <a:pt x="192595" y="0"/>
                  </a:moveTo>
                  <a:lnTo>
                    <a:pt x="148432" y="5086"/>
                  </a:lnTo>
                  <a:lnTo>
                    <a:pt x="107893" y="19576"/>
                  </a:lnTo>
                  <a:lnTo>
                    <a:pt x="72133" y="42312"/>
                  </a:lnTo>
                  <a:lnTo>
                    <a:pt x="42308" y="72138"/>
                  </a:lnTo>
                  <a:lnTo>
                    <a:pt x="19574" y="107899"/>
                  </a:lnTo>
                  <a:lnTo>
                    <a:pt x="5086" y="148436"/>
                  </a:lnTo>
                  <a:lnTo>
                    <a:pt x="0" y="192595"/>
                  </a:lnTo>
                  <a:lnTo>
                    <a:pt x="0" y="4189742"/>
                  </a:lnTo>
                  <a:lnTo>
                    <a:pt x="5086" y="4233906"/>
                  </a:lnTo>
                  <a:lnTo>
                    <a:pt x="19574" y="4274447"/>
                  </a:lnTo>
                  <a:lnTo>
                    <a:pt x="42308" y="4310209"/>
                  </a:lnTo>
                  <a:lnTo>
                    <a:pt x="72133" y="4340037"/>
                  </a:lnTo>
                  <a:lnTo>
                    <a:pt x="107893" y="4362774"/>
                  </a:lnTo>
                  <a:lnTo>
                    <a:pt x="148432" y="4377264"/>
                  </a:lnTo>
                  <a:lnTo>
                    <a:pt x="192595" y="4382350"/>
                  </a:lnTo>
                  <a:lnTo>
                    <a:pt x="3449726" y="4382350"/>
                  </a:lnTo>
                  <a:lnTo>
                    <a:pt x="3493885" y="4377264"/>
                  </a:lnTo>
                  <a:lnTo>
                    <a:pt x="3534422" y="4362774"/>
                  </a:lnTo>
                  <a:lnTo>
                    <a:pt x="3570182" y="4340037"/>
                  </a:lnTo>
                  <a:lnTo>
                    <a:pt x="3600009" y="4310209"/>
                  </a:lnTo>
                  <a:lnTo>
                    <a:pt x="3622745" y="4274447"/>
                  </a:lnTo>
                  <a:lnTo>
                    <a:pt x="3637235" y="4233906"/>
                  </a:lnTo>
                  <a:lnTo>
                    <a:pt x="3642321" y="4189742"/>
                  </a:lnTo>
                  <a:lnTo>
                    <a:pt x="3642321" y="192595"/>
                  </a:lnTo>
                  <a:lnTo>
                    <a:pt x="3637235" y="148436"/>
                  </a:lnTo>
                  <a:lnTo>
                    <a:pt x="3622745" y="107899"/>
                  </a:lnTo>
                  <a:lnTo>
                    <a:pt x="3600009" y="72138"/>
                  </a:lnTo>
                  <a:lnTo>
                    <a:pt x="3570182" y="42312"/>
                  </a:lnTo>
                  <a:lnTo>
                    <a:pt x="3534422" y="19576"/>
                  </a:lnTo>
                  <a:lnTo>
                    <a:pt x="3493885" y="5086"/>
                  </a:lnTo>
                  <a:lnTo>
                    <a:pt x="3449726" y="0"/>
                  </a:lnTo>
                  <a:lnTo>
                    <a:pt x="192595" y="0"/>
                  </a:lnTo>
                  <a:close/>
                </a:path>
              </a:pathLst>
            </a:custGeom>
            <a:ln w="6794">
              <a:solidFill>
                <a:srgbClr val="37D3B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10">
            <a:extLst>
              <a:ext uri="{FF2B5EF4-FFF2-40B4-BE49-F238E27FC236}">
                <a16:creationId xmlns:a16="http://schemas.microsoft.com/office/drawing/2014/main" id="{BD32164A-052E-DEE0-230C-0C09D3A8ECEE}"/>
              </a:ext>
            </a:extLst>
          </p:cNvPr>
          <p:cNvSpPr txBox="1"/>
          <p:nvPr/>
        </p:nvSpPr>
        <p:spPr>
          <a:xfrm>
            <a:off x="4275078" y="5221216"/>
            <a:ext cx="2658745" cy="670696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90"/>
              </a:spcBef>
            </a:pPr>
            <a:r>
              <a:rPr sz="1000" b="1" dirty="0">
                <a:latin typeface="Arial"/>
                <a:cs typeface="Arial"/>
              </a:rPr>
              <a:t>6kwp</a:t>
            </a:r>
            <a:r>
              <a:rPr sz="1000" b="1" spc="5" dirty="0">
                <a:latin typeface="Arial"/>
                <a:cs typeface="Arial"/>
              </a:rPr>
              <a:t> </a:t>
            </a:r>
            <a:r>
              <a:rPr sz="1000" b="1" dirty="0">
                <a:latin typeface="Arial"/>
                <a:cs typeface="Arial"/>
              </a:rPr>
              <a:t>ASTRONERGY</a:t>
            </a:r>
            <a:r>
              <a:rPr sz="1000" b="1" spc="25" dirty="0">
                <a:latin typeface="Arial"/>
                <a:cs typeface="Arial"/>
              </a:rPr>
              <a:t> </a:t>
            </a:r>
            <a:r>
              <a:rPr sz="1000" b="1" dirty="0">
                <a:latin typeface="Arial"/>
                <a:cs typeface="Arial"/>
              </a:rPr>
              <a:t>455W</a:t>
            </a:r>
            <a:r>
              <a:rPr sz="1000" b="1" spc="50" dirty="0">
                <a:latin typeface="Arial"/>
                <a:cs typeface="Arial"/>
              </a:rPr>
              <a:t> </a:t>
            </a:r>
            <a:r>
              <a:rPr sz="1000" b="1" dirty="0">
                <a:latin typeface="Arial"/>
                <a:cs typeface="Arial"/>
              </a:rPr>
              <a:t>N-type</a:t>
            </a:r>
            <a:r>
              <a:rPr sz="1000" b="1" spc="45" dirty="0">
                <a:latin typeface="Arial"/>
                <a:cs typeface="Arial"/>
              </a:rPr>
              <a:t> </a:t>
            </a:r>
            <a:r>
              <a:rPr sz="1000" b="1" spc="-10" dirty="0">
                <a:latin typeface="Arial"/>
                <a:cs typeface="Arial"/>
              </a:rPr>
              <a:t>napelem</a:t>
            </a:r>
            <a:endParaRPr sz="1000" dirty="0">
              <a:latin typeface="Arial"/>
              <a:cs typeface="Arial"/>
            </a:endParaRPr>
          </a:p>
          <a:p>
            <a:pPr marL="12700" marR="632460">
              <a:lnSpc>
                <a:spcPts val="1070"/>
              </a:lnSpc>
              <a:spcBef>
                <a:spcPts val="655"/>
              </a:spcBef>
            </a:pPr>
            <a:r>
              <a:rPr lang="hu-HU" sz="950" b="1" dirty="0" err="1">
                <a:latin typeface="Arial"/>
                <a:cs typeface="Arial"/>
              </a:rPr>
              <a:t>FoxESS</a:t>
            </a:r>
            <a:r>
              <a:rPr lang="hu-HU" sz="950" b="1" dirty="0">
                <a:latin typeface="Arial"/>
                <a:cs typeface="Arial"/>
              </a:rPr>
              <a:t> P3-5.0-SH </a:t>
            </a:r>
            <a:r>
              <a:rPr lang="hu-HU" sz="950" b="1" dirty="0" err="1">
                <a:latin typeface="Arial"/>
                <a:cs typeface="Arial"/>
              </a:rPr>
              <a:t>inverter</a:t>
            </a:r>
            <a:endParaRPr lang="hu-HU" sz="950" b="1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45"/>
              </a:spcBef>
            </a:pPr>
            <a:r>
              <a:rPr lang="hu-HU" sz="950" b="1" dirty="0" err="1">
                <a:latin typeface="Arial"/>
                <a:cs typeface="Arial"/>
              </a:rPr>
              <a:t>FoxESS</a:t>
            </a:r>
            <a:r>
              <a:rPr lang="hu-HU" sz="950" b="1" dirty="0">
                <a:latin typeface="Arial"/>
                <a:cs typeface="Arial"/>
              </a:rPr>
              <a:t> EP12 11,5KWh akkumulátor</a:t>
            </a:r>
            <a:endParaRPr sz="950" b="1" dirty="0">
              <a:latin typeface="Arial"/>
              <a:cs typeface="Arial"/>
            </a:endParaRPr>
          </a:p>
        </p:txBody>
      </p:sp>
      <p:grpSp>
        <p:nvGrpSpPr>
          <p:cNvPr id="27" name="object 11">
            <a:extLst>
              <a:ext uri="{FF2B5EF4-FFF2-40B4-BE49-F238E27FC236}">
                <a16:creationId xmlns:a16="http://schemas.microsoft.com/office/drawing/2014/main" id="{BC60D594-3EAE-037C-2265-DFC57AA2B483}"/>
              </a:ext>
            </a:extLst>
          </p:cNvPr>
          <p:cNvGrpSpPr/>
          <p:nvPr/>
        </p:nvGrpSpPr>
        <p:grpSpPr>
          <a:xfrm>
            <a:off x="3801891" y="4264366"/>
            <a:ext cx="3633470" cy="1406525"/>
            <a:chOff x="1974850" y="4426979"/>
            <a:chExt cx="3633470" cy="1406525"/>
          </a:xfrm>
        </p:grpSpPr>
        <p:sp>
          <p:nvSpPr>
            <p:cNvPr id="28" name="object 12">
              <a:extLst>
                <a:ext uri="{FF2B5EF4-FFF2-40B4-BE49-F238E27FC236}">
                  <a16:creationId xmlns:a16="http://schemas.microsoft.com/office/drawing/2014/main" id="{79632568-5818-5B6D-3A2B-348A6DEBC57C}"/>
                </a:ext>
              </a:extLst>
            </p:cNvPr>
            <p:cNvSpPr/>
            <p:nvPr/>
          </p:nvSpPr>
          <p:spPr>
            <a:xfrm>
              <a:off x="2199613" y="5506053"/>
              <a:ext cx="147955" cy="100330"/>
            </a:xfrm>
            <a:custGeom>
              <a:avLst/>
              <a:gdLst/>
              <a:ahLst/>
              <a:cxnLst/>
              <a:rect l="l" t="t" r="r" b="b"/>
              <a:pathLst>
                <a:path w="147955" h="100329">
                  <a:moveTo>
                    <a:pt x="0" y="60426"/>
                  </a:moveTo>
                  <a:lnTo>
                    <a:pt x="35458" y="99707"/>
                  </a:lnTo>
                  <a:lnTo>
                    <a:pt x="147739" y="0"/>
                  </a:lnTo>
                </a:path>
              </a:pathLst>
            </a:custGeom>
            <a:ln w="9512">
              <a:solidFill>
                <a:srgbClr val="37C1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13">
              <a:extLst>
                <a:ext uri="{FF2B5EF4-FFF2-40B4-BE49-F238E27FC236}">
                  <a16:creationId xmlns:a16="http://schemas.microsoft.com/office/drawing/2014/main" id="{298C02D5-C2F0-E3F6-F410-5C27DBA9FFD6}"/>
                </a:ext>
              </a:extLst>
            </p:cNvPr>
            <p:cNvSpPr/>
            <p:nvPr/>
          </p:nvSpPr>
          <p:spPr>
            <a:xfrm>
              <a:off x="2199613" y="5728943"/>
              <a:ext cx="147955" cy="100330"/>
            </a:xfrm>
            <a:custGeom>
              <a:avLst/>
              <a:gdLst/>
              <a:ahLst/>
              <a:cxnLst/>
              <a:rect l="l" t="t" r="r" b="b"/>
              <a:pathLst>
                <a:path w="147955" h="100329">
                  <a:moveTo>
                    <a:pt x="0" y="60426"/>
                  </a:moveTo>
                  <a:lnTo>
                    <a:pt x="35458" y="99707"/>
                  </a:lnTo>
                  <a:lnTo>
                    <a:pt x="147739" y="0"/>
                  </a:lnTo>
                </a:path>
              </a:pathLst>
            </a:custGeom>
            <a:ln w="9512">
              <a:solidFill>
                <a:srgbClr val="37C1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14">
              <a:extLst>
                <a:ext uri="{FF2B5EF4-FFF2-40B4-BE49-F238E27FC236}">
                  <a16:creationId xmlns:a16="http://schemas.microsoft.com/office/drawing/2014/main" id="{2BB2C2E7-C4F4-76BD-3401-53E68D13CD23}"/>
                </a:ext>
              </a:extLst>
            </p:cNvPr>
            <p:cNvSpPr/>
            <p:nvPr/>
          </p:nvSpPr>
          <p:spPr>
            <a:xfrm>
              <a:off x="1974850" y="4426979"/>
              <a:ext cx="3633470" cy="256540"/>
            </a:xfrm>
            <a:custGeom>
              <a:avLst/>
              <a:gdLst/>
              <a:ahLst/>
              <a:cxnLst/>
              <a:rect l="l" t="t" r="r" b="b"/>
              <a:pathLst>
                <a:path w="3633470" h="256539">
                  <a:moveTo>
                    <a:pt x="3633165" y="0"/>
                  </a:moveTo>
                  <a:lnTo>
                    <a:pt x="0" y="0"/>
                  </a:lnTo>
                  <a:lnTo>
                    <a:pt x="0" y="256184"/>
                  </a:lnTo>
                  <a:lnTo>
                    <a:pt x="3633165" y="256184"/>
                  </a:lnTo>
                  <a:lnTo>
                    <a:pt x="363316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15">
            <a:extLst>
              <a:ext uri="{FF2B5EF4-FFF2-40B4-BE49-F238E27FC236}">
                <a16:creationId xmlns:a16="http://schemas.microsoft.com/office/drawing/2014/main" id="{B2025B53-6C1F-3385-26F4-85D8D3A0E2EC}"/>
              </a:ext>
            </a:extLst>
          </p:cNvPr>
          <p:cNvSpPr txBox="1"/>
          <p:nvPr/>
        </p:nvSpPr>
        <p:spPr>
          <a:xfrm>
            <a:off x="4241068" y="4355620"/>
            <a:ext cx="1789430" cy="1885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50" b="1" dirty="0">
                <a:solidFill>
                  <a:srgbClr val="6D6E71"/>
                </a:solidFill>
                <a:latin typeface="Arial"/>
                <a:cs typeface="Arial"/>
              </a:rPr>
              <a:t>Támogatással</a:t>
            </a:r>
            <a:r>
              <a:rPr sz="1050" b="1" spc="-35" dirty="0">
                <a:solidFill>
                  <a:srgbClr val="6D6E71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6D6E71"/>
                </a:solidFill>
                <a:latin typeface="Arial"/>
                <a:cs typeface="Arial"/>
              </a:rPr>
              <a:t>-</a:t>
            </a:r>
            <a:r>
              <a:rPr sz="1050" b="1" spc="-30" dirty="0">
                <a:solidFill>
                  <a:srgbClr val="6D6E71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6D6E71"/>
                </a:solidFill>
                <a:latin typeface="Arial"/>
                <a:cs typeface="Arial"/>
              </a:rPr>
              <a:t>2</a:t>
            </a:r>
            <a:r>
              <a:rPr sz="1050" b="1" spc="-30" dirty="0">
                <a:solidFill>
                  <a:srgbClr val="6D6E71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6D6E71"/>
                </a:solidFill>
                <a:latin typeface="Arial"/>
                <a:cs typeface="Arial"/>
              </a:rPr>
              <a:t>500</a:t>
            </a:r>
            <a:r>
              <a:rPr sz="1050" b="1" spc="-30" dirty="0">
                <a:solidFill>
                  <a:srgbClr val="6D6E71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6D6E71"/>
                </a:solidFill>
                <a:latin typeface="Arial"/>
                <a:cs typeface="Arial"/>
              </a:rPr>
              <a:t>000</a:t>
            </a:r>
            <a:r>
              <a:rPr sz="1050" b="1" spc="-35" dirty="0">
                <a:solidFill>
                  <a:srgbClr val="6D6E71"/>
                </a:solidFill>
                <a:latin typeface="Arial"/>
                <a:cs typeface="Arial"/>
              </a:rPr>
              <a:t> Ft</a:t>
            </a:r>
            <a:endParaRPr sz="1050">
              <a:latin typeface="Arial"/>
              <a:cs typeface="Arial"/>
            </a:endParaRPr>
          </a:p>
        </p:txBody>
      </p:sp>
      <p:pic>
        <p:nvPicPr>
          <p:cNvPr id="32" name="object 16">
            <a:extLst>
              <a:ext uri="{FF2B5EF4-FFF2-40B4-BE49-F238E27FC236}">
                <a16:creationId xmlns:a16="http://schemas.microsoft.com/office/drawing/2014/main" id="{7A7A6865-BF30-3E89-C7FF-10D100BE6888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63738" y="4594718"/>
            <a:ext cx="1843290" cy="570293"/>
          </a:xfrm>
          <a:prstGeom prst="rect">
            <a:avLst/>
          </a:prstGeom>
        </p:spPr>
      </p:pic>
      <p:sp>
        <p:nvSpPr>
          <p:cNvPr id="33" name="object 17">
            <a:extLst>
              <a:ext uri="{FF2B5EF4-FFF2-40B4-BE49-F238E27FC236}">
                <a16:creationId xmlns:a16="http://schemas.microsoft.com/office/drawing/2014/main" id="{2D03821C-E477-168E-0400-137DBCC14488}"/>
              </a:ext>
            </a:extLst>
          </p:cNvPr>
          <p:cNvSpPr txBox="1"/>
          <p:nvPr/>
        </p:nvSpPr>
        <p:spPr>
          <a:xfrm>
            <a:off x="4350741" y="4605221"/>
            <a:ext cx="1412240" cy="49847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ts val="2235"/>
              </a:lnSpc>
              <a:spcBef>
                <a:spcPts val="125"/>
              </a:spcBef>
            </a:pPr>
            <a:r>
              <a:rPr lang="hu-HU" sz="1900" b="1" spc="-35" dirty="0">
                <a:solidFill>
                  <a:srgbClr val="FFFFFF"/>
                </a:solidFill>
                <a:latin typeface="Arial"/>
                <a:cs typeface="Arial"/>
              </a:rPr>
              <a:t>990.000</a:t>
            </a:r>
            <a:r>
              <a:rPr sz="1900"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900" b="1" spc="-25" dirty="0">
                <a:solidFill>
                  <a:srgbClr val="FFFFFF"/>
                </a:solidFill>
                <a:latin typeface="Arial"/>
                <a:cs typeface="Arial"/>
              </a:rPr>
              <a:t>Ft</a:t>
            </a:r>
            <a:endParaRPr sz="1900" dirty="0">
              <a:latin typeface="Arial"/>
              <a:cs typeface="Arial"/>
            </a:endParaRPr>
          </a:p>
          <a:p>
            <a:pPr marL="12700">
              <a:lnSpc>
                <a:spcPts val="1455"/>
              </a:lnSpc>
            </a:pPr>
            <a:r>
              <a:rPr sz="1250" b="1" spc="-10" dirty="0">
                <a:solidFill>
                  <a:srgbClr val="FFFFFF"/>
                </a:solidFill>
                <a:latin typeface="Arial"/>
                <a:cs typeface="Arial"/>
              </a:rPr>
              <a:t>önrésszel</a:t>
            </a:r>
            <a:endParaRPr sz="1250" dirty="0">
              <a:latin typeface="Arial"/>
              <a:cs typeface="Arial"/>
            </a:endParaRPr>
          </a:p>
        </p:txBody>
      </p:sp>
      <p:sp>
        <p:nvSpPr>
          <p:cNvPr id="34" name="object 19">
            <a:extLst>
              <a:ext uri="{FF2B5EF4-FFF2-40B4-BE49-F238E27FC236}">
                <a16:creationId xmlns:a16="http://schemas.microsoft.com/office/drawing/2014/main" id="{6BCB2730-F251-6951-A3BF-9B46B9CDF62B}"/>
              </a:ext>
            </a:extLst>
          </p:cNvPr>
          <p:cNvSpPr/>
          <p:nvPr/>
        </p:nvSpPr>
        <p:spPr>
          <a:xfrm>
            <a:off x="4026654" y="5820220"/>
            <a:ext cx="147955" cy="100330"/>
          </a:xfrm>
          <a:custGeom>
            <a:avLst/>
            <a:gdLst/>
            <a:ahLst/>
            <a:cxnLst/>
            <a:rect l="l" t="t" r="r" b="b"/>
            <a:pathLst>
              <a:path w="147955" h="100329">
                <a:moveTo>
                  <a:pt x="0" y="60426"/>
                </a:moveTo>
                <a:lnTo>
                  <a:pt x="35458" y="99707"/>
                </a:lnTo>
                <a:lnTo>
                  <a:pt x="147739" y="0"/>
                </a:lnTo>
              </a:path>
            </a:pathLst>
          </a:custGeom>
          <a:ln w="9512">
            <a:solidFill>
              <a:srgbClr val="37C1B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5" name="Kép 34" descr="A képen Háztartási eszköz, berendezés, hűtőszekrény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FCCA9CA2-B8F1-9DF1-3B0C-E98962904B4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13"/>
          <a:stretch>
            <a:fillRect/>
          </a:stretch>
        </p:blipFill>
        <p:spPr>
          <a:xfrm>
            <a:off x="3813214" y="2036978"/>
            <a:ext cx="3582871" cy="22377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Háttér" descr="Sötét háttér napfény-motívumm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556400" cy="10692000"/>
          </a:xfrm>
          <a:prstGeom prst="rect">
            <a:avLst/>
          </a:prstGeom>
        </p:spPr>
      </p:pic>
      <p:pic>
        <p:nvPicPr>
          <p:cNvPr id="4" name="Spark Solar logó" descr="Spark Solar logó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" y="360000"/>
            <a:ext cx="1624320" cy="403200"/>
          </a:xfrm>
          <a:prstGeom prst="rect">
            <a:avLst/>
          </a:prstGeom>
        </p:spPr>
      </p:pic>
      <p:sp>
        <p:nvSpPr>
          <p:cNvPr id="5" name="Fejléc elérhetőség"/>
          <p:cNvSpPr txBox="1"/>
          <p:nvPr/>
        </p:nvSpPr>
        <p:spPr>
          <a:xfrm>
            <a:off x="3888000" y="378000"/>
            <a:ext cx="3240000" cy="39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hu-HU" sz="1000" b="1" spc="0" dirty="0">
                <a:solidFill>
                  <a:srgbClr val="FFFFFF"/>
                </a:solidFill>
                <a:latin typeface="Arial"/>
                <a:cs typeface="Arial"/>
              </a:rPr>
              <a:t>www.akkumulator-tamogatas.hu</a:t>
            </a:r>
          </a:p>
          <a:p>
            <a:pPr algn="r">
              <a:spcBef>
                <a:spcPts val="300"/>
              </a:spcBef>
              <a:spcAft>
                <a:spcPts val="0"/>
              </a:spcAft>
            </a:pPr>
            <a:r>
              <a:rPr lang="hu-HU" sz="900" b="0" spc="0" dirty="0">
                <a:solidFill>
                  <a:srgbClr val="9FC9C4"/>
                </a:solidFill>
                <a:latin typeface="Arial"/>
                <a:cs typeface="Arial"/>
              </a:rPr>
              <a:t>Spark Electric Kft.  ·  +36 20 409 0060</a:t>
            </a:r>
          </a:p>
        </p:txBody>
      </p:sp>
      <p:sp>
        <p:nvSpPr>
          <p:cNvPr id="6" name="Felcím"/>
          <p:cNvSpPr txBox="1"/>
          <p:nvPr/>
        </p:nvSpPr>
        <p:spPr>
          <a:xfrm>
            <a:off x="432000" y="1080000"/>
            <a:ext cx="4320000" cy="1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950" b="1" spc="300" dirty="0">
                <a:solidFill>
                  <a:srgbClr val="FFA552"/>
                </a:solidFill>
                <a:latin typeface="Arial"/>
                <a:cs typeface="Arial"/>
              </a:rPr>
              <a:t>KOMPLETT CSOMAGAJÁNLATOK</a:t>
            </a:r>
          </a:p>
        </p:txBody>
      </p:sp>
      <p:sp>
        <p:nvSpPr>
          <p:cNvPr id="7" name="Cím"/>
          <p:cNvSpPr txBox="1"/>
          <p:nvPr/>
        </p:nvSpPr>
        <p:spPr>
          <a:xfrm>
            <a:off x="432000" y="1296000"/>
            <a:ext cx="4176000" cy="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2800" b="1" spc="0" dirty="0">
                <a:solidFill>
                  <a:srgbClr val="FFFFFF"/>
                </a:solidFill>
                <a:latin typeface="Arial"/>
                <a:cs typeface="Arial"/>
              </a:rPr>
              <a:t>Inverter + akkumulátor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2800" b="1" spc="0" dirty="0">
                <a:solidFill>
                  <a:srgbClr val="FF8A2E"/>
                </a:solidFill>
                <a:latin typeface="Arial"/>
                <a:cs typeface="Arial"/>
              </a:rPr>
              <a:t>csomagok</a:t>
            </a:r>
          </a:p>
        </p:txBody>
      </p:sp>
      <p:sp>
        <p:nvSpPr>
          <p:cNvPr id="8" name="Támogatás doboz"/>
          <p:cNvSpPr/>
          <p:nvPr/>
        </p:nvSpPr>
        <p:spPr>
          <a:xfrm>
            <a:off x="4752000" y="1206000"/>
            <a:ext cx="2376000" cy="846000"/>
          </a:xfrm>
          <a:prstGeom prst="roundRect">
            <a:avLst>
              <a:gd name="adj" fmla="val 14893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A552">
                <a:alpha val="70000"/>
              </a:srgbClr>
            </a:solidFill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9" name="Támogatás ikon háttér"/>
          <p:cNvSpPr/>
          <p:nvPr/>
        </p:nvSpPr>
        <p:spPr>
          <a:xfrm>
            <a:off x="4896000" y="1422000"/>
            <a:ext cx="414000" cy="414000"/>
          </a:xfrm>
          <a:prstGeom prst="ellipse">
            <a:avLst/>
          </a:prstGeom>
          <a:gradFill rotWithShape="1">
            <a:gsLst>
              <a:gs pos="0">
                <a:srgbClr val="FFA23F"/>
              </a:gs>
              <a:gs pos="100000">
                <a:srgbClr val="EE5A12"/>
              </a:gs>
            </a:gsLst>
            <a:lin ang="2700000" scaled="0"/>
          </a:gradFill>
          <a:ln>
            <a:noFill/>
          </a:ln>
          <a:effectLst>
            <a:outerShdw blurRad="228600" dist="50800" dir="5400000" algn="t" rotWithShape="0">
              <a:srgbClr val="F26B1D">
                <a:alpha val="45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pic>
        <p:nvPicPr>
          <p:cNvPr id="10" name="Villám ik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8000" y="1494000"/>
            <a:ext cx="270000" cy="270000"/>
          </a:xfrm>
          <a:prstGeom prst="rect">
            <a:avLst/>
          </a:prstGeom>
        </p:spPr>
      </p:pic>
      <p:sp>
        <p:nvSpPr>
          <p:cNvPr id="11" name="Támogatás összeg"/>
          <p:cNvSpPr txBox="1"/>
          <p:nvPr/>
        </p:nvSpPr>
        <p:spPr>
          <a:xfrm>
            <a:off x="5400000" y="1296000"/>
            <a:ext cx="1674000" cy="666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750" b="1" spc="100" dirty="0">
                <a:solidFill>
                  <a:srgbClr val="BFE3DF"/>
                </a:solidFill>
                <a:latin typeface="Arial"/>
                <a:cs typeface="Arial"/>
              </a:rPr>
              <a:t>VISSZA NEM TÉRÍTENDŐ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750" b="1" spc="100" dirty="0">
                <a:solidFill>
                  <a:srgbClr val="BFE3DF"/>
                </a:solidFill>
                <a:latin typeface="Arial"/>
                <a:cs typeface="Arial"/>
              </a:rPr>
              <a:t>TÁMOGATÁS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hu-HU" sz="1900" b="1" spc="0" dirty="0">
                <a:solidFill>
                  <a:srgbClr val="FFFFFF"/>
                </a:solidFill>
                <a:latin typeface="Arial"/>
                <a:cs typeface="Arial"/>
              </a:rPr>
              <a:t>1 800 000 Ft</a:t>
            </a:r>
          </a:p>
        </p:txBody>
      </p:sp>
      <p:sp>
        <p:nvSpPr>
          <p:cNvPr id="12" name="CSOMAG 01 kártya"/>
          <p:cNvSpPr/>
          <p:nvPr/>
        </p:nvSpPr>
        <p:spPr>
          <a:xfrm>
            <a:off x="360000" y="2286000"/>
            <a:ext cx="6840000" cy="38160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>
            <a:noFill/>
          </a:ln>
          <a:effectLst>
            <a:outerShdw blurRad="762000" dist="177800" dir="5400000" algn="t" rotWithShape="0">
              <a:srgbClr val="000000">
                <a:alpha val="50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pic>
        <p:nvPicPr>
          <p:cNvPr id="13" name="CSOMAG 01 termékkép" descr="FoxESS P3-SH inverter és EP12 akkumulátor illusztráció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2000" y="2448000"/>
            <a:ext cx="3240000" cy="3492000"/>
          </a:xfrm>
          <a:prstGeom prst="rect">
            <a:avLst/>
          </a:prstGeom>
        </p:spPr>
      </p:pic>
      <p:sp>
        <p:nvSpPr>
          <p:cNvPr id="14" name="Csomag címke"/>
          <p:cNvSpPr/>
          <p:nvPr/>
        </p:nvSpPr>
        <p:spPr>
          <a:xfrm>
            <a:off x="684000" y="2610000"/>
            <a:ext cx="846000" cy="223200"/>
          </a:xfrm>
          <a:prstGeom prst="roundRect">
            <a:avLst>
              <a:gd name="adj" fmla="val 50000"/>
            </a:avLst>
          </a:prstGeom>
          <a:solidFill>
            <a:srgbClr val="0F2A2F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15" name="Csomag címke szöveg"/>
          <p:cNvSpPr txBox="1"/>
          <p:nvPr/>
        </p:nvSpPr>
        <p:spPr>
          <a:xfrm>
            <a:off x="684000" y="2610000"/>
            <a:ext cx="846000" cy="223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hu-HU" sz="800" b="1" spc="150" dirty="0">
                <a:solidFill>
                  <a:srgbClr val="FFFFFF"/>
                </a:solidFill>
                <a:latin typeface="Arial"/>
                <a:cs typeface="Arial"/>
              </a:rPr>
              <a:t>CSOMAG 01</a:t>
            </a:r>
          </a:p>
        </p:txBody>
      </p:sp>
      <p:sp>
        <p:nvSpPr>
          <p:cNvPr id="16" name="Illusztráció megjegyzés"/>
          <p:cNvSpPr txBox="1"/>
          <p:nvPr/>
        </p:nvSpPr>
        <p:spPr>
          <a:xfrm>
            <a:off x="522000" y="5716800"/>
            <a:ext cx="3240000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hu-HU" sz="750" b="0" spc="0" dirty="0">
                <a:solidFill>
                  <a:srgbClr val="FFFFFF">
                    <a:alpha val="90000"/>
                  </a:srgbClr>
                </a:solidFill>
                <a:latin typeface="Arial"/>
                <a:cs typeface="Arial"/>
              </a:rPr>
              <a:t>A termékmegjelenítés illusztráció.</a:t>
            </a:r>
          </a:p>
        </p:txBody>
      </p:sp>
      <p:sp>
        <p:nvSpPr>
          <p:cNvPr id="17" name="Márka címke"/>
          <p:cNvSpPr txBox="1"/>
          <p:nvPr/>
        </p:nvSpPr>
        <p:spPr>
          <a:xfrm>
            <a:off x="3960000" y="2556000"/>
            <a:ext cx="2934000" cy="162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850" b="1" spc="200" dirty="0">
                <a:solidFill>
                  <a:srgbClr val="15998B"/>
                </a:solidFill>
                <a:latin typeface="Arial"/>
                <a:cs typeface="Arial"/>
              </a:rPr>
              <a:t>FOXESS HIBRID RENDSZER</a:t>
            </a:r>
          </a:p>
        </p:txBody>
      </p:sp>
      <p:sp>
        <p:nvSpPr>
          <p:cNvPr id="18" name="Csomag neve"/>
          <p:cNvSpPr txBox="1"/>
          <p:nvPr/>
        </p:nvSpPr>
        <p:spPr>
          <a:xfrm>
            <a:off x="3960000" y="2736000"/>
            <a:ext cx="2934000" cy="59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1450" b="1" spc="0" dirty="0">
                <a:solidFill>
                  <a:srgbClr val="0F2A2F"/>
                </a:solidFill>
                <a:latin typeface="Arial"/>
                <a:cs typeface="Arial"/>
              </a:rPr>
              <a:t>FoxESS P3-5-15.0-SH inverter + EP12 akkumulátor</a:t>
            </a:r>
          </a:p>
        </p:txBody>
      </p:sp>
      <p:sp>
        <p:nvSpPr>
          <p:cNvPr id="19" name="Inverter csempe"/>
          <p:cNvSpPr/>
          <p:nvPr/>
        </p:nvSpPr>
        <p:spPr>
          <a:xfrm>
            <a:off x="3960000" y="3510000"/>
            <a:ext cx="1413000" cy="864000"/>
          </a:xfrm>
          <a:prstGeom prst="roundRect">
            <a:avLst>
              <a:gd name="adj" fmla="val 12500"/>
            </a:avLst>
          </a:prstGeom>
          <a:solidFill>
            <a:srgbClr val="EEF6F5"/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20" name="Inverter ikon háttér"/>
          <p:cNvSpPr/>
          <p:nvPr/>
        </p:nvSpPr>
        <p:spPr>
          <a:xfrm>
            <a:off x="4086000" y="3636000"/>
            <a:ext cx="306000" cy="306000"/>
          </a:xfrm>
          <a:prstGeom prst="ellipse">
            <a:avLst/>
          </a:prstGeom>
          <a:gradFill rotWithShape="1">
            <a:gsLst>
              <a:gs pos="0">
                <a:srgbClr val="4FD3C3"/>
              </a:gs>
              <a:gs pos="100000">
                <a:srgbClr val="17998B"/>
              </a:gs>
            </a:gsLst>
            <a:lin ang="2700000" scaled="0"/>
          </a:gra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pic>
        <p:nvPicPr>
          <p:cNvPr id="21" name="Inverter ik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0000" y="3690000"/>
            <a:ext cx="198000" cy="198000"/>
          </a:xfrm>
          <a:prstGeom prst="rect">
            <a:avLst/>
          </a:prstGeom>
        </p:spPr>
      </p:pic>
      <p:sp>
        <p:nvSpPr>
          <p:cNvPr id="22" name="Inverter címke"/>
          <p:cNvSpPr txBox="1"/>
          <p:nvPr/>
        </p:nvSpPr>
        <p:spPr>
          <a:xfrm>
            <a:off x="4464000" y="3636000"/>
            <a:ext cx="837000" cy="306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750" b="1" spc="40" dirty="0">
                <a:solidFill>
                  <a:srgbClr val="5E6E72"/>
                </a:solidFill>
                <a:latin typeface="Arial"/>
                <a:cs typeface="Arial"/>
              </a:rPr>
              <a:t>INVERTER</a:t>
            </a:r>
          </a:p>
        </p:txBody>
      </p:sp>
      <p:sp>
        <p:nvSpPr>
          <p:cNvPr id="23" name="Inverter érték"/>
          <p:cNvSpPr txBox="1"/>
          <p:nvPr/>
        </p:nvSpPr>
        <p:spPr>
          <a:xfrm>
            <a:off x="4086000" y="3996000"/>
            <a:ext cx="1233000" cy="32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2100" b="1" spc="0" dirty="0">
                <a:solidFill>
                  <a:srgbClr val="0F2A2F"/>
                </a:solidFill>
                <a:latin typeface="Arial"/>
                <a:cs typeface="Arial"/>
              </a:rPr>
              <a:t>5–15</a:t>
            </a:r>
            <a:r>
              <a:rPr lang="hu-HU" sz="1300" b="1" spc="0" dirty="0">
                <a:solidFill>
                  <a:srgbClr val="0F2A2F"/>
                </a:solidFill>
                <a:latin typeface="Arial"/>
                <a:cs typeface="Arial"/>
              </a:rPr>
              <a:t> kW</a:t>
            </a:r>
          </a:p>
        </p:txBody>
      </p:sp>
      <p:sp>
        <p:nvSpPr>
          <p:cNvPr id="24" name="Akkumulátor csempe"/>
          <p:cNvSpPr/>
          <p:nvPr/>
        </p:nvSpPr>
        <p:spPr>
          <a:xfrm>
            <a:off x="5481000" y="3510000"/>
            <a:ext cx="1413000" cy="864000"/>
          </a:xfrm>
          <a:prstGeom prst="roundRect">
            <a:avLst>
              <a:gd name="adj" fmla="val 12500"/>
            </a:avLst>
          </a:prstGeom>
          <a:solidFill>
            <a:srgbClr val="EEF6F5"/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25" name="Akkumulátor ikon háttér"/>
          <p:cNvSpPr/>
          <p:nvPr/>
        </p:nvSpPr>
        <p:spPr>
          <a:xfrm>
            <a:off x="5607000" y="3636000"/>
            <a:ext cx="306000" cy="306000"/>
          </a:xfrm>
          <a:prstGeom prst="ellipse">
            <a:avLst/>
          </a:prstGeom>
          <a:gradFill rotWithShape="1">
            <a:gsLst>
              <a:gs pos="0">
                <a:srgbClr val="4FD3C3"/>
              </a:gs>
              <a:gs pos="100000">
                <a:srgbClr val="17998B"/>
              </a:gs>
            </a:gsLst>
            <a:lin ang="2700000" scaled="0"/>
          </a:gra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pic>
        <p:nvPicPr>
          <p:cNvPr id="26" name="Akkumulátor ik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1000" y="3690000"/>
            <a:ext cx="198000" cy="198000"/>
          </a:xfrm>
          <a:prstGeom prst="rect">
            <a:avLst/>
          </a:prstGeom>
        </p:spPr>
      </p:pic>
      <p:sp>
        <p:nvSpPr>
          <p:cNvPr id="27" name="Akkumulátor címke"/>
          <p:cNvSpPr txBox="1"/>
          <p:nvPr/>
        </p:nvSpPr>
        <p:spPr>
          <a:xfrm>
            <a:off x="5985000" y="3636000"/>
            <a:ext cx="837000" cy="306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750" b="1" spc="40" dirty="0">
                <a:solidFill>
                  <a:srgbClr val="5E6E72"/>
                </a:solidFill>
                <a:latin typeface="Arial"/>
                <a:cs typeface="Arial"/>
              </a:rPr>
              <a:t>AKKUMULÁTOR</a:t>
            </a:r>
          </a:p>
        </p:txBody>
      </p:sp>
      <p:sp>
        <p:nvSpPr>
          <p:cNvPr id="28" name="Akkumulátor érték"/>
          <p:cNvSpPr txBox="1"/>
          <p:nvPr/>
        </p:nvSpPr>
        <p:spPr>
          <a:xfrm>
            <a:off x="5607000" y="3996000"/>
            <a:ext cx="1233000" cy="32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2100" b="1" spc="0" dirty="0">
                <a:solidFill>
                  <a:srgbClr val="0F2A2F"/>
                </a:solidFill>
                <a:latin typeface="Arial"/>
                <a:cs typeface="Arial"/>
              </a:rPr>
              <a:t>11,5</a:t>
            </a:r>
            <a:r>
              <a:rPr lang="hu-HU" sz="1300" b="1" spc="0" dirty="0">
                <a:solidFill>
                  <a:srgbClr val="0F2A2F"/>
                </a:solidFill>
                <a:latin typeface="Arial"/>
                <a:cs typeface="Arial"/>
              </a:rPr>
              <a:t> kWh</a:t>
            </a:r>
          </a:p>
        </p:txBody>
      </p:sp>
      <p:sp>
        <p:nvSpPr>
          <p:cNvPr id="29" name="Rendszer értéke címke"/>
          <p:cNvSpPr txBox="1"/>
          <p:nvPr/>
        </p:nvSpPr>
        <p:spPr>
          <a:xfrm>
            <a:off x="3960000" y="4482000"/>
            <a:ext cx="2934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1050" b="0" spc="0" dirty="0">
                <a:solidFill>
                  <a:srgbClr val="5E6E72"/>
                </a:solidFill>
                <a:latin typeface="Arial"/>
                <a:cs typeface="Arial"/>
              </a:rPr>
              <a:t>Rendszer értéke</a:t>
            </a:r>
          </a:p>
        </p:txBody>
      </p:sp>
      <p:sp>
        <p:nvSpPr>
          <p:cNvPr id="30" name="Rendszer értéke"/>
          <p:cNvSpPr txBox="1"/>
          <p:nvPr/>
        </p:nvSpPr>
        <p:spPr>
          <a:xfrm>
            <a:off x="3960000" y="4482000"/>
            <a:ext cx="2934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hu-HU" sz="1150" b="1" spc="0" dirty="0">
                <a:solidFill>
                  <a:srgbClr val="0F2A2F"/>
                </a:solidFill>
                <a:latin typeface="Arial"/>
                <a:cs typeface="Arial"/>
              </a:rPr>
              <a:t>2 290 000 Ft</a:t>
            </a:r>
          </a:p>
        </p:txBody>
      </p:sp>
      <p:sp>
        <p:nvSpPr>
          <p:cNvPr id="31" name="Elválasztó"/>
          <p:cNvSpPr/>
          <p:nvPr/>
        </p:nvSpPr>
        <p:spPr>
          <a:xfrm>
            <a:off x="3960000" y="4723200"/>
            <a:ext cx="2934000" cy="7200"/>
          </a:xfrm>
          <a:prstGeom prst="rect">
            <a:avLst/>
          </a:prstGeom>
          <a:solidFill>
            <a:srgbClr val="DCE6E6"/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32" name="Támogatás címke"/>
          <p:cNvSpPr txBox="1"/>
          <p:nvPr/>
        </p:nvSpPr>
        <p:spPr>
          <a:xfrm>
            <a:off x="3960000" y="4770000"/>
            <a:ext cx="2934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1050" b="0" spc="0" dirty="0">
                <a:solidFill>
                  <a:srgbClr val="5E6E72"/>
                </a:solidFill>
                <a:latin typeface="Arial"/>
                <a:cs typeface="Arial"/>
              </a:rPr>
              <a:t>Támogatás mértéke</a:t>
            </a:r>
          </a:p>
        </p:txBody>
      </p:sp>
      <p:sp>
        <p:nvSpPr>
          <p:cNvPr id="33" name="Támogatás mértéke"/>
          <p:cNvSpPr txBox="1"/>
          <p:nvPr/>
        </p:nvSpPr>
        <p:spPr>
          <a:xfrm>
            <a:off x="3960000" y="4770000"/>
            <a:ext cx="2934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hu-HU" sz="1150" b="1" spc="0" dirty="0">
                <a:solidFill>
                  <a:srgbClr val="15998B"/>
                </a:solidFill>
                <a:latin typeface="Arial"/>
                <a:cs typeface="Arial"/>
              </a:rPr>
              <a:t>– 1 800 000 Ft</a:t>
            </a:r>
          </a:p>
        </p:txBody>
      </p:sp>
      <p:sp>
        <p:nvSpPr>
          <p:cNvPr id="34" name="Önerő kiemelés"/>
          <p:cNvSpPr/>
          <p:nvPr/>
        </p:nvSpPr>
        <p:spPr>
          <a:xfrm>
            <a:off x="3960000" y="5094000"/>
            <a:ext cx="2934000" cy="828000"/>
          </a:xfrm>
          <a:prstGeom prst="roundRect">
            <a:avLst>
              <a:gd name="adj" fmla="val 15217"/>
            </a:avLst>
          </a:prstGeom>
          <a:gradFill rotWithShape="1">
            <a:gsLst>
              <a:gs pos="0">
                <a:srgbClr val="FFA23F"/>
              </a:gs>
              <a:gs pos="100000">
                <a:srgbClr val="EE5A12"/>
              </a:gs>
            </a:gsLst>
            <a:lin ang="1200000" scaled="0"/>
          </a:gradFill>
          <a:ln>
            <a:noFill/>
          </a:ln>
          <a:effectLst>
            <a:outerShdw blurRad="381000" dist="101600" dir="5400000" algn="t" rotWithShape="0">
              <a:srgbClr val="F26B1D">
                <a:alpha val="40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sp>
        <p:nvSpPr>
          <p:cNvPr id="35" name="Önerő összeg"/>
          <p:cNvSpPr txBox="1"/>
          <p:nvPr/>
        </p:nvSpPr>
        <p:spPr>
          <a:xfrm>
            <a:off x="4140000" y="5094000"/>
            <a:ext cx="2250000" cy="82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2800" b="1" spc="0" dirty="0">
                <a:solidFill>
                  <a:srgbClr val="FFFFFF"/>
                </a:solidFill>
                <a:latin typeface="Arial"/>
                <a:cs typeface="Arial"/>
              </a:rPr>
              <a:t>490 000 Ft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lang="hu-HU" sz="1200" b="1" spc="0" dirty="0">
                <a:solidFill>
                  <a:srgbClr val="FFFFFF">
                    <a:alpha val="92000"/>
                  </a:srgbClr>
                </a:solidFill>
                <a:latin typeface="Arial"/>
                <a:cs typeface="Arial"/>
              </a:rPr>
              <a:t>önerővel</a:t>
            </a:r>
          </a:p>
        </p:txBody>
      </p:sp>
      <p:sp>
        <p:nvSpPr>
          <p:cNvPr id="36" name="Pipa háttér"/>
          <p:cNvSpPr/>
          <p:nvPr/>
        </p:nvSpPr>
        <p:spPr>
          <a:xfrm>
            <a:off x="6372000" y="5328000"/>
            <a:ext cx="360000" cy="360000"/>
          </a:xfrm>
          <a:prstGeom prst="ellipse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pic>
        <p:nvPicPr>
          <p:cNvPr id="37" name="Pipa ik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1200" y="5407200"/>
            <a:ext cx="201600" cy="201600"/>
          </a:xfrm>
          <a:prstGeom prst="rect">
            <a:avLst/>
          </a:prstGeom>
        </p:spPr>
      </p:pic>
      <p:sp>
        <p:nvSpPr>
          <p:cNvPr id="38" name="CSOMAG 02 kártya"/>
          <p:cNvSpPr/>
          <p:nvPr/>
        </p:nvSpPr>
        <p:spPr>
          <a:xfrm>
            <a:off x="360000" y="6282000"/>
            <a:ext cx="6840000" cy="38160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>
            <a:noFill/>
          </a:ln>
          <a:effectLst>
            <a:outerShdw blurRad="762000" dist="177800" dir="5400000" algn="t" rotWithShape="0">
              <a:srgbClr val="000000">
                <a:alpha val="50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pic>
        <p:nvPicPr>
          <p:cNvPr id="39" name="CSOMAG 02 termékkép" descr="Deye SUN-SG05LP3 inverter és SE-F12-C akkumulátor illusztráció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8000" y="6444000"/>
            <a:ext cx="3240000" cy="3492000"/>
          </a:xfrm>
          <a:prstGeom prst="rect">
            <a:avLst/>
          </a:prstGeom>
        </p:spPr>
      </p:pic>
      <p:sp>
        <p:nvSpPr>
          <p:cNvPr id="40" name="Csomag címke"/>
          <p:cNvSpPr/>
          <p:nvPr/>
        </p:nvSpPr>
        <p:spPr>
          <a:xfrm>
            <a:off x="3960000" y="6606000"/>
            <a:ext cx="846000" cy="223200"/>
          </a:xfrm>
          <a:prstGeom prst="roundRect">
            <a:avLst>
              <a:gd name="adj" fmla="val 50000"/>
            </a:avLst>
          </a:prstGeom>
          <a:solidFill>
            <a:srgbClr val="0F2A2F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41" name="Csomag címke szöveg"/>
          <p:cNvSpPr txBox="1"/>
          <p:nvPr/>
        </p:nvSpPr>
        <p:spPr>
          <a:xfrm>
            <a:off x="3960000" y="6606000"/>
            <a:ext cx="846000" cy="223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hu-HU" sz="800" b="1" spc="150" dirty="0">
                <a:solidFill>
                  <a:srgbClr val="FFFFFF"/>
                </a:solidFill>
                <a:latin typeface="Arial"/>
                <a:cs typeface="Arial"/>
              </a:rPr>
              <a:t>CSOMAG 02</a:t>
            </a:r>
          </a:p>
        </p:txBody>
      </p:sp>
      <p:sp>
        <p:nvSpPr>
          <p:cNvPr id="42" name="Illusztráció megjegyzés"/>
          <p:cNvSpPr txBox="1"/>
          <p:nvPr/>
        </p:nvSpPr>
        <p:spPr>
          <a:xfrm>
            <a:off x="3798000" y="9712800"/>
            <a:ext cx="3240000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hu-HU" sz="750" b="0" spc="0" dirty="0">
                <a:solidFill>
                  <a:srgbClr val="FFFFFF">
                    <a:alpha val="90000"/>
                  </a:srgbClr>
                </a:solidFill>
                <a:latin typeface="Arial"/>
                <a:cs typeface="Arial"/>
              </a:rPr>
              <a:t>A termékmegjelenítés illusztráció.</a:t>
            </a:r>
          </a:p>
        </p:txBody>
      </p:sp>
      <p:sp>
        <p:nvSpPr>
          <p:cNvPr id="43" name="Márka címke"/>
          <p:cNvSpPr txBox="1"/>
          <p:nvPr/>
        </p:nvSpPr>
        <p:spPr>
          <a:xfrm>
            <a:off x="666000" y="6552000"/>
            <a:ext cx="2934000" cy="162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850" b="1" spc="200" dirty="0">
                <a:solidFill>
                  <a:srgbClr val="15998B"/>
                </a:solidFill>
                <a:latin typeface="Arial"/>
                <a:cs typeface="Arial"/>
              </a:rPr>
              <a:t>DEYE HIBRID RENDSZER</a:t>
            </a:r>
          </a:p>
        </p:txBody>
      </p:sp>
      <p:sp>
        <p:nvSpPr>
          <p:cNvPr id="44" name="Csomag neve"/>
          <p:cNvSpPr txBox="1"/>
          <p:nvPr/>
        </p:nvSpPr>
        <p:spPr>
          <a:xfrm>
            <a:off x="666000" y="6732000"/>
            <a:ext cx="2934000" cy="59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1450" b="1" spc="0" dirty="0">
                <a:solidFill>
                  <a:srgbClr val="0F2A2F"/>
                </a:solidFill>
                <a:latin typeface="Arial"/>
                <a:cs typeface="Arial"/>
              </a:rPr>
              <a:t>Deye SUN-4-8K-SG05LP3 inverter + SE-F12-C/MAX akkumulátor</a:t>
            </a:r>
          </a:p>
        </p:txBody>
      </p:sp>
      <p:sp>
        <p:nvSpPr>
          <p:cNvPr id="45" name="Inverter csempe"/>
          <p:cNvSpPr/>
          <p:nvPr/>
        </p:nvSpPr>
        <p:spPr>
          <a:xfrm>
            <a:off x="666000" y="7506000"/>
            <a:ext cx="1413000" cy="864000"/>
          </a:xfrm>
          <a:prstGeom prst="roundRect">
            <a:avLst>
              <a:gd name="adj" fmla="val 12500"/>
            </a:avLst>
          </a:prstGeom>
          <a:solidFill>
            <a:srgbClr val="EEF6F5"/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46" name="Inverter ikon háttér"/>
          <p:cNvSpPr/>
          <p:nvPr/>
        </p:nvSpPr>
        <p:spPr>
          <a:xfrm>
            <a:off x="792000" y="7632000"/>
            <a:ext cx="306000" cy="306000"/>
          </a:xfrm>
          <a:prstGeom prst="ellipse">
            <a:avLst/>
          </a:prstGeom>
          <a:gradFill rotWithShape="1">
            <a:gsLst>
              <a:gs pos="0">
                <a:srgbClr val="4FD3C3"/>
              </a:gs>
              <a:gs pos="100000">
                <a:srgbClr val="17998B"/>
              </a:gs>
            </a:gsLst>
            <a:lin ang="2700000" scaled="0"/>
          </a:gra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pic>
        <p:nvPicPr>
          <p:cNvPr id="47" name="Inverter ik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000" y="7686000"/>
            <a:ext cx="198000" cy="198000"/>
          </a:xfrm>
          <a:prstGeom prst="rect">
            <a:avLst/>
          </a:prstGeom>
        </p:spPr>
      </p:pic>
      <p:sp>
        <p:nvSpPr>
          <p:cNvPr id="48" name="Inverter címke"/>
          <p:cNvSpPr txBox="1"/>
          <p:nvPr/>
        </p:nvSpPr>
        <p:spPr>
          <a:xfrm>
            <a:off x="1170000" y="7632000"/>
            <a:ext cx="837000" cy="306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750" b="1" spc="40" dirty="0">
                <a:solidFill>
                  <a:srgbClr val="5E6E72"/>
                </a:solidFill>
                <a:latin typeface="Arial"/>
                <a:cs typeface="Arial"/>
              </a:rPr>
              <a:t>INVERTER</a:t>
            </a:r>
          </a:p>
        </p:txBody>
      </p:sp>
      <p:sp>
        <p:nvSpPr>
          <p:cNvPr id="49" name="Inverter érték"/>
          <p:cNvSpPr txBox="1"/>
          <p:nvPr/>
        </p:nvSpPr>
        <p:spPr>
          <a:xfrm>
            <a:off x="792000" y="7992000"/>
            <a:ext cx="1233000" cy="32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2100" b="1" spc="0" dirty="0">
                <a:solidFill>
                  <a:srgbClr val="0F2A2F"/>
                </a:solidFill>
                <a:latin typeface="Arial"/>
                <a:cs typeface="Arial"/>
              </a:rPr>
              <a:t>4–8</a:t>
            </a:r>
            <a:r>
              <a:rPr lang="hu-HU" sz="1300" b="1" spc="0" dirty="0">
                <a:solidFill>
                  <a:srgbClr val="0F2A2F"/>
                </a:solidFill>
                <a:latin typeface="Arial"/>
                <a:cs typeface="Arial"/>
              </a:rPr>
              <a:t> kW</a:t>
            </a:r>
          </a:p>
        </p:txBody>
      </p:sp>
      <p:sp>
        <p:nvSpPr>
          <p:cNvPr id="50" name="Akkumulátor csempe"/>
          <p:cNvSpPr/>
          <p:nvPr/>
        </p:nvSpPr>
        <p:spPr>
          <a:xfrm>
            <a:off x="2187000" y="7506000"/>
            <a:ext cx="1413000" cy="864000"/>
          </a:xfrm>
          <a:prstGeom prst="roundRect">
            <a:avLst>
              <a:gd name="adj" fmla="val 12500"/>
            </a:avLst>
          </a:prstGeom>
          <a:solidFill>
            <a:srgbClr val="EEF6F5"/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51" name="Akkumulátor ikon háttér"/>
          <p:cNvSpPr/>
          <p:nvPr/>
        </p:nvSpPr>
        <p:spPr>
          <a:xfrm>
            <a:off x="2313000" y="7632000"/>
            <a:ext cx="306000" cy="306000"/>
          </a:xfrm>
          <a:prstGeom prst="ellipse">
            <a:avLst/>
          </a:prstGeom>
          <a:gradFill rotWithShape="1">
            <a:gsLst>
              <a:gs pos="0">
                <a:srgbClr val="4FD3C3"/>
              </a:gs>
              <a:gs pos="100000">
                <a:srgbClr val="17998B"/>
              </a:gs>
            </a:gsLst>
            <a:lin ang="2700000" scaled="0"/>
          </a:gra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pic>
        <p:nvPicPr>
          <p:cNvPr id="52" name="Akkumulátor ik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67000" y="7686000"/>
            <a:ext cx="198000" cy="198000"/>
          </a:xfrm>
          <a:prstGeom prst="rect">
            <a:avLst/>
          </a:prstGeom>
        </p:spPr>
      </p:pic>
      <p:sp>
        <p:nvSpPr>
          <p:cNvPr id="53" name="Akkumulátor címke"/>
          <p:cNvSpPr txBox="1"/>
          <p:nvPr/>
        </p:nvSpPr>
        <p:spPr>
          <a:xfrm>
            <a:off x="2691000" y="7632000"/>
            <a:ext cx="837000" cy="306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750" b="1" spc="40" dirty="0">
                <a:solidFill>
                  <a:srgbClr val="5E6E72"/>
                </a:solidFill>
                <a:latin typeface="Arial"/>
                <a:cs typeface="Arial"/>
              </a:rPr>
              <a:t>AKKUMULÁTOR</a:t>
            </a:r>
          </a:p>
        </p:txBody>
      </p:sp>
      <p:sp>
        <p:nvSpPr>
          <p:cNvPr id="54" name="Akkumulátor érték"/>
          <p:cNvSpPr txBox="1"/>
          <p:nvPr/>
        </p:nvSpPr>
        <p:spPr>
          <a:xfrm>
            <a:off x="2313000" y="7992000"/>
            <a:ext cx="1233000" cy="32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2100" b="1" spc="0" dirty="0">
                <a:solidFill>
                  <a:srgbClr val="0F2A2F"/>
                </a:solidFill>
                <a:latin typeface="Arial"/>
                <a:cs typeface="Arial"/>
              </a:rPr>
              <a:t>11,8</a:t>
            </a:r>
            <a:r>
              <a:rPr lang="hu-HU" sz="1300" b="1" spc="0" dirty="0">
                <a:solidFill>
                  <a:srgbClr val="0F2A2F"/>
                </a:solidFill>
                <a:latin typeface="Arial"/>
                <a:cs typeface="Arial"/>
              </a:rPr>
              <a:t> kWh</a:t>
            </a:r>
          </a:p>
        </p:txBody>
      </p:sp>
      <p:sp>
        <p:nvSpPr>
          <p:cNvPr id="55" name="Rendszer értéke címke"/>
          <p:cNvSpPr txBox="1"/>
          <p:nvPr/>
        </p:nvSpPr>
        <p:spPr>
          <a:xfrm>
            <a:off x="666000" y="8478000"/>
            <a:ext cx="2934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1050" b="0" spc="0" dirty="0">
                <a:solidFill>
                  <a:srgbClr val="5E6E72"/>
                </a:solidFill>
                <a:latin typeface="Arial"/>
                <a:cs typeface="Arial"/>
              </a:rPr>
              <a:t>Rendszer értéke</a:t>
            </a:r>
          </a:p>
        </p:txBody>
      </p:sp>
      <p:sp>
        <p:nvSpPr>
          <p:cNvPr id="56" name="Rendszer értéke"/>
          <p:cNvSpPr txBox="1"/>
          <p:nvPr/>
        </p:nvSpPr>
        <p:spPr>
          <a:xfrm>
            <a:off x="666000" y="8478000"/>
            <a:ext cx="2934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hu-HU" sz="1150" b="1" spc="0" dirty="0">
                <a:solidFill>
                  <a:srgbClr val="0F2A2F"/>
                </a:solidFill>
                <a:latin typeface="Arial"/>
                <a:cs typeface="Arial"/>
              </a:rPr>
              <a:t>2 250 000 Ft</a:t>
            </a:r>
          </a:p>
        </p:txBody>
      </p:sp>
      <p:sp>
        <p:nvSpPr>
          <p:cNvPr id="57" name="Elválasztó"/>
          <p:cNvSpPr/>
          <p:nvPr/>
        </p:nvSpPr>
        <p:spPr>
          <a:xfrm>
            <a:off x="666000" y="8719200"/>
            <a:ext cx="2934000" cy="7200"/>
          </a:xfrm>
          <a:prstGeom prst="rect">
            <a:avLst/>
          </a:prstGeom>
          <a:solidFill>
            <a:srgbClr val="DCE6E6"/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58" name="Támogatás címke"/>
          <p:cNvSpPr txBox="1"/>
          <p:nvPr/>
        </p:nvSpPr>
        <p:spPr>
          <a:xfrm>
            <a:off x="666000" y="8766000"/>
            <a:ext cx="2934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1050" b="0" spc="0" dirty="0">
                <a:solidFill>
                  <a:srgbClr val="5E6E72"/>
                </a:solidFill>
                <a:latin typeface="Arial"/>
                <a:cs typeface="Arial"/>
              </a:rPr>
              <a:t>Támogatás mértéke</a:t>
            </a:r>
          </a:p>
        </p:txBody>
      </p:sp>
      <p:sp>
        <p:nvSpPr>
          <p:cNvPr id="59" name="Támogatás mértéke"/>
          <p:cNvSpPr txBox="1"/>
          <p:nvPr/>
        </p:nvSpPr>
        <p:spPr>
          <a:xfrm>
            <a:off x="666000" y="8766000"/>
            <a:ext cx="2934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hu-HU" sz="1150" b="1" spc="0" dirty="0">
                <a:solidFill>
                  <a:srgbClr val="15998B"/>
                </a:solidFill>
                <a:latin typeface="Arial"/>
                <a:cs typeface="Arial"/>
              </a:rPr>
              <a:t>– 1 800 000 Ft</a:t>
            </a:r>
          </a:p>
        </p:txBody>
      </p:sp>
      <p:sp>
        <p:nvSpPr>
          <p:cNvPr id="60" name="Önerő kiemelés"/>
          <p:cNvSpPr/>
          <p:nvPr/>
        </p:nvSpPr>
        <p:spPr>
          <a:xfrm>
            <a:off x="666000" y="9090000"/>
            <a:ext cx="2934000" cy="828000"/>
          </a:xfrm>
          <a:prstGeom prst="roundRect">
            <a:avLst>
              <a:gd name="adj" fmla="val 15217"/>
            </a:avLst>
          </a:prstGeom>
          <a:gradFill rotWithShape="1">
            <a:gsLst>
              <a:gs pos="0">
                <a:srgbClr val="FFA23F"/>
              </a:gs>
              <a:gs pos="100000">
                <a:srgbClr val="EE5A12"/>
              </a:gs>
            </a:gsLst>
            <a:lin ang="1200000" scaled="0"/>
          </a:gradFill>
          <a:ln>
            <a:noFill/>
          </a:ln>
          <a:effectLst>
            <a:outerShdw blurRad="381000" dist="101600" dir="5400000" algn="t" rotWithShape="0">
              <a:srgbClr val="F26B1D">
                <a:alpha val="40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sp>
        <p:nvSpPr>
          <p:cNvPr id="61" name="Önerő összeg"/>
          <p:cNvSpPr txBox="1"/>
          <p:nvPr/>
        </p:nvSpPr>
        <p:spPr>
          <a:xfrm>
            <a:off x="846000" y="9090000"/>
            <a:ext cx="2250000" cy="82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2800" b="1" spc="0" dirty="0">
                <a:solidFill>
                  <a:srgbClr val="FFFFFF"/>
                </a:solidFill>
                <a:latin typeface="Arial"/>
                <a:cs typeface="Arial"/>
              </a:rPr>
              <a:t>450 000 Ft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lang="hu-HU" sz="1200" b="1" spc="0" dirty="0">
                <a:solidFill>
                  <a:srgbClr val="FFFFFF">
                    <a:alpha val="92000"/>
                  </a:srgbClr>
                </a:solidFill>
                <a:latin typeface="Arial"/>
                <a:cs typeface="Arial"/>
              </a:rPr>
              <a:t>önerővel</a:t>
            </a:r>
          </a:p>
        </p:txBody>
      </p:sp>
      <p:sp>
        <p:nvSpPr>
          <p:cNvPr id="62" name="Pipa háttér"/>
          <p:cNvSpPr/>
          <p:nvPr/>
        </p:nvSpPr>
        <p:spPr>
          <a:xfrm>
            <a:off x="3078000" y="9324000"/>
            <a:ext cx="360000" cy="360000"/>
          </a:xfrm>
          <a:prstGeom prst="ellipse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pic>
        <p:nvPicPr>
          <p:cNvPr id="63" name="Pipa ik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7200" y="9403200"/>
            <a:ext cx="201600" cy="201600"/>
          </a:xfrm>
          <a:prstGeom prst="rect">
            <a:avLst/>
          </a:prstGeom>
        </p:spPr>
      </p:pic>
      <p:sp>
        <p:nvSpPr>
          <p:cNvPr id="64" name="Lábléc"/>
          <p:cNvSpPr txBox="1"/>
          <p:nvPr/>
        </p:nvSpPr>
        <p:spPr>
          <a:xfrm>
            <a:off x="360000" y="10278000"/>
            <a:ext cx="6840000" cy="1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hu-HU" sz="800" b="0" spc="0" dirty="0">
                <a:solidFill>
                  <a:srgbClr val="8FB3B0"/>
                </a:solidFill>
                <a:latin typeface="Arial"/>
                <a:cs typeface="Arial"/>
              </a:rPr>
              <a:t>Spark Electric Kft.  ·  1147 Budapest, Telepes utca 72-74. psz. 37.  ·  +36 20 409 0060  ·  www.akkumulator-tamogatas.hu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Háttér" descr="Sötét háttér napfény-motívumm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556400" cy="10692000"/>
          </a:xfrm>
          <a:prstGeom prst="rect">
            <a:avLst/>
          </a:prstGeom>
        </p:spPr>
      </p:pic>
      <p:pic>
        <p:nvPicPr>
          <p:cNvPr id="4" name="Spark Solar logó" descr="Spark Solar logó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" y="360000"/>
            <a:ext cx="1624320" cy="403200"/>
          </a:xfrm>
          <a:prstGeom prst="rect">
            <a:avLst/>
          </a:prstGeom>
        </p:spPr>
      </p:pic>
      <p:sp>
        <p:nvSpPr>
          <p:cNvPr id="5" name="Fejléc elérhetőség"/>
          <p:cNvSpPr txBox="1"/>
          <p:nvPr/>
        </p:nvSpPr>
        <p:spPr>
          <a:xfrm>
            <a:off x="3888000" y="378000"/>
            <a:ext cx="3240000" cy="39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hu-HU" sz="1000" b="1" spc="0" dirty="0">
                <a:solidFill>
                  <a:srgbClr val="FFFFFF"/>
                </a:solidFill>
                <a:latin typeface="Arial"/>
                <a:cs typeface="Arial"/>
              </a:rPr>
              <a:t>www.akkumulator-tamogatas.hu</a:t>
            </a:r>
          </a:p>
          <a:p>
            <a:pPr algn="r">
              <a:spcBef>
                <a:spcPts val="300"/>
              </a:spcBef>
              <a:spcAft>
                <a:spcPts val="0"/>
              </a:spcAft>
            </a:pPr>
            <a:r>
              <a:rPr lang="hu-HU" sz="900" b="0" spc="0" dirty="0">
                <a:solidFill>
                  <a:srgbClr val="9FC9C4"/>
                </a:solidFill>
                <a:latin typeface="Arial"/>
                <a:cs typeface="Arial"/>
              </a:rPr>
              <a:t>Spark Electric Kft.  ·  +36 20 409 0060</a:t>
            </a:r>
          </a:p>
        </p:txBody>
      </p:sp>
      <p:sp>
        <p:nvSpPr>
          <p:cNvPr id="6" name="Felcím"/>
          <p:cNvSpPr txBox="1"/>
          <p:nvPr/>
        </p:nvSpPr>
        <p:spPr>
          <a:xfrm>
            <a:off x="432000" y="1080000"/>
            <a:ext cx="4320000" cy="1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950" b="1" spc="300" dirty="0">
                <a:solidFill>
                  <a:srgbClr val="FFA552"/>
                </a:solidFill>
                <a:latin typeface="Arial"/>
                <a:cs typeface="Arial"/>
              </a:rPr>
              <a:t>AKKUMULÁTOR CSOMAGOK</a:t>
            </a:r>
          </a:p>
        </p:txBody>
      </p:sp>
      <p:sp>
        <p:nvSpPr>
          <p:cNvPr id="7" name="Cím"/>
          <p:cNvSpPr txBox="1"/>
          <p:nvPr/>
        </p:nvSpPr>
        <p:spPr>
          <a:xfrm>
            <a:off x="432000" y="1296000"/>
            <a:ext cx="4176000" cy="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2800" b="1" spc="0" dirty="0">
                <a:solidFill>
                  <a:srgbClr val="FFFFFF"/>
                </a:solidFill>
                <a:latin typeface="Arial"/>
                <a:cs typeface="Arial"/>
              </a:rPr>
              <a:t>Akkumulátor csomagok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2800" b="1" spc="0" dirty="0">
                <a:solidFill>
                  <a:srgbClr val="FF8A2E"/>
                </a:solidFill>
                <a:latin typeface="Arial"/>
                <a:cs typeface="Arial"/>
              </a:rPr>
              <a:t>akár 0 Ft önerővel</a:t>
            </a:r>
          </a:p>
        </p:txBody>
      </p:sp>
      <p:sp>
        <p:nvSpPr>
          <p:cNvPr id="8" name="Támogatás doboz"/>
          <p:cNvSpPr/>
          <p:nvPr/>
        </p:nvSpPr>
        <p:spPr>
          <a:xfrm>
            <a:off x="4752000" y="1206000"/>
            <a:ext cx="2376000" cy="846000"/>
          </a:xfrm>
          <a:prstGeom prst="roundRect">
            <a:avLst>
              <a:gd name="adj" fmla="val 14893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A552">
                <a:alpha val="70000"/>
              </a:srgbClr>
            </a:solidFill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9" name="Támogatás ikon háttér"/>
          <p:cNvSpPr/>
          <p:nvPr/>
        </p:nvSpPr>
        <p:spPr>
          <a:xfrm>
            <a:off x="4896000" y="1422000"/>
            <a:ext cx="414000" cy="414000"/>
          </a:xfrm>
          <a:prstGeom prst="ellipse">
            <a:avLst/>
          </a:prstGeom>
          <a:gradFill rotWithShape="1">
            <a:gsLst>
              <a:gs pos="0">
                <a:srgbClr val="FFA23F"/>
              </a:gs>
              <a:gs pos="100000">
                <a:srgbClr val="EE5A12"/>
              </a:gs>
            </a:gsLst>
            <a:lin ang="2700000" scaled="0"/>
          </a:gradFill>
          <a:ln>
            <a:noFill/>
          </a:ln>
          <a:effectLst>
            <a:outerShdw blurRad="228600" dist="50800" dir="5400000" algn="t" rotWithShape="0">
              <a:srgbClr val="F26B1D">
                <a:alpha val="45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pic>
        <p:nvPicPr>
          <p:cNvPr id="10" name="Villám ik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8000" y="1494000"/>
            <a:ext cx="270000" cy="270000"/>
          </a:xfrm>
          <a:prstGeom prst="rect">
            <a:avLst/>
          </a:prstGeom>
        </p:spPr>
      </p:pic>
      <p:sp>
        <p:nvSpPr>
          <p:cNvPr id="11" name="Támogatás összeg"/>
          <p:cNvSpPr txBox="1"/>
          <p:nvPr/>
        </p:nvSpPr>
        <p:spPr>
          <a:xfrm>
            <a:off x="5400000" y="1296000"/>
            <a:ext cx="1674000" cy="666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750" b="1" spc="100" dirty="0">
                <a:solidFill>
                  <a:srgbClr val="BFE3DF"/>
                </a:solidFill>
                <a:latin typeface="Arial"/>
                <a:cs typeface="Arial"/>
              </a:rPr>
              <a:t>VISSZA NEM TÉRÍTENDŐ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750" b="1" spc="100" dirty="0">
                <a:solidFill>
                  <a:srgbClr val="BFE3DF"/>
                </a:solidFill>
                <a:latin typeface="Arial"/>
                <a:cs typeface="Arial"/>
              </a:rPr>
              <a:t>TÁMOGATÁS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hu-HU" sz="1900" b="1" spc="0" dirty="0">
                <a:solidFill>
                  <a:srgbClr val="FFFFFF"/>
                </a:solidFill>
                <a:latin typeface="Arial"/>
                <a:cs typeface="Arial"/>
              </a:rPr>
              <a:t>1 800 000 Ft</a:t>
            </a:r>
          </a:p>
        </p:txBody>
      </p:sp>
      <p:sp>
        <p:nvSpPr>
          <p:cNvPr id="12" name="CSOMAG 03 kártya"/>
          <p:cNvSpPr/>
          <p:nvPr/>
        </p:nvSpPr>
        <p:spPr>
          <a:xfrm>
            <a:off x="360000" y="2286000"/>
            <a:ext cx="3330000" cy="423000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>
            <a:noFill/>
          </a:ln>
          <a:effectLst>
            <a:outerShdw blurRad="762000" dist="177800" dir="5400000" algn="t" rotWithShape="0">
              <a:srgbClr val="000000">
                <a:alpha val="50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pic>
        <p:nvPicPr>
          <p:cNvPr id="13" name="CSOMAG 03 termékkép" descr="Deye SE-F16-C akkumulátor illusztráció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000" y="2412000"/>
            <a:ext cx="3078000" cy="1944000"/>
          </a:xfrm>
          <a:prstGeom prst="rect">
            <a:avLst/>
          </a:prstGeom>
        </p:spPr>
      </p:pic>
      <p:sp>
        <p:nvSpPr>
          <p:cNvPr id="14" name="Csomag címke"/>
          <p:cNvSpPr/>
          <p:nvPr/>
        </p:nvSpPr>
        <p:spPr>
          <a:xfrm>
            <a:off x="612000" y="2538000"/>
            <a:ext cx="846000" cy="223200"/>
          </a:xfrm>
          <a:prstGeom prst="roundRect">
            <a:avLst>
              <a:gd name="adj" fmla="val 50000"/>
            </a:avLst>
          </a:prstGeom>
          <a:solidFill>
            <a:srgbClr val="0F2A2F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15" name="Csomag címke szöveg"/>
          <p:cNvSpPr txBox="1"/>
          <p:nvPr/>
        </p:nvSpPr>
        <p:spPr>
          <a:xfrm>
            <a:off x="612000" y="2538000"/>
            <a:ext cx="846000" cy="223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hu-HU" sz="800" b="1" spc="150" dirty="0">
                <a:solidFill>
                  <a:srgbClr val="FFFFFF"/>
                </a:solidFill>
                <a:latin typeface="Arial"/>
                <a:cs typeface="Arial"/>
              </a:rPr>
              <a:t>CSOMAG 03</a:t>
            </a:r>
          </a:p>
        </p:txBody>
      </p:sp>
      <p:sp>
        <p:nvSpPr>
          <p:cNvPr id="16" name="Illusztráció megjegyzés"/>
          <p:cNvSpPr txBox="1"/>
          <p:nvPr/>
        </p:nvSpPr>
        <p:spPr>
          <a:xfrm>
            <a:off x="486000" y="4158000"/>
            <a:ext cx="3078000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hu-HU" sz="750" b="0" spc="0" dirty="0">
                <a:solidFill>
                  <a:srgbClr val="FFFFFF">
                    <a:alpha val="90000"/>
                  </a:srgbClr>
                </a:solidFill>
                <a:latin typeface="Arial"/>
                <a:cs typeface="Arial"/>
              </a:rPr>
              <a:t>A termékmegjelenítés illusztráció.</a:t>
            </a:r>
          </a:p>
        </p:txBody>
      </p:sp>
      <p:sp>
        <p:nvSpPr>
          <p:cNvPr id="17" name="Kompatibilitás"/>
          <p:cNvSpPr txBox="1"/>
          <p:nvPr/>
        </p:nvSpPr>
        <p:spPr>
          <a:xfrm>
            <a:off x="576000" y="4464000"/>
            <a:ext cx="2898000" cy="151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800" b="1" spc="150" dirty="0">
                <a:solidFill>
                  <a:srgbClr val="15998B"/>
                </a:solidFill>
                <a:latin typeface="Arial"/>
                <a:cs typeface="Arial"/>
              </a:rPr>
              <a:t>DEYE LV INVERTERHEZ</a:t>
            </a:r>
          </a:p>
        </p:txBody>
      </p:sp>
      <p:sp>
        <p:nvSpPr>
          <p:cNvPr id="18" name="Termék neve"/>
          <p:cNvSpPr txBox="1"/>
          <p:nvPr/>
        </p:nvSpPr>
        <p:spPr>
          <a:xfrm>
            <a:off x="576000" y="4626000"/>
            <a:ext cx="2898000" cy="23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1300" b="1" spc="0" dirty="0">
                <a:solidFill>
                  <a:srgbClr val="0F2A2F"/>
                </a:solidFill>
                <a:latin typeface="Arial"/>
                <a:cs typeface="Arial"/>
              </a:rPr>
              <a:t>Deye SE-F16-C/MAX akkumulátor</a:t>
            </a:r>
          </a:p>
        </p:txBody>
      </p:sp>
      <p:sp>
        <p:nvSpPr>
          <p:cNvPr id="19" name="Kapacitás"/>
          <p:cNvSpPr txBox="1"/>
          <p:nvPr/>
        </p:nvSpPr>
        <p:spPr>
          <a:xfrm>
            <a:off x="576000" y="4852800"/>
            <a:ext cx="2898000" cy="41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3400" b="1" spc="0" dirty="0">
                <a:solidFill>
                  <a:srgbClr val="0F2A2F"/>
                </a:solidFill>
                <a:latin typeface="Arial"/>
                <a:cs typeface="Arial"/>
              </a:rPr>
              <a:t>16</a:t>
            </a:r>
            <a:r>
              <a:rPr lang="hu-HU" sz="1800" b="1" spc="0" dirty="0">
                <a:solidFill>
                  <a:srgbClr val="0F2A2F"/>
                </a:solidFill>
                <a:latin typeface="Arial"/>
                <a:cs typeface="Arial"/>
              </a:rPr>
              <a:t> kWh</a:t>
            </a:r>
          </a:p>
        </p:txBody>
      </p:sp>
      <p:sp>
        <p:nvSpPr>
          <p:cNvPr id="20" name="Rendszer értéke címke"/>
          <p:cNvSpPr txBox="1"/>
          <p:nvPr/>
        </p:nvSpPr>
        <p:spPr>
          <a:xfrm>
            <a:off x="576000" y="5310000"/>
            <a:ext cx="2898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1000" b="0" spc="0" dirty="0">
                <a:solidFill>
                  <a:srgbClr val="5E6E72"/>
                </a:solidFill>
                <a:latin typeface="Arial"/>
                <a:cs typeface="Arial"/>
              </a:rPr>
              <a:t>Rendszer értéke</a:t>
            </a:r>
          </a:p>
        </p:txBody>
      </p:sp>
      <p:sp>
        <p:nvSpPr>
          <p:cNvPr id="21" name="Rendszer értéke"/>
          <p:cNvSpPr txBox="1"/>
          <p:nvPr/>
        </p:nvSpPr>
        <p:spPr>
          <a:xfrm>
            <a:off x="576000" y="5310000"/>
            <a:ext cx="2898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hu-HU" sz="1100" b="1" spc="0" dirty="0">
                <a:solidFill>
                  <a:srgbClr val="0F2A2F"/>
                </a:solidFill>
                <a:latin typeface="Arial"/>
                <a:cs typeface="Arial"/>
              </a:rPr>
              <a:t>1 800 000 Ft</a:t>
            </a:r>
          </a:p>
        </p:txBody>
      </p:sp>
      <p:sp>
        <p:nvSpPr>
          <p:cNvPr id="22" name="Elválasztó"/>
          <p:cNvSpPr/>
          <p:nvPr/>
        </p:nvSpPr>
        <p:spPr>
          <a:xfrm>
            <a:off x="576000" y="5551200"/>
            <a:ext cx="2898000" cy="7200"/>
          </a:xfrm>
          <a:prstGeom prst="rect">
            <a:avLst/>
          </a:prstGeom>
          <a:solidFill>
            <a:srgbClr val="DCE6E6"/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23" name="Támogatás címke"/>
          <p:cNvSpPr txBox="1"/>
          <p:nvPr/>
        </p:nvSpPr>
        <p:spPr>
          <a:xfrm>
            <a:off x="576000" y="5598000"/>
            <a:ext cx="2898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1000" b="0" spc="0" dirty="0">
                <a:solidFill>
                  <a:srgbClr val="5E6E72"/>
                </a:solidFill>
                <a:latin typeface="Arial"/>
                <a:cs typeface="Arial"/>
              </a:rPr>
              <a:t>Támogatás mértéke</a:t>
            </a:r>
          </a:p>
        </p:txBody>
      </p:sp>
      <p:sp>
        <p:nvSpPr>
          <p:cNvPr id="24" name="Támogatás mértéke"/>
          <p:cNvSpPr txBox="1"/>
          <p:nvPr/>
        </p:nvSpPr>
        <p:spPr>
          <a:xfrm>
            <a:off x="576000" y="5598000"/>
            <a:ext cx="2898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hu-HU" sz="1100" b="1" spc="0" dirty="0">
                <a:solidFill>
                  <a:srgbClr val="15998B"/>
                </a:solidFill>
                <a:latin typeface="Arial"/>
                <a:cs typeface="Arial"/>
              </a:rPr>
              <a:t>– 1 800 000 Ft</a:t>
            </a:r>
          </a:p>
        </p:txBody>
      </p:sp>
      <p:sp>
        <p:nvSpPr>
          <p:cNvPr id="25" name="Önerő kiemelés"/>
          <p:cNvSpPr/>
          <p:nvPr/>
        </p:nvSpPr>
        <p:spPr>
          <a:xfrm>
            <a:off x="576000" y="5850000"/>
            <a:ext cx="2898000" cy="504000"/>
          </a:xfrm>
          <a:prstGeom prst="roundRect">
            <a:avLst>
              <a:gd name="adj" fmla="val 25000"/>
            </a:avLst>
          </a:prstGeom>
          <a:gradFill rotWithShape="1">
            <a:gsLst>
              <a:gs pos="0">
                <a:srgbClr val="FFA23F"/>
              </a:gs>
              <a:gs pos="100000">
                <a:srgbClr val="EE5A12"/>
              </a:gs>
            </a:gsLst>
            <a:lin ang="1200000" scaled="0"/>
          </a:gradFill>
          <a:ln>
            <a:noFill/>
          </a:ln>
          <a:effectLst>
            <a:outerShdw blurRad="381000" dist="101600" dir="5400000" algn="t" rotWithShape="0">
              <a:srgbClr val="F26B1D">
                <a:alpha val="40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sp>
        <p:nvSpPr>
          <p:cNvPr id="26" name="Önerő összeg"/>
          <p:cNvSpPr txBox="1"/>
          <p:nvPr/>
        </p:nvSpPr>
        <p:spPr>
          <a:xfrm>
            <a:off x="756000" y="5850000"/>
            <a:ext cx="2214000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2400" b="1" spc="0" dirty="0">
                <a:solidFill>
                  <a:srgbClr val="FFFFFF"/>
                </a:solidFill>
                <a:latin typeface="Arial"/>
                <a:cs typeface="Arial"/>
              </a:rPr>
              <a:t>0 Ft</a:t>
            </a:r>
            <a:r>
              <a:rPr lang="hu-HU" sz="1300" b="1" spc="0" dirty="0">
                <a:solidFill>
                  <a:srgbClr val="FFFFFF">
                    <a:alpha val="92000"/>
                  </a:srgbClr>
                </a:solidFill>
                <a:latin typeface="Arial"/>
                <a:cs typeface="Arial"/>
              </a:rPr>
              <a:t> önerővel</a:t>
            </a:r>
          </a:p>
        </p:txBody>
      </p:sp>
      <p:sp>
        <p:nvSpPr>
          <p:cNvPr id="27" name="Pipa háttér"/>
          <p:cNvSpPr/>
          <p:nvPr/>
        </p:nvSpPr>
        <p:spPr>
          <a:xfrm>
            <a:off x="2952000" y="5922000"/>
            <a:ext cx="360000" cy="360000"/>
          </a:xfrm>
          <a:prstGeom prst="ellipse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pic>
        <p:nvPicPr>
          <p:cNvPr id="28" name="Pipa ik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31200" y="6001200"/>
            <a:ext cx="201600" cy="201600"/>
          </a:xfrm>
          <a:prstGeom prst="rect">
            <a:avLst/>
          </a:prstGeom>
        </p:spPr>
      </p:pic>
      <p:sp>
        <p:nvSpPr>
          <p:cNvPr id="29" name="CSOMAG 04 kártya"/>
          <p:cNvSpPr/>
          <p:nvPr/>
        </p:nvSpPr>
        <p:spPr>
          <a:xfrm>
            <a:off x="3870000" y="2286000"/>
            <a:ext cx="3330000" cy="423000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>
            <a:noFill/>
          </a:ln>
          <a:effectLst>
            <a:outerShdw blurRad="762000" dist="177800" dir="5400000" algn="t" rotWithShape="0">
              <a:srgbClr val="000000">
                <a:alpha val="50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pic>
        <p:nvPicPr>
          <p:cNvPr id="30" name="CSOMAG 04 termékkép" descr="FoxESS EP12 akkumulátor illusztráció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96000" y="2412000"/>
            <a:ext cx="3078000" cy="1944000"/>
          </a:xfrm>
          <a:prstGeom prst="rect">
            <a:avLst/>
          </a:prstGeom>
        </p:spPr>
      </p:pic>
      <p:sp>
        <p:nvSpPr>
          <p:cNvPr id="31" name="Csomag címke"/>
          <p:cNvSpPr/>
          <p:nvPr/>
        </p:nvSpPr>
        <p:spPr>
          <a:xfrm>
            <a:off x="4122000" y="2538000"/>
            <a:ext cx="846000" cy="223200"/>
          </a:xfrm>
          <a:prstGeom prst="roundRect">
            <a:avLst>
              <a:gd name="adj" fmla="val 50000"/>
            </a:avLst>
          </a:prstGeom>
          <a:solidFill>
            <a:srgbClr val="0F2A2F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32" name="Csomag címke szöveg"/>
          <p:cNvSpPr txBox="1"/>
          <p:nvPr/>
        </p:nvSpPr>
        <p:spPr>
          <a:xfrm>
            <a:off x="4122000" y="2538000"/>
            <a:ext cx="846000" cy="223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hu-HU" sz="800" b="1" spc="150" dirty="0">
                <a:solidFill>
                  <a:srgbClr val="FFFFFF"/>
                </a:solidFill>
                <a:latin typeface="Arial"/>
                <a:cs typeface="Arial"/>
              </a:rPr>
              <a:t>CSOMAG 04</a:t>
            </a:r>
          </a:p>
        </p:txBody>
      </p:sp>
      <p:sp>
        <p:nvSpPr>
          <p:cNvPr id="33" name="Illusztráció megjegyzés"/>
          <p:cNvSpPr txBox="1"/>
          <p:nvPr/>
        </p:nvSpPr>
        <p:spPr>
          <a:xfrm>
            <a:off x="3996000" y="4158000"/>
            <a:ext cx="3078000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hu-HU" sz="750" b="0" spc="0" dirty="0">
                <a:solidFill>
                  <a:srgbClr val="FFFFFF">
                    <a:alpha val="90000"/>
                  </a:srgbClr>
                </a:solidFill>
                <a:latin typeface="Arial"/>
                <a:cs typeface="Arial"/>
              </a:rPr>
              <a:t>A termékmegjelenítés illusztráció.</a:t>
            </a:r>
          </a:p>
        </p:txBody>
      </p:sp>
      <p:sp>
        <p:nvSpPr>
          <p:cNvPr id="34" name="Kompatibilitás"/>
          <p:cNvSpPr txBox="1"/>
          <p:nvPr/>
        </p:nvSpPr>
        <p:spPr>
          <a:xfrm>
            <a:off x="4086000" y="4464000"/>
            <a:ext cx="2898000" cy="151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800" b="1" spc="150" dirty="0">
                <a:solidFill>
                  <a:srgbClr val="15998B"/>
                </a:solidFill>
                <a:latin typeface="Arial"/>
                <a:cs typeface="Arial"/>
              </a:rPr>
              <a:t>FOXESS HIBRID INVERTERHEZ</a:t>
            </a:r>
          </a:p>
        </p:txBody>
      </p:sp>
      <p:sp>
        <p:nvSpPr>
          <p:cNvPr id="35" name="Termék neve"/>
          <p:cNvSpPr txBox="1"/>
          <p:nvPr/>
        </p:nvSpPr>
        <p:spPr>
          <a:xfrm>
            <a:off x="4086000" y="4626000"/>
            <a:ext cx="2898000" cy="23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1300" b="1" spc="0" dirty="0">
                <a:solidFill>
                  <a:srgbClr val="0F2A2F"/>
                </a:solidFill>
                <a:latin typeface="Arial"/>
                <a:cs typeface="Arial"/>
              </a:rPr>
              <a:t>FoxESS EP12 akkumulátor</a:t>
            </a:r>
          </a:p>
        </p:txBody>
      </p:sp>
      <p:sp>
        <p:nvSpPr>
          <p:cNvPr id="36" name="Kapacitás"/>
          <p:cNvSpPr txBox="1"/>
          <p:nvPr/>
        </p:nvSpPr>
        <p:spPr>
          <a:xfrm>
            <a:off x="4086000" y="4852800"/>
            <a:ext cx="2898000" cy="41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3400" b="1" spc="0" dirty="0">
                <a:solidFill>
                  <a:srgbClr val="0F2A2F"/>
                </a:solidFill>
                <a:latin typeface="Arial"/>
                <a:cs typeface="Arial"/>
              </a:rPr>
              <a:t>11,5</a:t>
            </a:r>
            <a:r>
              <a:rPr lang="hu-HU" sz="1800" b="1" spc="0" dirty="0">
                <a:solidFill>
                  <a:srgbClr val="0F2A2F"/>
                </a:solidFill>
                <a:latin typeface="Arial"/>
                <a:cs typeface="Arial"/>
              </a:rPr>
              <a:t> kWh</a:t>
            </a:r>
          </a:p>
        </p:txBody>
      </p:sp>
      <p:sp>
        <p:nvSpPr>
          <p:cNvPr id="37" name="Rendszer értéke címke"/>
          <p:cNvSpPr txBox="1"/>
          <p:nvPr/>
        </p:nvSpPr>
        <p:spPr>
          <a:xfrm>
            <a:off x="4086000" y="5310000"/>
            <a:ext cx="2898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1000" b="0" spc="0" dirty="0">
                <a:solidFill>
                  <a:srgbClr val="5E6E72"/>
                </a:solidFill>
                <a:latin typeface="Arial"/>
                <a:cs typeface="Arial"/>
              </a:rPr>
              <a:t>Rendszer értéke</a:t>
            </a:r>
          </a:p>
        </p:txBody>
      </p:sp>
      <p:sp>
        <p:nvSpPr>
          <p:cNvPr id="38" name="Rendszer értéke"/>
          <p:cNvSpPr txBox="1"/>
          <p:nvPr/>
        </p:nvSpPr>
        <p:spPr>
          <a:xfrm>
            <a:off x="4086000" y="5310000"/>
            <a:ext cx="2898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hu-HU" sz="1100" b="1" spc="0" dirty="0">
                <a:solidFill>
                  <a:srgbClr val="0F2A2F"/>
                </a:solidFill>
                <a:latin typeface="Arial"/>
                <a:cs typeface="Arial"/>
              </a:rPr>
              <a:t>1 800 000 Ft</a:t>
            </a:r>
          </a:p>
        </p:txBody>
      </p:sp>
      <p:sp>
        <p:nvSpPr>
          <p:cNvPr id="39" name="Elválasztó"/>
          <p:cNvSpPr/>
          <p:nvPr/>
        </p:nvSpPr>
        <p:spPr>
          <a:xfrm>
            <a:off x="4086000" y="5551200"/>
            <a:ext cx="2898000" cy="7200"/>
          </a:xfrm>
          <a:prstGeom prst="rect">
            <a:avLst/>
          </a:prstGeom>
          <a:solidFill>
            <a:srgbClr val="DCE6E6"/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40" name="Támogatás címke"/>
          <p:cNvSpPr txBox="1"/>
          <p:nvPr/>
        </p:nvSpPr>
        <p:spPr>
          <a:xfrm>
            <a:off x="4086000" y="5598000"/>
            <a:ext cx="2898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1000" b="0" spc="0" dirty="0">
                <a:solidFill>
                  <a:srgbClr val="5E6E72"/>
                </a:solidFill>
                <a:latin typeface="Arial"/>
                <a:cs typeface="Arial"/>
              </a:rPr>
              <a:t>Támogatás mértéke</a:t>
            </a:r>
          </a:p>
        </p:txBody>
      </p:sp>
      <p:sp>
        <p:nvSpPr>
          <p:cNvPr id="41" name="Támogatás mértéke"/>
          <p:cNvSpPr txBox="1"/>
          <p:nvPr/>
        </p:nvSpPr>
        <p:spPr>
          <a:xfrm>
            <a:off x="4086000" y="5598000"/>
            <a:ext cx="2898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hu-HU" sz="1100" b="1" spc="0" dirty="0">
                <a:solidFill>
                  <a:srgbClr val="15998B"/>
                </a:solidFill>
                <a:latin typeface="Arial"/>
                <a:cs typeface="Arial"/>
              </a:rPr>
              <a:t>– 1 800 000 Ft</a:t>
            </a:r>
          </a:p>
        </p:txBody>
      </p:sp>
      <p:sp>
        <p:nvSpPr>
          <p:cNvPr id="42" name="Önerő kiemelés"/>
          <p:cNvSpPr/>
          <p:nvPr/>
        </p:nvSpPr>
        <p:spPr>
          <a:xfrm>
            <a:off x="4086000" y="5850000"/>
            <a:ext cx="2898000" cy="504000"/>
          </a:xfrm>
          <a:prstGeom prst="roundRect">
            <a:avLst>
              <a:gd name="adj" fmla="val 25000"/>
            </a:avLst>
          </a:prstGeom>
          <a:gradFill rotWithShape="1">
            <a:gsLst>
              <a:gs pos="0">
                <a:srgbClr val="FFA23F"/>
              </a:gs>
              <a:gs pos="100000">
                <a:srgbClr val="EE5A12"/>
              </a:gs>
            </a:gsLst>
            <a:lin ang="1200000" scaled="0"/>
          </a:gradFill>
          <a:ln>
            <a:noFill/>
          </a:ln>
          <a:effectLst>
            <a:outerShdw blurRad="381000" dist="101600" dir="5400000" algn="t" rotWithShape="0">
              <a:srgbClr val="F26B1D">
                <a:alpha val="40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sp>
        <p:nvSpPr>
          <p:cNvPr id="43" name="Önerő összeg"/>
          <p:cNvSpPr txBox="1"/>
          <p:nvPr/>
        </p:nvSpPr>
        <p:spPr>
          <a:xfrm>
            <a:off x="4266000" y="5850000"/>
            <a:ext cx="2214000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2400" b="1" spc="0" dirty="0">
                <a:solidFill>
                  <a:srgbClr val="FFFFFF"/>
                </a:solidFill>
                <a:latin typeface="Arial"/>
                <a:cs typeface="Arial"/>
              </a:rPr>
              <a:t>0 Ft</a:t>
            </a:r>
            <a:r>
              <a:rPr lang="hu-HU" sz="1300" b="1" spc="0" dirty="0">
                <a:solidFill>
                  <a:srgbClr val="FFFFFF">
                    <a:alpha val="92000"/>
                  </a:srgbClr>
                </a:solidFill>
                <a:latin typeface="Arial"/>
                <a:cs typeface="Arial"/>
              </a:rPr>
              <a:t> önerővel</a:t>
            </a:r>
          </a:p>
        </p:txBody>
      </p:sp>
      <p:sp>
        <p:nvSpPr>
          <p:cNvPr id="44" name="Pipa háttér"/>
          <p:cNvSpPr/>
          <p:nvPr/>
        </p:nvSpPr>
        <p:spPr>
          <a:xfrm>
            <a:off x="6462000" y="5922000"/>
            <a:ext cx="360000" cy="360000"/>
          </a:xfrm>
          <a:prstGeom prst="ellipse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pic>
        <p:nvPicPr>
          <p:cNvPr id="45" name="Pipa ik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1200" y="6001200"/>
            <a:ext cx="201600" cy="201600"/>
          </a:xfrm>
          <a:prstGeom prst="rect">
            <a:avLst/>
          </a:prstGeom>
        </p:spPr>
      </p:pic>
      <p:sp>
        <p:nvSpPr>
          <p:cNvPr id="46" name="CSOMAG 05 kártya"/>
          <p:cNvSpPr/>
          <p:nvPr/>
        </p:nvSpPr>
        <p:spPr>
          <a:xfrm>
            <a:off x="360000" y="6696000"/>
            <a:ext cx="6840000" cy="199800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>
            <a:noFill/>
          </a:ln>
          <a:effectLst>
            <a:outerShdw blurRad="762000" dist="177800" dir="5400000" algn="t" rotWithShape="0">
              <a:srgbClr val="000000">
                <a:alpha val="50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pic>
        <p:nvPicPr>
          <p:cNvPr id="47" name="CSOMAG 05 termékkép" descr="Huawei LUNA2000 akkumulátor torony illusztráció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6000" y="6832500"/>
            <a:ext cx="2070000" cy="1725000"/>
          </a:xfrm>
          <a:prstGeom prst="rect">
            <a:avLst/>
          </a:prstGeom>
        </p:spPr>
      </p:pic>
      <p:sp>
        <p:nvSpPr>
          <p:cNvPr id="48" name="Csomag címke"/>
          <p:cNvSpPr/>
          <p:nvPr/>
        </p:nvSpPr>
        <p:spPr>
          <a:xfrm>
            <a:off x="594000" y="6940500"/>
            <a:ext cx="846000" cy="223200"/>
          </a:xfrm>
          <a:prstGeom prst="roundRect">
            <a:avLst>
              <a:gd name="adj" fmla="val 50000"/>
            </a:avLst>
          </a:prstGeom>
          <a:solidFill>
            <a:srgbClr val="0F2A2F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49" name="Csomag címke szöveg"/>
          <p:cNvSpPr txBox="1"/>
          <p:nvPr/>
        </p:nvSpPr>
        <p:spPr>
          <a:xfrm>
            <a:off x="594000" y="6940500"/>
            <a:ext cx="846000" cy="223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hu-HU" sz="800" b="1" spc="150" dirty="0">
                <a:solidFill>
                  <a:srgbClr val="FFFFFF"/>
                </a:solidFill>
                <a:latin typeface="Arial"/>
                <a:cs typeface="Arial"/>
              </a:rPr>
              <a:t>CSOMAG 05</a:t>
            </a:r>
          </a:p>
        </p:txBody>
      </p:sp>
      <p:sp>
        <p:nvSpPr>
          <p:cNvPr id="50" name="Illusztráció megjegyzés"/>
          <p:cNvSpPr txBox="1"/>
          <p:nvPr/>
        </p:nvSpPr>
        <p:spPr>
          <a:xfrm>
            <a:off x="486000" y="8377500"/>
            <a:ext cx="2070000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hu-HU" sz="750" b="0" spc="0" dirty="0">
                <a:solidFill>
                  <a:srgbClr val="FFFFFF">
                    <a:alpha val="90000"/>
                  </a:srgbClr>
                </a:solidFill>
                <a:latin typeface="Arial"/>
                <a:cs typeface="Arial"/>
              </a:rPr>
              <a:t>A termékmegjelenítés illusztráció.</a:t>
            </a:r>
          </a:p>
        </p:txBody>
      </p:sp>
      <p:sp>
        <p:nvSpPr>
          <p:cNvPr id="51" name="Kompatibilitás"/>
          <p:cNvSpPr txBox="1"/>
          <p:nvPr/>
        </p:nvSpPr>
        <p:spPr>
          <a:xfrm>
            <a:off x="2736000" y="6876000"/>
            <a:ext cx="2232000" cy="151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800" b="1" spc="150" dirty="0">
                <a:solidFill>
                  <a:srgbClr val="15998B"/>
                </a:solidFill>
                <a:latin typeface="Arial"/>
                <a:cs typeface="Arial"/>
              </a:rPr>
              <a:t>HUAWEI SUN2000 INVERTERHEZ</a:t>
            </a:r>
          </a:p>
        </p:txBody>
      </p:sp>
      <p:sp>
        <p:nvSpPr>
          <p:cNvPr id="52" name="Termék neve"/>
          <p:cNvSpPr txBox="1"/>
          <p:nvPr/>
        </p:nvSpPr>
        <p:spPr>
          <a:xfrm>
            <a:off x="2736000" y="7056000"/>
            <a:ext cx="2232000" cy="63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1250" b="1" spc="0" dirty="0">
                <a:solidFill>
                  <a:srgbClr val="0F2A2F"/>
                </a:solidFill>
                <a:latin typeface="Arial"/>
                <a:cs typeface="Arial"/>
              </a:rPr>
              <a:t>Huawei 2db LUNA2000-5-E1 akkumulátor + LUNA2000-10kW-C1 BMS</a:t>
            </a:r>
          </a:p>
        </p:txBody>
      </p:sp>
      <p:sp>
        <p:nvSpPr>
          <p:cNvPr id="53" name="Kapacitás"/>
          <p:cNvSpPr txBox="1"/>
          <p:nvPr/>
        </p:nvSpPr>
        <p:spPr>
          <a:xfrm>
            <a:off x="2736000" y="7758000"/>
            <a:ext cx="2232000" cy="46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3400" b="1" spc="0" dirty="0">
                <a:solidFill>
                  <a:srgbClr val="0F2A2F"/>
                </a:solidFill>
                <a:latin typeface="Arial"/>
                <a:cs typeface="Arial"/>
              </a:rPr>
              <a:t>10</a:t>
            </a:r>
            <a:r>
              <a:rPr lang="hu-HU" sz="1800" b="1" spc="0" dirty="0">
                <a:solidFill>
                  <a:srgbClr val="0F2A2F"/>
                </a:solidFill>
                <a:latin typeface="Arial"/>
                <a:cs typeface="Arial"/>
              </a:rPr>
              <a:t> kWh</a:t>
            </a:r>
          </a:p>
        </p:txBody>
      </p:sp>
      <p:sp>
        <p:nvSpPr>
          <p:cNvPr id="54" name="Rendszer értéke címke"/>
          <p:cNvSpPr txBox="1"/>
          <p:nvPr/>
        </p:nvSpPr>
        <p:spPr>
          <a:xfrm>
            <a:off x="5058000" y="6858000"/>
            <a:ext cx="1998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950" b="0" spc="0" dirty="0">
                <a:solidFill>
                  <a:srgbClr val="5E6E72"/>
                </a:solidFill>
                <a:latin typeface="Arial"/>
                <a:cs typeface="Arial"/>
              </a:rPr>
              <a:t>Rendszer értéke</a:t>
            </a:r>
          </a:p>
        </p:txBody>
      </p:sp>
      <p:sp>
        <p:nvSpPr>
          <p:cNvPr id="55" name="Rendszer értéke"/>
          <p:cNvSpPr txBox="1"/>
          <p:nvPr/>
        </p:nvSpPr>
        <p:spPr>
          <a:xfrm>
            <a:off x="5058000" y="6858000"/>
            <a:ext cx="1998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hu-HU" sz="1050" b="1" spc="0" dirty="0">
                <a:solidFill>
                  <a:srgbClr val="0F2A2F"/>
                </a:solidFill>
                <a:latin typeface="Arial"/>
                <a:cs typeface="Arial"/>
              </a:rPr>
              <a:t>2 790 000 Ft</a:t>
            </a:r>
          </a:p>
        </p:txBody>
      </p:sp>
      <p:sp>
        <p:nvSpPr>
          <p:cNvPr id="56" name="Elválasztó"/>
          <p:cNvSpPr/>
          <p:nvPr/>
        </p:nvSpPr>
        <p:spPr>
          <a:xfrm>
            <a:off x="5058000" y="7099200"/>
            <a:ext cx="1998000" cy="7200"/>
          </a:xfrm>
          <a:prstGeom prst="rect">
            <a:avLst/>
          </a:prstGeom>
          <a:solidFill>
            <a:srgbClr val="DCE6E6"/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57" name="Támogatás címke"/>
          <p:cNvSpPr txBox="1"/>
          <p:nvPr/>
        </p:nvSpPr>
        <p:spPr>
          <a:xfrm>
            <a:off x="5058000" y="7146000"/>
            <a:ext cx="1998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950" b="0" spc="0" dirty="0">
                <a:solidFill>
                  <a:srgbClr val="5E6E72"/>
                </a:solidFill>
                <a:latin typeface="Arial"/>
                <a:cs typeface="Arial"/>
              </a:rPr>
              <a:t>Támogatás mértéke</a:t>
            </a:r>
          </a:p>
        </p:txBody>
      </p:sp>
      <p:sp>
        <p:nvSpPr>
          <p:cNvPr id="58" name="Támogatás mértéke"/>
          <p:cNvSpPr txBox="1"/>
          <p:nvPr/>
        </p:nvSpPr>
        <p:spPr>
          <a:xfrm>
            <a:off x="5058000" y="7146000"/>
            <a:ext cx="1998000" cy="198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hu-HU" sz="1050" b="1" spc="0" dirty="0">
                <a:solidFill>
                  <a:srgbClr val="15998B"/>
                </a:solidFill>
                <a:latin typeface="Arial"/>
                <a:cs typeface="Arial"/>
              </a:rPr>
              <a:t>– 1 800 000 Ft</a:t>
            </a:r>
          </a:p>
        </p:txBody>
      </p:sp>
      <p:sp>
        <p:nvSpPr>
          <p:cNvPr id="59" name="Önerő kiemelés"/>
          <p:cNvSpPr/>
          <p:nvPr/>
        </p:nvSpPr>
        <p:spPr>
          <a:xfrm>
            <a:off x="5058000" y="7542000"/>
            <a:ext cx="1998000" cy="990000"/>
          </a:xfrm>
          <a:prstGeom prst="roundRect">
            <a:avLst>
              <a:gd name="adj" fmla="val 12727"/>
            </a:avLst>
          </a:prstGeom>
          <a:gradFill rotWithShape="1">
            <a:gsLst>
              <a:gs pos="0">
                <a:srgbClr val="FFA23F"/>
              </a:gs>
              <a:gs pos="100000">
                <a:srgbClr val="EE5A12"/>
              </a:gs>
            </a:gsLst>
            <a:lin ang="1200000" scaled="0"/>
          </a:gradFill>
          <a:ln>
            <a:noFill/>
          </a:ln>
          <a:effectLst>
            <a:outerShdw blurRad="381000" dist="101600" dir="5400000" algn="t" rotWithShape="0">
              <a:srgbClr val="F26B1D">
                <a:alpha val="40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sp>
        <p:nvSpPr>
          <p:cNvPr id="60" name="Önerő összeg"/>
          <p:cNvSpPr txBox="1"/>
          <p:nvPr/>
        </p:nvSpPr>
        <p:spPr>
          <a:xfrm>
            <a:off x="5238000" y="7542000"/>
            <a:ext cx="1674000" cy="99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2200" b="1" spc="0" dirty="0">
                <a:solidFill>
                  <a:srgbClr val="FFFFFF"/>
                </a:solidFill>
                <a:latin typeface="Arial"/>
                <a:cs typeface="Arial"/>
              </a:rPr>
              <a:t>990 000 Ft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lang="hu-HU" sz="1100" b="1" spc="0" dirty="0">
                <a:solidFill>
                  <a:srgbClr val="FFFFFF">
                    <a:alpha val="92000"/>
                  </a:srgbClr>
                </a:solidFill>
                <a:latin typeface="Arial"/>
                <a:cs typeface="Arial"/>
              </a:rPr>
              <a:t>önerővel</a:t>
            </a:r>
          </a:p>
        </p:txBody>
      </p:sp>
      <p:sp>
        <p:nvSpPr>
          <p:cNvPr id="61" name="Kapcsolat sáv"/>
          <p:cNvSpPr/>
          <p:nvPr/>
        </p:nvSpPr>
        <p:spPr>
          <a:xfrm>
            <a:off x="0" y="8910000"/>
            <a:ext cx="7556400" cy="1782000"/>
          </a:xfrm>
          <a:prstGeom prst="rect">
            <a:avLst/>
          </a:prstGeom>
          <a:gradFill rotWithShape="1">
            <a:gsLst>
              <a:gs pos="0">
                <a:srgbClr val="FF9A3C"/>
              </a:gs>
              <a:gs pos="100000">
                <a:srgbClr val="E9550F"/>
              </a:gs>
            </a:gsLst>
            <a:lin ang="900000" scaled="0"/>
          </a:gra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62" name="Dekor kör"/>
          <p:cNvSpPr/>
          <p:nvPr/>
        </p:nvSpPr>
        <p:spPr>
          <a:xfrm>
            <a:off x="4860000" y="8118000"/>
            <a:ext cx="3420000" cy="342000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sp>
        <p:nvSpPr>
          <p:cNvPr id="63" name="Kapcsolat cím"/>
          <p:cNvSpPr txBox="1"/>
          <p:nvPr/>
        </p:nvSpPr>
        <p:spPr>
          <a:xfrm>
            <a:off x="432000" y="9126000"/>
            <a:ext cx="3816000" cy="32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1900" b="1" spc="0" dirty="0">
                <a:solidFill>
                  <a:srgbClr val="FFFFFF"/>
                </a:solidFill>
                <a:latin typeface="Arial"/>
                <a:cs typeface="Arial"/>
              </a:rPr>
              <a:t>Melyik csomagot választja?</a:t>
            </a:r>
          </a:p>
        </p:txBody>
      </p:sp>
      <p:sp>
        <p:nvSpPr>
          <p:cNvPr id="64" name="Kapcsolat szöveg"/>
          <p:cNvSpPr txBox="1"/>
          <p:nvPr/>
        </p:nvSpPr>
        <p:spPr>
          <a:xfrm>
            <a:off x="432000" y="9486000"/>
            <a:ext cx="3744000" cy="93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lang="hu-HU" sz="1050" b="0" spc="0" dirty="0">
                <a:solidFill>
                  <a:srgbClr val="FFFFFF"/>
                </a:solidFill>
                <a:latin typeface="Arial"/>
                <a:cs typeface="Arial"/>
              </a:rPr>
              <a:t>A megrendelés előkészítéséhez kérjük, szíveskedjen visszajelezni, melyik csomagot kívánja igénybe venni.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hu-HU" sz="1050" b="1" spc="0" dirty="0">
                <a:solidFill>
                  <a:srgbClr val="FFFFFF"/>
                </a:solidFill>
                <a:latin typeface="Arial"/>
                <a:cs typeface="Arial"/>
              </a:rPr>
              <a:t>Kollégáink e-mailben vagy telefonon készséggel állnak rendelkezésére.</a:t>
            </a:r>
          </a:p>
        </p:txBody>
      </p:sp>
      <p:sp>
        <p:nvSpPr>
          <p:cNvPr id="65" name="Elérhetőség gomb"/>
          <p:cNvSpPr/>
          <p:nvPr/>
        </p:nvSpPr>
        <p:spPr>
          <a:xfrm>
            <a:off x="4464000" y="9144000"/>
            <a:ext cx="266400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algn="t" rotWithShape="0">
              <a:srgbClr val="8A2E00">
                <a:alpha val="25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sp>
        <p:nvSpPr>
          <p:cNvPr id="66" name="Elérhetőség ikon háttér"/>
          <p:cNvSpPr/>
          <p:nvPr/>
        </p:nvSpPr>
        <p:spPr>
          <a:xfrm>
            <a:off x="4518000" y="9198000"/>
            <a:ext cx="288000" cy="288000"/>
          </a:xfrm>
          <a:prstGeom prst="ellipse">
            <a:avLst/>
          </a:prstGeom>
          <a:gradFill rotWithShape="1">
            <a:gsLst>
              <a:gs pos="0">
                <a:srgbClr val="FFA23F"/>
              </a:gs>
              <a:gs pos="100000">
                <a:srgbClr val="EE5A12"/>
              </a:gs>
            </a:gsLst>
            <a:lin ang="2700000" scaled="0"/>
          </a:gra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pic>
        <p:nvPicPr>
          <p:cNvPr id="67" name="Elérhetőség ikon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9252000"/>
            <a:ext cx="180000" cy="180000"/>
          </a:xfrm>
          <a:prstGeom prst="rect">
            <a:avLst/>
          </a:prstGeom>
        </p:spPr>
      </p:pic>
      <p:sp>
        <p:nvSpPr>
          <p:cNvPr id="68" name="Elérhetőség"/>
          <p:cNvSpPr txBox="1"/>
          <p:nvPr/>
        </p:nvSpPr>
        <p:spPr>
          <a:xfrm>
            <a:off x="4896000" y="9144000"/>
            <a:ext cx="2178000" cy="396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1400" b="1" spc="0" dirty="0">
                <a:solidFill>
                  <a:srgbClr val="0F2A2F"/>
                </a:solidFill>
                <a:latin typeface="Arial"/>
                <a:cs typeface="Arial"/>
              </a:rPr>
              <a:t>+36 20 409 0060</a:t>
            </a:r>
          </a:p>
        </p:txBody>
      </p:sp>
      <p:sp>
        <p:nvSpPr>
          <p:cNvPr id="69" name="Elérhetőség gomb"/>
          <p:cNvSpPr/>
          <p:nvPr/>
        </p:nvSpPr>
        <p:spPr>
          <a:xfrm>
            <a:off x="4464000" y="9630000"/>
            <a:ext cx="266400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algn="t" rotWithShape="0">
              <a:srgbClr val="8A2E00">
                <a:alpha val="25000"/>
              </a:srgbClr>
            </a:outerShdw>
          </a:effectLst>
        </p:spPr>
        <p:txBody>
          <a:bodyPr rtlCol="0" anchor="ctr"/>
          <a:lstStyle/>
          <a:p>
            <a:endParaRPr lang="hu-HU"/>
          </a:p>
        </p:txBody>
      </p:sp>
      <p:sp>
        <p:nvSpPr>
          <p:cNvPr id="70" name="Elérhetőség ikon háttér"/>
          <p:cNvSpPr/>
          <p:nvPr/>
        </p:nvSpPr>
        <p:spPr>
          <a:xfrm>
            <a:off x="4518000" y="9684000"/>
            <a:ext cx="288000" cy="288000"/>
          </a:xfrm>
          <a:prstGeom prst="ellipse">
            <a:avLst/>
          </a:prstGeom>
          <a:gradFill rotWithShape="1">
            <a:gsLst>
              <a:gs pos="0">
                <a:srgbClr val="FFA23F"/>
              </a:gs>
              <a:gs pos="100000">
                <a:srgbClr val="EE5A12"/>
              </a:gs>
            </a:gsLst>
            <a:lin ang="2700000" scaled="0"/>
          </a:gradFill>
          <a:ln>
            <a:noFill/>
          </a:ln>
        </p:spPr>
        <p:txBody>
          <a:bodyPr rtlCol="0" anchor="ctr"/>
          <a:lstStyle/>
          <a:p>
            <a:endParaRPr lang="hu-HU"/>
          </a:p>
        </p:txBody>
      </p:sp>
      <p:pic>
        <p:nvPicPr>
          <p:cNvPr id="71" name="Elérhetőség ikon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9738000"/>
            <a:ext cx="180000" cy="180000"/>
          </a:xfrm>
          <a:prstGeom prst="rect">
            <a:avLst/>
          </a:prstGeom>
        </p:spPr>
      </p:pic>
      <p:sp>
        <p:nvSpPr>
          <p:cNvPr id="72" name="Elérhetőség"/>
          <p:cNvSpPr txBox="1"/>
          <p:nvPr/>
        </p:nvSpPr>
        <p:spPr>
          <a:xfrm>
            <a:off x="4896000" y="9630000"/>
            <a:ext cx="2178000" cy="396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hu-HU" sz="950" b="1" spc="0" dirty="0">
                <a:solidFill>
                  <a:srgbClr val="0F2A2F"/>
                </a:solidFill>
                <a:latin typeface="Arial"/>
                <a:cs typeface="Arial"/>
              </a:rPr>
              <a:t>sparkvill@akkumulátor-tamogatas.hu</a:t>
            </a:r>
          </a:p>
        </p:txBody>
      </p:sp>
      <p:sp>
        <p:nvSpPr>
          <p:cNvPr id="73" name="Cégnév"/>
          <p:cNvSpPr txBox="1"/>
          <p:nvPr/>
        </p:nvSpPr>
        <p:spPr>
          <a:xfrm>
            <a:off x="4464000" y="10170000"/>
            <a:ext cx="2664000" cy="32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hu-HU" sz="1100" b="1" spc="0" dirty="0">
                <a:solidFill>
                  <a:srgbClr val="FFFFFF"/>
                </a:solidFill>
                <a:latin typeface="Arial"/>
                <a:cs typeface="Arial"/>
              </a:rPr>
              <a:t>Spark Electric Kft.</a:t>
            </a:r>
          </a:p>
          <a:p>
            <a:pPr algn="ctr">
              <a:spcBef>
                <a:spcPts val="100"/>
              </a:spcBef>
              <a:spcAft>
                <a:spcPts val="0"/>
              </a:spcAft>
            </a:pPr>
            <a:r>
              <a:rPr lang="hu-HU" sz="900" b="0" spc="0" dirty="0">
                <a:solidFill>
                  <a:srgbClr val="FFFFFF"/>
                </a:solidFill>
                <a:latin typeface="Arial"/>
                <a:cs typeface="Arial"/>
              </a:rPr>
              <a:t>www.akkumulator-tamogatas.hu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727</TotalTime>
  <Words>687</Words>
  <Application>Microsoft Office PowerPoint</Application>
  <PresentationFormat>Egyéni</PresentationFormat>
  <Paragraphs>146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O365 felhasználó</cp:lastModifiedBy>
  <cp:revision>9</cp:revision>
  <dcterms:created xsi:type="dcterms:W3CDTF">2026-01-08T11:43:34Z</dcterms:created>
  <dcterms:modified xsi:type="dcterms:W3CDTF">2026-10-10T09:29:18Z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2026-01-08T00:00:00Z</vt:filetime>
  </property>
  <property fmtid="{D5CDD505-2E9C-101B-9397-08002B2CF9AE}" pid="3" name="Creator">
    <vt:lpwstr>Adobe InDesign 20.4 (Macintosh)</vt:lpwstr>
  </property>
  <property fmtid="{D5CDD505-2E9C-101B-9397-08002B2CF9AE}" pid="4" name="LastSaved">
    <vt:filetime>2026-01-08T00:00:00Z</vt:filetime>
  </property>
  <property fmtid="{D5CDD505-2E9C-101B-9397-08002B2CF9AE}" pid="5" name="Producer">
    <vt:lpwstr>Adobe PDF Library 17.0</vt:lpwstr>
  </property>
</Properties>
</file>